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79" r:id="rId4"/>
    <p:sldId id="280" r:id="rId5"/>
    <p:sldId id="281" r:id="rId6"/>
    <p:sldId id="282" r:id="rId7"/>
    <p:sldId id="283" r:id="rId8"/>
    <p:sldId id="284" r:id="rId9"/>
    <p:sldId id="285" r:id="rId10"/>
    <p:sldId id="286" r:id="rId11"/>
    <p:sldId id="287" r:id="rId12"/>
    <p:sldId id="288" r:id="rId13"/>
    <p:sldId id="289" r:id="rId14"/>
    <p:sldId id="290" r:id="rId15"/>
    <p:sldId id="291" r:id="rId16"/>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2E52"/>
    <a:srgbClr val="003C25"/>
    <a:srgbClr val="789A87"/>
    <a:srgbClr val="003399"/>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0EE970-7966-4724-AA85-C1F75C48964F}" v="8" dt="2026-06-22T21:30:50.392"/>
    <p1510:client id="{F97424DD-70D8-F168-98D4-34BB4D4B0704}" v="82" dt="2026-06-23T18:27:20.902"/>
  </p1510:revLst>
</p1510:revInfo>
</file>

<file path=ppt/tableStyles.xml><?xml version="1.0" encoding="utf-8"?>
<a:tblStyleLst xmlns:a="http://schemas.openxmlformats.org/drawingml/2006/main" def="{5C22544A-7EE6-4342-B048-85BDC9FD1C3A}">
  <a:tblStyle styleId="{3C2FFA5D-87B4-456A-9821-1D502468CF0F}" styleName="Styl z motywem 1 — Ak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yl pośredni 1 — Ak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67" y="-50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yk Januś (pj317575)" userId="S::pj317575@student.polsl.pl::2e0068ae-d800-4b4d-bfb4-1c1af6e40c59" providerId="AD" clId="Web-{5C0EE970-7966-4724-AA85-C1F75C48964F}"/>
    <pc:docChg chg="modSld">
      <pc:chgData name="Patryk Januś (pj317575)" userId="S::pj317575@student.polsl.pl::2e0068ae-d800-4b4d-bfb4-1c1af6e40c59" providerId="AD" clId="Web-{5C0EE970-7966-4724-AA85-C1F75C48964F}" dt="2026-06-22T21:30:50.392" v="5" actId="1076"/>
      <pc:docMkLst>
        <pc:docMk/>
      </pc:docMkLst>
      <pc:sldChg chg="addSp delSp modSp">
        <pc:chgData name="Patryk Januś (pj317575)" userId="S::pj317575@student.polsl.pl::2e0068ae-d800-4b4d-bfb4-1c1af6e40c59" providerId="AD" clId="Web-{5C0EE970-7966-4724-AA85-C1F75C48964F}" dt="2026-06-22T21:30:50.392" v="5" actId="1076"/>
        <pc:sldMkLst>
          <pc:docMk/>
          <pc:sldMk cId="3945078996" sldId="284"/>
        </pc:sldMkLst>
        <pc:picChg chg="add del mod">
          <ac:chgData name="Patryk Januś (pj317575)" userId="S::pj317575@student.polsl.pl::2e0068ae-d800-4b4d-bfb4-1c1af6e40c59" providerId="AD" clId="Web-{5C0EE970-7966-4724-AA85-C1F75C48964F}" dt="2026-06-22T21:30:38.407" v="1"/>
          <ac:picMkLst>
            <pc:docMk/>
            <pc:sldMk cId="3945078996" sldId="284"/>
            <ac:picMk id="2" creationId="{45AF0B91-9E87-2785-BB60-8CFD0D8934B4}"/>
          </ac:picMkLst>
        </pc:picChg>
        <pc:picChg chg="add mod">
          <ac:chgData name="Patryk Januś (pj317575)" userId="S::pj317575@student.polsl.pl::2e0068ae-d800-4b4d-bfb4-1c1af6e40c59" providerId="AD" clId="Web-{5C0EE970-7966-4724-AA85-C1F75C48964F}" dt="2026-06-22T21:30:50.392" v="5" actId="1076"/>
          <ac:picMkLst>
            <pc:docMk/>
            <pc:sldMk cId="3945078996" sldId="284"/>
            <ac:picMk id="5" creationId="{D11B47BD-FF10-AC15-8656-01E43D6D82C8}"/>
          </ac:picMkLst>
        </pc:picChg>
        <pc:picChg chg="del">
          <ac:chgData name="Patryk Januś (pj317575)" userId="S::pj317575@student.polsl.pl::2e0068ae-d800-4b4d-bfb4-1c1af6e40c59" providerId="AD" clId="Web-{5C0EE970-7966-4724-AA85-C1F75C48964F}" dt="2026-06-22T21:30:40.392" v="2"/>
          <ac:picMkLst>
            <pc:docMk/>
            <pc:sldMk cId="3945078996" sldId="284"/>
            <ac:picMk id="23" creationId="{788F0CFC-EB59-EDAE-4137-EB507B905677}"/>
          </ac:picMkLst>
        </pc:picChg>
      </pc:sldChg>
    </pc:docChg>
  </pc:docChgLst>
  <pc:docChgLst>
    <pc:chgData name="Natalia Szymeczko (ns317565)" userId="S::ns317565@student.polsl.pl::4f3650a5-1d33-4815-b7ec-5b3c3d095894" providerId="AD" clId="Web-{F97424DD-70D8-F168-98D4-34BB4D4B0704}"/>
    <pc:docChg chg="modSld">
      <pc:chgData name="Natalia Szymeczko (ns317565)" userId="S::ns317565@student.polsl.pl::4f3650a5-1d33-4815-b7ec-5b3c3d095894" providerId="AD" clId="Web-{F97424DD-70D8-F168-98D4-34BB4D4B0704}" dt="2026-06-23T18:27:20.902" v="45" actId="20577"/>
      <pc:docMkLst>
        <pc:docMk/>
      </pc:docMkLst>
      <pc:sldChg chg="modSp">
        <pc:chgData name="Natalia Szymeczko (ns317565)" userId="S::ns317565@student.polsl.pl::4f3650a5-1d33-4815-b7ec-5b3c3d095894" providerId="AD" clId="Web-{F97424DD-70D8-F168-98D4-34BB4D4B0704}" dt="2026-06-23T18:21:07.653" v="15"/>
        <pc:sldMkLst>
          <pc:docMk/>
          <pc:sldMk cId="365812559" sldId="282"/>
        </pc:sldMkLst>
        <pc:graphicFrameChg chg="mod modGraphic">
          <ac:chgData name="Natalia Szymeczko (ns317565)" userId="S::ns317565@student.polsl.pl::4f3650a5-1d33-4815-b7ec-5b3c3d095894" providerId="AD" clId="Web-{F97424DD-70D8-F168-98D4-34BB4D4B0704}" dt="2026-06-23T18:21:07.653" v="15"/>
          <ac:graphicFrameMkLst>
            <pc:docMk/>
            <pc:sldMk cId="365812559" sldId="282"/>
            <ac:graphicFrameMk id="13" creationId="{E2885AB6-3600-DDB8-C93B-878D32B05076}"/>
          </ac:graphicFrameMkLst>
        </pc:graphicFrameChg>
      </pc:sldChg>
      <pc:sldChg chg="modSp">
        <pc:chgData name="Natalia Szymeczko (ns317565)" userId="S::ns317565@student.polsl.pl::4f3650a5-1d33-4815-b7ec-5b3c3d095894" providerId="AD" clId="Web-{F97424DD-70D8-F168-98D4-34BB4D4B0704}" dt="2026-06-23T18:23:54.690" v="30" actId="20577"/>
        <pc:sldMkLst>
          <pc:docMk/>
          <pc:sldMk cId="3199826911" sldId="283"/>
        </pc:sldMkLst>
        <pc:spChg chg="mod">
          <ac:chgData name="Natalia Szymeczko (ns317565)" userId="S::ns317565@student.polsl.pl::4f3650a5-1d33-4815-b7ec-5b3c3d095894" providerId="AD" clId="Web-{F97424DD-70D8-F168-98D4-34BB4D4B0704}" dt="2026-06-23T18:23:54.690" v="30" actId="20577"/>
          <ac:spMkLst>
            <pc:docMk/>
            <pc:sldMk cId="3199826911" sldId="283"/>
            <ac:spMk id="7" creationId="{32FFC5CB-553E-A4F6-58F1-0D86E1A99B75}"/>
          </ac:spMkLst>
        </pc:spChg>
      </pc:sldChg>
      <pc:sldChg chg="modSp">
        <pc:chgData name="Natalia Szymeczko (ns317565)" userId="S::ns317565@student.polsl.pl::4f3650a5-1d33-4815-b7ec-5b3c3d095894" providerId="AD" clId="Web-{F97424DD-70D8-F168-98D4-34BB4D4B0704}" dt="2026-06-23T18:27:20.902" v="45" actId="20577"/>
        <pc:sldMkLst>
          <pc:docMk/>
          <pc:sldMk cId="4186797293" sldId="290"/>
        </pc:sldMkLst>
        <pc:spChg chg="mod">
          <ac:chgData name="Natalia Szymeczko (ns317565)" userId="S::ns317565@student.polsl.pl::4f3650a5-1d33-4815-b7ec-5b3c3d095894" providerId="AD" clId="Web-{F97424DD-70D8-F168-98D4-34BB4D4B0704}" dt="2026-06-23T18:27:20.902" v="45" actId="20577"/>
          <ac:spMkLst>
            <pc:docMk/>
            <pc:sldMk cId="4186797293" sldId="290"/>
            <ac:spMk id="7" creationId="{D5BD1618-2444-1D50-A4A1-D85C4506C1F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318224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566846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290828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98888EF-EEC0-4A4A-86BB-1BD6F5F3312D}" type="datetimeFigureOut">
              <a:rPr lang="es-ES" smtClean="0"/>
              <a:t>23/06/2026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351285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98888EF-EEC0-4A4A-86BB-1BD6F5F3312D}" type="datetimeFigureOut">
              <a:rPr lang="es-ES" smtClean="0"/>
              <a:t>23/06/2026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246687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98888EF-EEC0-4A4A-86BB-1BD6F5F3312D}" type="datetimeFigureOut">
              <a:rPr lang="es-ES" smtClean="0"/>
              <a:t>23/06/2026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4255286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8888EF-EEC0-4A4A-86BB-1BD6F5F3312D}" type="datetimeFigureOut">
              <a:rPr lang="es-ES" smtClean="0"/>
              <a:t>23/06/2026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898275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098888EF-EEC0-4A4A-86BB-1BD6F5F3312D}" type="datetimeFigureOut">
              <a:rPr lang="es-ES" smtClean="0"/>
              <a:t>23/06/2026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403021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098888EF-EEC0-4A4A-86BB-1BD6F5F3312D}" type="datetimeFigureOut">
              <a:rPr lang="es-ES" smtClean="0"/>
              <a:t>23/06/2026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1134038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804357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1441309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8888EF-EEC0-4A4A-86BB-1BD6F5F3312D}" type="datetimeFigureOut">
              <a:rPr lang="es-ES" smtClean="0"/>
              <a:t>23/06/2026</a:t>
            </a:fld>
            <a:endParaRPr lang="es-E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3F4CAA-2EC6-40D5-BAB1-93A4DB7A70C6}" type="slidenum">
              <a:rPr lang="es-ES" smtClean="0"/>
              <a:t>‹#›</a:t>
            </a:fld>
            <a:endParaRPr lang="es-ES"/>
          </a:p>
        </p:txBody>
      </p:sp>
    </p:spTree>
    <p:extLst>
      <p:ext uri="{BB962C8B-B14F-4D97-AF65-F5344CB8AC3E}">
        <p14:creationId xmlns:p14="http://schemas.microsoft.com/office/powerpoint/2010/main" val="274968847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tif"/><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uadroTexto 13">
            <a:extLst>
              <a:ext uri="{FF2B5EF4-FFF2-40B4-BE49-F238E27FC236}">
                <a16:creationId xmlns:a16="http://schemas.microsoft.com/office/drawing/2014/main" id="{0547FAEC-1F1C-4BA8-BAB5-6B43C253FE10}"/>
              </a:ext>
            </a:extLst>
          </p:cNvPr>
          <p:cNvSpPr txBox="1"/>
          <p:nvPr/>
        </p:nvSpPr>
        <p:spPr>
          <a:xfrm>
            <a:off x="3824511" y="6232625"/>
            <a:ext cx="4542977" cy="430887"/>
          </a:xfrm>
          <a:prstGeom prst="rect">
            <a:avLst/>
          </a:prstGeom>
          <a:noFill/>
        </p:spPr>
        <p:txBody>
          <a:bodyPr wrap="square">
            <a:spAutoFit/>
          </a:bodyPr>
          <a:lstStyle/>
          <a:p>
            <a:pPr algn="ctr"/>
            <a:r>
              <a:rPr lang="en-US" sz="1100" dirty="0">
                <a:solidFill>
                  <a:srgbClr val="1A2E52"/>
                </a:solidFill>
                <a:latin typeface="Calibri" panose="020F0502020204030204" pitchFamily="34" charset="0"/>
                <a:ea typeface="DengXian" panose="02010600030101010101" pitchFamily="2" charset="-122"/>
                <a:cs typeface="Calibri" panose="020F0502020204030204" pitchFamily="34" charset="0"/>
              </a:rPr>
              <a:t>Erasmus+ Program 2024 Cooperation partnerships in higher education - 2024-1-ES01-KA220-HED-000246733</a:t>
            </a:r>
          </a:p>
        </p:txBody>
      </p:sp>
      <p:sp>
        <p:nvSpPr>
          <p:cNvPr id="15" name="Rectángulo 14">
            <a:extLst>
              <a:ext uri="{FF2B5EF4-FFF2-40B4-BE49-F238E27FC236}">
                <a16:creationId xmlns:a16="http://schemas.microsoft.com/office/drawing/2014/main" id="{CC58282A-7F55-4476-A3D8-EF5A714A842D}"/>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A6031BD6-2841-4504-B303-6AAF99EBB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sp>
        <p:nvSpPr>
          <p:cNvPr id="17" name="CuadroTexto 16">
            <a:extLst>
              <a:ext uri="{FF2B5EF4-FFF2-40B4-BE49-F238E27FC236}">
                <a16:creationId xmlns:a16="http://schemas.microsoft.com/office/drawing/2014/main" id="{A7FE82D3-10EB-4B4F-AF99-0C2E489363A2}"/>
              </a:ext>
            </a:extLst>
          </p:cNvPr>
          <p:cNvSpPr txBox="1"/>
          <p:nvPr/>
        </p:nvSpPr>
        <p:spPr>
          <a:xfrm>
            <a:off x="3302281" y="307795"/>
            <a:ext cx="3490104" cy="415498"/>
          </a:xfrm>
          <a:prstGeom prst="rect">
            <a:avLst/>
          </a:prstGeom>
          <a:noFill/>
        </p:spPr>
        <p:txBody>
          <a:bodyPr wrap="square">
            <a:spAutoFit/>
          </a:bodyPr>
          <a:lstStyle/>
          <a:p>
            <a:r>
              <a:rPr lang="en-US" sz="1050" dirty="0">
                <a:solidFill>
                  <a:srgbClr val="003C25"/>
                </a:solidFill>
                <a:latin typeface="Calibri" panose="020F0502020204030204" pitchFamily="34" charset="0"/>
                <a:ea typeface="DengXian" panose="02010600030101010101" pitchFamily="2" charset="-122"/>
                <a:cs typeface="Calibri" panose="020F0502020204030204" pitchFamily="34" charset="0"/>
              </a:rPr>
              <a:t>Student-centered learning for </a:t>
            </a:r>
            <a:r>
              <a:rPr lang="en-US" sz="1050" dirty="0" err="1">
                <a:solidFill>
                  <a:srgbClr val="003C25"/>
                </a:solidFill>
                <a:latin typeface="Calibri" panose="020F0502020204030204" pitchFamily="34" charset="0"/>
                <a:ea typeface="DengXian" panose="02010600030101010101" pitchFamily="2" charset="-122"/>
                <a:cs typeface="Calibri" panose="020F0502020204030204" pitchFamily="34" charset="0"/>
              </a:rPr>
              <a:t>ENVIronmental</a:t>
            </a:r>
            <a:r>
              <a:rPr lang="en-US" sz="1050" dirty="0">
                <a:solidFill>
                  <a:srgbClr val="003C25"/>
                </a:solidFill>
                <a:latin typeface="Calibri" panose="020F0502020204030204" pitchFamily="34" charset="0"/>
                <a:ea typeface="DengXian" panose="02010600030101010101" pitchFamily="2" charset="-122"/>
                <a:cs typeface="Calibri" panose="020F0502020204030204" pitchFamily="34" charset="0"/>
              </a:rPr>
              <a:t> sustainability at Higher Education Institutions</a:t>
            </a:r>
          </a:p>
        </p:txBody>
      </p:sp>
      <p:pic>
        <p:nvPicPr>
          <p:cNvPr id="18" name="Imagen 17">
            <a:extLst>
              <a:ext uri="{FF2B5EF4-FFF2-40B4-BE49-F238E27FC236}">
                <a16:creationId xmlns:a16="http://schemas.microsoft.com/office/drawing/2014/main" id="{D45A302E-9D4B-4AC5-A1F6-CB2B51D77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3913" y="4597477"/>
            <a:ext cx="1518678" cy="1518678"/>
          </a:xfrm>
          <a:prstGeom prst="rect">
            <a:avLst/>
          </a:prstGeom>
        </p:spPr>
      </p:pic>
      <p:sp>
        <p:nvSpPr>
          <p:cNvPr id="20" name="CuadroTexto 19">
            <a:extLst>
              <a:ext uri="{FF2B5EF4-FFF2-40B4-BE49-F238E27FC236}">
                <a16:creationId xmlns:a16="http://schemas.microsoft.com/office/drawing/2014/main" id="{079C4AC3-BC0A-4AAD-8E37-2965FED5A733}"/>
              </a:ext>
            </a:extLst>
          </p:cNvPr>
          <p:cNvSpPr txBox="1"/>
          <p:nvPr/>
        </p:nvSpPr>
        <p:spPr>
          <a:xfrm>
            <a:off x="783528" y="2354342"/>
            <a:ext cx="11324581" cy="3847207"/>
          </a:xfrm>
          <a:prstGeom prst="rect">
            <a:avLst/>
          </a:prstGeom>
          <a:noFill/>
        </p:spPr>
        <p:txBody>
          <a:bodyPr wrap="square">
            <a:spAutoFit/>
          </a:bodyPr>
          <a:lstStyle/>
          <a:p>
            <a:endParaRPr lang="en-US" sz="2000" b="1" dirty="0">
              <a:solidFill>
                <a:srgbClr val="1A2E52"/>
              </a:solidFill>
              <a:latin typeface="Corbel" panose="020B0503020204020204" pitchFamily="34" charset="0"/>
              <a:ea typeface="DengXian" panose="02010600030101010101" pitchFamily="2" charset="-122"/>
            </a:endParaRPr>
          </a:p>
          <a:p>
            <a:r>
              <a:rPr lang="pl-PL" sz="2000" b="1" dirty="0" err="1">
                <a:solidFill>
                  <a:srgbClr val="1A2E52"/>
                </a:solidFill>
                <a:latin typeface="Corbel" panose="020B0503020204020204" pitchFamily="34" charset="0"/>
                <a:ea typeface="DengXian" panose="02010600030101010101" pitchFamily="2" charset="-122"/>
              </a:rPr>
              <a:t>Measurement</a:t>
            </a:r>
            <a:r>
              <a:rPr lang="pl-PL" sz="2000" b="1" dirty="0">
                <a:solidFill>
                  <a:srgbClr val="1A2E52"/>
                </a:solidFill>
                <a:latin typeface="Corbel" panose="020B0503020204020204" pitchFamily="34" charset="0"/>
                <a:ea typeface="DengXian" panose="02010600030101010101" pitchFamily="2" charset="-122"/>
              </a:rPr>
              <a:t> Systems and </a:t>
            </a:r>
            <a:r>
              <a:rPr lang="pl-PL" sz="2000" b="1" dirty="0" err="1">
                <a:solidFill>
                  <a:srgbClr val="1A2E52"/>
                </a:solidFill>
                <a:latin typeface="Corbel" panose="020B0503020204020204" pitchFamily="34" charset="0"/>
                <a:ea typeface="DengXian" panose="02010600030101010101" pitchFamily="2" charset="-122"/>
              </a:rPr>
              <a:t>Sustainability</a:t>
            </a:r>
            <a:endParaRPr lang="pl-PL" sz="2000" b="1" dirty="0">
              <a:solidFill>
                <a:srgbClr val="1A2E52"/>
              </a:solidFill>
              <a:latin typeface="Corbel" panose="020B0503020204020204" pitchFamily="34" charset="0"/>
              <a:ea typeface="DengXian" panose="02010600030101010101" pitchFamily="2" charset="-122"/>
            </a:endParaRPr>
          </a:p>
          <a:p>
            <a:r>
              <a:rPr lang="pl-PL" sz="2400" b="1" dirty="0">
                <a:solidFill>
                  <a:srgbClr val="1A2E52"/>
                </a:solidFill>
                <a:latin typeface="Corbel" panose="020B0503020204020204" pitchFamily="34" charset="0"/>
                <a:ea typeface="DengXian" panose="02010600030101010101" pitchFamily="2" charset="-122"/>
              </a:rPr>
              <a:t>Project </a:t>
            </a:r>
            <a:r>
              <a:rPr lang="pl-PL" sz="2400" b="1" dirty="0" err="1">
                <a:solidFill>
                  <a:srgbClr val="1A2E52"/>
                </a:solidFill>
                <a:latin typeface="Corbel" panose="020B0503020204020204" pitchFamily="34" charset="0"/>
                <a:ea typeface="DengXian" panose="02010600030101010101" pitchFamily="2" charset="-122"/>
              </a:rPr>
              <a:t>Title</a:t>
            </a:r>
            <a:r>
              <a:rPr lang="pl-PL" sz="2400" b="1" dirty="0">
                <a:solidFill>
                  <a:srgbClr val="1A2E52"/>
                </a:solidFill>
                <a:latin typeface="Corbel" panose="020B0503020204020204" pitchFamily="34" charset="0"/>
                <a:ea typeface="DengXian" panose="02010600030101010101" pitchFamily="2" charset="-122"/>
              </a:rPr>
              <a:t>: </a:t>
            </a:r>
            <a:r>
              <a:rPr lang="pl-PL" b="1" dirty="0" err="1"/>
              <a:t>Experimental</a:t>
            </a:r>
            <a:r>
              <a:rPr lang="pl-PL" b="1" dirty="0"/>
              <a:t> </a:t>
            </a:r>
            <a:r>
              <a:rPr lang="pl-PL" b="1" dirty="0" err="1"/>
              <a:t>identification</a:t>
            </a:r>
            <a:r>
              <a:rPr lang="pl-PL" b="1" dirty="0"/>
              <a:t> of </a:t>
            </a:r>
            <a:r>
              <a:rPr lang="pl-PL" b="1" dirty="0" err="1"/>
              <a:t>resonance</a:t>
            </a:r>
            <a:r>
              <a:rPr lang="pl-PL" b="1" dirty="0"/>
              <a:t> </a:t>
            </a:r>
            <a:r>
              <a:rPr lang="pl-PL" b="1" dirty="0" err="1"/>
              <a:t>frequency</a:t>
            </a:r>
            <a:r>
              <a:rPr lang="pl-PL" b="1" dirty="0"/>
              <a:t> in a </a:t>
            </a:r>
            <a:r>
              <a:rPr lang="pl-PL" b="1" dirty="0" err="1"/>
              <a:t>Mechanical</a:t>
            </a:r>
            <a:r>
              <a:rPr lang="pl-PL" b="1" dirty="0"/>
              <a:t> </a:t>
            </a:r>
            <a:r>
              <a:rPr lang="pl-PL" b="1" dirty="0" err="1"/>
              <a:t>structure</a:t>
            </a:r>
            <a:r>
              <a:rPr lang="en-GB" dirty="0"/>
              <a:t>​</a:t>
            </a:r>
            <a:endParaRPr lang="pl-PL" dirty="0"/>
          </a:p>
          <a:p>
            <a:r>
              <a:rPr lang="pl-PL" sz="2000" b="1" dirty="0">
                <a:solidFill>
                  <a:srgbClr val="1A2E52"/>
                </a:solidFill>
                <a:latin typeface="Corbel" panose="020B0503020204020204" pitchFamily="34" charset="0"/>
                <a:ea typeface="DengXian" panose="02010600030101010101" pitchFamily="2" charset="-122"/>
              </a:rPr>
              <a:t>Meeting on May 21st.: </a:t>
            </a:r>
            <a:r>
              <a:rPr lang="pl-PL" sz="2000" b="1" dirty="0" err="1"/>
              <a:t>Initial</a:t>
            </a:r>
            <a:r>
              <a:rPr lang="pl-PL" sz="2000" b="1" dirty="0"/>
              <a:t> Project </a:t>
            </a:r>
            <a:r>
              <a:rPr lang="pl-PL" sz="2000" b="1" dirty="0" err="1"/>
              <a:t>Concept</a:t>
            </a:r>
            <a:endParaRPr lang="pl-PL" sz="2000" b="1" dirty="0"/>
          </a:p>
          <a:p>
            <a:r>
              <a:rPr lang="pl-PL" sz="2000" b="1" dirty="0">
                <a:solidFill>
                  <a:srgbClr val="1A2E52"/>
                </a:solidFill>
              </a:rPr>
              <a:t>Team </a:t>
            </a:r>
            <a:r>
              <a:rPr lang="pl-PL" sz="2000" b="1" dirty="0" err="1">
                <a:solidFill>
                  <a:srgbClr val="1A2E52"/>
                </a:solidFill>
              </a:rPr>
              <a:t>name</a:t>
            </a:r>
            <a:r>
              <a:rPr lang="pl-PL" sz="2000" b="1" dirty="0">
                <a:solidFill>
                  <a:srgbClr val="1A2E52"/>
                </a:solidFill>
              </a:rPr>
              <a:t>:</a:t>
            </a:r>
          </a:p>
          <a:p>
            <a:r>
              <a:rPr lang="pl-PL" sz="2000" dirty="0" err="1">
                <a:solidFill>
                  <a:srgbClr val="C00000"/>
                </a:solidFill>
              </a:rPr>
              <a:t>Vibe</a:t>
            </a:r>
            <a:r>
              <a:rPr lang="pl-PL" sz="2000" dirty="0">
                <a:solidFill>
                  <a:srgbClr val="C00000"/>
                </a:solidFill>
              </a:rPr>
              <a:t> Finders</a:t>
            </a:r>
          </a:p>
          <a:p>
            <a:r>
              <a:rPr lang="pl-PL" sz="2000" b="1" dirty="0">
                <a:solidFill>
                  <a:srgbClr val="1A2E52"/>
                </a:solidFill>
              </a:rPr>
              <a:t>Team </a:t>
            </a:r>
            <a:r>
              <a:rPr lang="pl-PL" sz="2000" b="1" dirty="0" err="1">
                <a:solidFill>
                  <a:srgbClr val="1A2E52"/>
                </a:solidFill>
              </a:rPr>
              <a:t>members</a:t>
            </a:r>
            <a:r>
              <a:rPr lang="pl-PL" sz="2000" b="1" dirty="0">
                <a:solidFill>
                  <a:srgbClr val="1A2E52"/>
                </a:solidFill>
              </a:rPr>
              <a:t>:</a:t>
            </a:r>
          </a:p>
          <a:p>
            <a:r>
              <a:rPr lang="pl-PL" sz="2000" dirty="0">
                <a:solidFill>
                  <a:srgbClr val="C00000"/>
                </a:solidFill>
              </a:rPr>
              <a:t>Patryk Januś</a:t>
            </a:r>
            <a:br>
              <a:rPr lang="pl-PL" sz="2000" dirty="0">
                <a:solidFill>
                  <a:srgbClr val="C00000"/>
                </a:solidFill>
              </a:rPr>
            </a:br>
            <a:r>
              <a:rPr lang="pl-PL" sz="2000" dirty="0">
                <a:solidFill>
                  <a:srgbClr val="C00000"/>
                </a:solidFill>
              </a:rPr>
              <a:t>Natalia Szymeczko</a:t>
            </a:r>
          </a:p>
          <a:p>
            <a:r>
              <a:rPr lang="pl-PL" sz="2000" dirty="0">
                <a:solidFill>
                  <a:srgbClr val="C00000"/>
                </a:solidFill>
              </a:rPr>
              <a:t>Patryk </a:t>
            </a:r>
            <a:r>
              <a:rPr lang="pl-PL" sz="2000" dirty="0" err="1">
                <a:solidFill>
                  <a:srgbClr val="C00000"/>
                </a:solidFill>
              </a:rPr>
              <a:t>Reiter</a:t>
            </a:r>
            <a:endParaRPr lang="pl-PL" sz="2000" dirty="0">
              <a:solidFill>
                <a:srgbClr val="C00000"/>
              </a:solidFill>
            </a:endParaRPr>
          </a:p>
          <a:p>
            <a:r>
              <a:rPr lang="pl-PL" sz="2000" dirty="0">
                <a:solidFill>
                  <a:srgbClr val="C00000"/>
                </a:solidFill>
              </a:rPr>
              <a:t>Szymon Korzuch</a:t>
            </a:r>
          </a:p>
          <a:p>
            <a:endParaRPr lang="en-US" sz="2000" b="1" dirty="0">
              <a:solidFill>
                <a:srgbClr val="1A2E52"/>
              </a:solidFill>
              <a:latin typeface="Corbel" panose="020B0503020204020204" pitchFamily="34" charset="0"/>
              <a:ea typeface="DengXian" panose="02010600030101010101" pitchFamily="2" charset="-122"/>
            </a:endParaRPr>
          </a:p>
        </p:txBody>
      </p:sp>
      <p:pic>
        <p:nvPicPr>
          <p:cNvPr id="4" name="Imagen 3">
            <a:extLst>
              <a:ext uri="{FF2B5EF4-FFF2-40B4-BE49-F238E27FC236}">
                <a16:creationId xmlns:a16="http://schemas.microsoft.com/office/drawing/2014/main" id="{5CF7E5CA-EC58-43AB-920A-116472A63E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896DD946-1384-4E8E-AD96-EF8F69AEA8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pic>
        <p:nvPicPr>
          <p:cNvPr id="10" name="Imagen 9">
            <a:extLst>
              <a:ext uri="{FF2B5EF4-FFF2-40B4-BE49-F238E27FC236}">
                <a16:creationId xmlns:a16="http://schemas.microsoft.com/office/drawing/2014/main" id="{30EA1FE3-0A5F-4795-9232-BA23CD08AA68}"/>
              </a:ext>
            </a:extLst>
          </p:cNvPr>
          <p:cNvPicPr>
            <a:picLocks noChangeAspect="1"/>
          </p:cNvPicPr>
          <p:nvPr/>
        </p:nvPicPr>
        <p:blipFill rotWithShape="1">
          <a:blip r:embed="rId6">
            <a:extLst>
              <a:ext uri="{28A0092B-C50C-407E-A947-70E740481C1C}">
                <a14:useLocalDpi xmlns:a14="http://schemas.microsoft.com/office/drawing/2010/main" val="0"/>
              </a:ext>
            </a:extLst>
          </a:blip>
          <a:srcRect l="4409" t="1317" b="6939"/>
          <a:stretch/>
        </p:blipFill>
        <p:spPr>
          <a:xfrm>
            <a:off x="4194928" y="869346"/>
            <a:ext cx="3238460" cy="1748306"/>
          </a:xfrm>
          <a:prstGeom prst="rect">
            <a:avLst/>
          </a:prstGeom>
        </p:spPr>
      </p:pic>
      <p:grpSp>
        <p:nvGrpSpPr>
          <p:cNvPr id="13" name="Grupo 12">
            <a:extLst>
              <a:ext uri="{FF2B5EF4-FFF2-40B4-BE49-F238E27FC236}">
                <a16:creationId xmlns:a16="http://schemas.microsoft.com/office/drawing/2014/main" id="{8EFD7278-8FAA-4592-A2E8-D90A07AA6785}"/>
              </a:ext>
            </a:extLst>
          </p:cNvPr>
          <p:cNvGrpSpPr/>
          <p:nvPr/>
        </p:nvGrpSpPr>
        <p:grpSpPr>
          <a:xfrm>
            <a:off x="7559052" y="208375"/>
            <a:ext cx="4403539" cy="519267"/>
            <a:chOff x="7559052" y="208375"/>
            <a:chExt cx="4403539" cy="519267"/>
          </a:xfrm>
        </p:grpSpPr>
        <p:pic>
          <p:nvPicPr>
            <p:cNvPr id="21" name="Imagen 20">
              <a:extLst>
                <a:ext uri="{FF2B5EF4-FFF2-40B4-BE49-F238E27FC236}">
                  <a16:creationId xmlns:a16="http://schemas.microsoft.com/office/drawing/2014/main" id="{57C07A5A-8E18-4968-88FA-6479C9E6723E}"/>
                </a:ext>
              </a:extLst>
            </p:cNvPr>
            <p:cNvPicPr>
              <a:picLocks noChangeAspect="1"/>
            </p:cNvPicPr>
            <p:nvPr/>
          </p:nvPicPr>
          <p:blipFill rotWithShape="1">
            <a:blip r:embed="rId7"/>
            <a:srcRect l="31277"/>
            <a:stretch/>
          </p:blipFill>
          <p:spPr>
            <a:xfrm>
              <a:off x="8964728" y="208375"/>
              <a:ext cx="2997863" cy="514918"/>
            </a:xfrm>
            <a:prstGeom prst="rect">
              <a:avLst/>
            </a:prstGeom>
          </p:spPr>
        </p:pic>
        <p:pic>
          <p:nvPicPr>
            <p:cNvPr id="22" name="Imagen 21">
              <a:extLst>
                <a:ext uri="{FF2B5EF4-FFF2-40B4-BE49-F238E27FC236}">
                  <a16:creationId xmlns:a16="http://schemas.microsoft.com/office/drawing/2014/main" id="{4CB44C2D-8728-41CF-913B-00F55086CF8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23" name="Imagen 22">
              <a:extLst>
                <a:ext uri="{FF2B5EF4-FFF2-40B4-BE49-F238E27FC236}">
                  <a16:creationId xmlns:a16="http://schemas.microsoft.com/office/drawing/2014/main" id="{34E831AE-E779-441F-9DAA-C338FCD33B5F}"/>
                </a:ext>
              </a:extLst>
            </p:cNvPr>
            <p:cNvPicPr>
              <a:picLocks noChangeAspect="1"/>
            </p:cNvPicPr>
            <p:nvPr/>
          </p:nvPicPr>
          <p:blipFill rotWithShape="1">
            <a:blip r:embed="rId7"/>
            <a:srcRect r="78876"/>
            <a:stretch/>
          </p:blipFill>
          <p:spPr>
            <a:xfrm>
              <a:off x="7559052" y="212724"/>
              <a:ext cx="921462" cy="514918"/>
            </a:xfrm>
            <a:prstGeom prst="rect">
              <a:avLst/>
            </a:prstGeom>
          </p:spPr>
        </p:pic>
      </p:grpSp>
    </p:spTree>
    <p:extLst>
      <p:ext uri="{BB962C8B-B14F-4D97-AF65-F5344CB8AC3E}">
        <p14:creationId xmlns:p14="http://schemas.microsoft.com/office/powerpoint/2010/main" val="1620291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CC58282A-7F55-4476-A3D8-EF5A714A842D}"/>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A6031BD6-2841-4504-B303-6AAF99EBB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5CF7E5CA-EC58-43AB-920A-116472A63E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896DD946-1384-4E8E-AD96-EF8F69AEA8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47BF0A58-AD79-4C00-96A2-FC49219CA7B1}"/>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FF319F47-19DA-4234-9DC3-38E73C297C73}"/>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87F8F341-9F39-48E8-9186-C7787AF4A0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F0314F4A-BDB5-47F1-B731-E59274A72312}"/>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A40ADF1E-D1E4-95C2-6505-22CEC483387B}"/>
              </a:ext>
            </a:extLst>
          </p:cNvPr>
          <p:cNvSpPr txBox="1"/>
          <p:nvPr/>
        </p:nvSpPr>
        <p:spPr>
          <a:xfrm>
            <a:off x="577391" y="932410"/>
            <a:ext cx="8623169" cy="707886"/>
          </a:xfrm>
          <a:prstGeom prst="rect">
            <a:avLst/>
          </a:prstGeom>
          <a:noFill/>
        </p:spPr>
        <p:txBody>
          <a:bodyPr wrap="square">
            <a:spAutoFit/>
          </a:bodyPr>
          <a:lstStyle/>
          <a:p>
            <a:r>
              <a:rPr lang="en-US" sz="2000" b="1" dirty="0">
                <a:solidFill>
                  <a:srgbClr val="1A2E52"/>
                </a:solidFill>
                <a:latin typeface="Colber"/>
              </a:rPr>
              <a:t>Activity: Topic Analysis</a:t>
            </a:r>
            <a:endParaRPr lang="pl-PL" sz="2000" b="1" dirty="0">
              <a:solidFill>
                <a:srgbClr val="1A2E52"/>
              </a:solidFill>
              <a:latin typeface="Colber"/>
            </a:endParaRPr>
          </a:p>
          <a:p>
            <a:r>
              <a:rPr lang="en-US" sz="2000" b="1" dirty="0">
                <a:solidFill>
                  <a:srgbClr val="1A2E52"/>
                </a:solidFill>
                <a:latin typeface="Colber"/>
              </a:rPr>
              <a:t>What is the real problem?</a:t>
            </a:r>
            <a:r>
              <a:rPr lang="pl-PL" sz="2000" b="1" dirty="0">
                <a:solidFill>
                  <a:srgbClr val="1A2E52"/>
                </a:solidFill>
                <a:latin typeface="Colber"/>
              </a:rPr>
              <a:t> </a:t>
            </a:r>
            <a:r>
              <a:rPr lang="pl-PL" sz="2000" b="1" dirty="0">
                <a:solidFill>
                  <a:srgbClr val="00B0F0"/>
                </a:solidFill>
                <a:latin typeface="Colber"/>
              </a:rPr>
              <a:t>Time for </a:t>
            </a:r>
            <a:r>
              <a:rPr lang="pl-PL" sz="2000" b="1" dirty="0" err="1">
                <a:solidFill>
                  <a:srgbClr val="00B0F0"/>
                </a:solidFill>
                <a:latin typeface="Colber"/>
              </a:rPr>
              <a:t>students</a:t>
            </a:r>
            <a:r>
              <a:rPr lang="pl-PL" sz="2000" b="1" dirty="0">
                <a:solidFill>
                  <a:srgbClr val="00B0F0"/>
                </a:solidFill>
                <a:latin typeface="Colber"/>
              </a:rPr>
              <a:t>: 45 min</a:t>
            </a:r>
          </a:p>
        </p:txBody>
      </p:sp>
      <p:sp>
        <p:nvSpPr>
          <p:cNvPr id="7" name="pole tekstowe 6">
            <a:extLst>
              <a:ext uri="{FF2B5EF4-FFF2-40B4-BE49-F238E27FC236}">
                <a16:creationId xmlns:a16="http://schemas.microsoft.com/office/drawing/2014/main" id="{2D273141-746D-F239-E745-7C9BDB8BB704}"/>
              </a:ext>
            </a:extLst>
          </p:cNvPr>
          <p:cNvSpPr txBox="1"/>
          <p:nvPr/>
        </p:nvSpPr>
        <p:spPr>
          <a:xfrm>
            <a:off x="982745" y="1617580"/>
            <a:ext cx="10800760" cy="4555093"/>
          </a:xfrm>
          <a:prstGeom prst="rect">
            <a:avLst/>
          </a:prstGeom>
          <a:noFill/>
        </p:spPr>
        <p:txBody>
          <a:bodyPr wrap="square">
            <a:spAutoFit/>
          </a:bodyPr>
          <a:lstStyle/>
          <a:p>
            <a:r>
              <a:rPr lang="pl-PL" sz="2000" b="1" dirty="0" err="1">
                <a:solidFill>
                  <a:srgbClr val="1A2E52"/>
                </a:solidFill>
              </a:rPr>
              <a:t>Describe</a:t>
            </a:r>
            <a:r>
              <a:rPr lang="pl-PL" sz="2000" b="1" dirty="0">
                <a:solidFill>
                  <a:srgbClr val="1A2E52"/>
                </a:solidFill>
              </a:rPr>
              <a:t> the engineering problem:</a:t>
            </a:r>
          </a:p>
          <a:p>
            <a:r>
              <a:rPr lang="en-GB" sz="2000" dirty="0"/>
              <a:t>In reality, mechanical elements and structures experience dynamic loads and vibrations from rotating equipment, impacts, or operational conditions. When these external forces excite a structure near its natural frequency, a phenomenon known as resonance occurs, leading to dramatically increased vibration amplitudes. This is a severe engineering problem because high-amplitude vibrations cause intense noise, structural fatigue, and eventual mechanical failure or equipment damage. Diagnostic and design engineers are directly affected, as unmitigated resonance reduces system reliability, compromises safety, and results in costly operational downtime and premature material waste.</a:t>
            </a:r>
            <a:br>
              <a:rPr lang="pl-PL" sz="2000" dirty="0">
                <a:solidFill>
                  <a:srgbClr val="1A2E52"/>
                </a:solidFill>
              </a:rPr>
            </a:br>
            <a:endParaRPr lang="pl-PL" sz="2000" dirty="0">
              <a:solidFill>
                <a:srgbClr val="1A2E52"/>
              </a:solidFill>
            </a:endParaRPr>
          </a:p>
          <a:p>
            <a:endParaRPr lang="pl-PL" sz="2000" dirty="0">
              <a:solidFill>
                <a:srgbClr val="1A2E52"/>
              </a:solidFill>
            </a:endParaRPr>
          </a:p>
          <a:p>
            <a:r>
              <a:rPr lang="pl-PL" b="1" dirty="0" err="1">
                <a:solidFill>
                  <a:srgbClr val="1A2E52"/>
                </a:solidFill>
              </a:rPr>
              <a:t>Example</a:t>
            </a:r>
            <a:r>
              <a:rPr lang="pl-PL" b="1" dirty="0">
                <a:solidFill>
                  <a:srgbClr val="1A2E52"/>
                </a:solidFill>
              </a:rPr>
              <a:t> </a:t>
            </a:r>
            <a:r>
              <a:rPr lang="pl-PL" b="1" dirty="0" err="1">
                <a:solidFill>
                  <a:srgbClr val="1A2E52"/>
                </a:solidFill>
              </a:rPr>
              <a:t>questions</a:t>
            </a:r>
            <a:r>
              <a:rPr lang="pl-PL" b="1" dirty="0">
                <a:solidFill>
                  <a:srgbClr val="1A2E52"/>
                </a:solidFill>
              </a:rPr>
              <a:t>:</a:t>
            </a:r>
          </a:p>
          <a:p>
            <a:pPr marL="457200" indent="-457200">
              <a:buFont typeface="+mj-lt"/>
              <a:buAutoNum type="arabicPeriod"/>
            </a:pPr>
            <a:r>
              <a:rPr lang="pl-PL" dirty="0" err="1">
                <a:solidFill>
                  <a:srgbClr val="1A2E52"/>
                </a:solidFill>
              </a:rPr>
              <a:t>What</a:t>
            </a:r>
            <a:r>
              <a:rPr lang="pl-PL" dirty="0">
                <a:solidFill>
                  <a:srgbClr val="1A2E52"/>
                </a:solidFill>
              </a:rPr>
              <a:t> </a:t>
            </a:r>
            <a:r>
              <a:rPr lang="pl-PL" dirty="0" err="1">
                <a:solidFill>
                  <a:srgbClr val="1A2E52"/>
                </a:solidFill>
              </a:rPr>
              <a:t>happens</a:t>
            </a:r>
            <a:r>
              <a:rPr lang="pl-PL" dirty="0">
                <a:solidFill>
                  <a:srgbClr val="1A2E52"/>
                </a:solidFill>
              </a:rPr>
              <a:t> in </a:t>
            </a:r>
            <a:r>
              <a:rPr lang="pl-PL" dirty="0" err="1">
                <a:solidFill>
                  <a:srgbClr val="1A2E52"/>
                </a:solidFill>
              </a:rPr>
              <a:t>reality</a:t>
            </a:r>
            <a:r>
              <a:rPr lang="pl-PL" dirty="0">
                <a:solidFill>
                  <a:srgbClr val="1A2E52"/>
                </a:solidFill>
              </a:rPr>
              <a:t>? </a:t>
            </a:r>
          </a:p>
          <a:p>
            <a:pPr marL="457200" indent="-457200">
              <a:buFont typeface="+mj-lt"/>
              <a:buAutoNum type="arabicPeriod"/>
            </a:pPr>
            <a:r>
              <a:rPr lang="pl-PL" dirty="0" err="1">
                <a:solidFill>
                  <a:srgbClr val="1A2E52"/>
                </a:solidFill>
              </a:rPr>
              <a:t>Why</a:t>
            </a:r>
            <a:r>
              <a:rPr lang="pl-PL" dirty="0">
                <a:solidFill>
                  <a:srgbClr val="1A2E52"/>
                </a:solidFill>
              </a:rPr>
              <a:t> </a:t>
            </a:r>
            <a:r>
              <a:rPr lang="pl-PL" dirty="0" err="1">
                <a:solidFill>
                  <a:srgbClr val="1A2E52"/>
                </a:solidFill>
              </a:rPr>
              <a:t>is</a:t>
            </a:r>
            <a:r>
              <a:rPr lang="pl-PL" dirty="0">
                <a:solidFill>
                  <a:srgbClr val="1A2E52"/>
                </a:solidFill>
              </a:rPr>
              <a:t> </a:t>
            </a:r>
            <a:r>
              <a:rPr lang="pl-PL" dirty="0" err="1">
                <a:solidFill>
                  <a:srgbClr val="1A2E52"/>
                </a:solidFill>
              </a:rPr>
              <a:t>this</a:t>
            </a:r>
            <a:r>
              <a:rPr lang="pl-PL" dirty="0">
                <a:solidFill>
                  <a:srgbClr val="1A2E52"/>
                </a:solidFill>
              </a:rPr>
              <a:t> a problem? </a:t>
            </a:r>
          </a:p>
          <a:p>
            <a:pPr marL="457200" indent="-457200">
              <a:buFont typeface="+mj-lt"/>
              <a:buAutoNum type="arabicPeriod"/>
            </a:pPr>
            <a:r>
              <a:rPr lang="pl-PL" dirty="0" err="1">
                <a:solidFill>
                  <a:srgbClr val="1A2E52"/>
                </a:solidFill>
              </a:rPr>
              <a:t>Who</a:t>
            </a:r>
            <a:r>
              <a:rPr lang="pl-PL" dirty="0">
                <a:solidFill>
                  <a:srgbClr val="1A2E52"/>
                </a:solidFill>
              </a:rPr>
              <a:t> </a:t>
            </a:r>
            <a:r>
              <a:rPr lang="pl-PL" dirty="0" err="1">
                <a:solidFill>
                  <a:srgbClr val="1A2E52"/>
                </a:solidFill>
              </a:rPr>
              <a:t>is</a:t>
            </a:r>
            <a:r>
              <a:rPr lang="pl-PL" dirty="0">
                <a:solidFill>
                  <a:srgbClr val="1A2E52"/>
                </a:solidFill>
              </a:rPr>
              <a:t> </a:t>
            </a:r>
            <a:r>
              <a:rPr lang="pl-PL" dirty="0" err="1">
                <a:solidFill>
                  <a:srgbClr val="1A2E52"/>
                </a:solidFill>
              </a:rPr>
              <a:t>affected</a:t>
            </a:r>
            <a:r>
              <a:rPr lang="pl-PL" dirty="0">
                <a:solidFill>
                  <a:srgbClr val="1A2E52"/>
                </a:solidFill>
              </a:rPr>
              <a:t>? </a:t>
            </a:r>
          </a:p>
          <a:p>
            <a:pPr marL="457200" indent="-457200">
              <a:buFont typeface="+mj-lt"/>
              <a:buAutoNum type="arabicPeriod"/>
            </a:pPr>
            <a:r>
              <a:rPr lang="pl-PL" dirty="0" err="1">
                <a:solidFill>
                  <a:srgbClr val="1A2E52"/>
                </a:solidFill>
              </a:rPr>
              <a:t>What</a:t>
            </a:r>
            <a:r>
              <a:rPr lang="pl-PL" dirty="0">
                <a:solidFill>
                  <a:srgbClr val="1A2E52"/>
                </a:solidFill>
              </a:rPr>
              <a:t> </a:t>
            </a:r>
            <a:r>
              <a:rPr lang="pl-PL" dirty="0" err="1">
                <a:solidFill>
                  <a:srgbClr val="1A2E52"/>
                </a:solidFill>
              </a:rPr>
              <a:t>are</a:t>
            </a:r>
            <a:r>
              <a:rPr lang="pl-PL" dirty="0">
                <a:solidFill>
                  <a:srgbClr val="1A2E52"/>
                </a:solidFill>
              </a:rPr>
              <a:t> the </a:t>
            </a:r>
            <a:r>
              <a:rPr lang="pl-PL" dirty="0" err="1">
                <a:solidFill>
                  <a:srgbClr val="1A2E52"/>
                </a:solidFill>
              </a:rPr>
              <a:t>consequences</a:t>
            </a:r>
            <a:r>
              <a:rPr lang="pl-PL" dirty="0">
                <a:solidFill>
                  <a:srgbClr val="1A2E52"/>
                </a:solidFill>
              </a:rPr>
              <a:t>?</a:t>
            </a:r>
          </a:p>
        </p:txBody>
      </p:sp>
    </p:spTree>
    <p:extLst>
      <p:ext uri="{BB962C8B-B14F-4D97-AF65-F5344CB8AC3E}">
        <p14:creationId xmlns:p14="http://schemas.microsoft.com/office/powerpoint/2010/main" val="2725548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8702C-C7EB-5962-3422-A9BB1C3D3AFC}"/>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BBDD168D-31A5-A80D-0CE5-D27D08D2608A}"/>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D4200F77-1BE7-B933-85DC-59668528E6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EDA42E54-B616-0BD6-4634-CBC3DEAADE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457E4628-75B3-7023-AF44-B786463A14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A91F9AC5-C5B3-1A59-D552-F1ACA48EDA00}"/>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3B5314E0-530A-948C-C481-97D430EF5C6E}"/>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C6ABFE7D-B713-9245-6F07-03F8BE26E8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57FD401E-F417-265F-EE2C-1E031141B51C}"/>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F2B26D23-F5C6-3FAC-E17C-1B617EDD94F7}"/>
              </a:ext>
            </a:extLst>
          </p:cNvPr>
          <p:cNvSpPr txBox="1"/>
          <p:nvPr/>
        </p:nvSpPr>
        <p:spPr>
          <a:xfrm>
            <a:off x="577392" y="932410"/>
            <a:ext cx="10395408" cy="400110"/>
          </a:xfrm>
          <a:prstGeom prst="rect">
            <a:avLst/>
          </a:prstGeom>
          <a:noFill/>
        </p:spPr>
        <p:txBody>
          <a:bodyPr wrap="square">
            <a:spAutoFit/>
          </a:bodyPr>
          <a:lstStyle/>
          <a:p>
            <a:r>
              <a:rPr lang="en-US" sz="2000" b="1" dirty="0">
                <a:solidFill>
                  <a:srgbClr val="1A2E52"/>
                </a:solidFill>
                <a:latin typeface="Colber"/>
              </a:rPr>
              <a:t>Importance of the Problem</a:t>
            </a:r>
            <a:r>
              <a:rPr lang="pl-PL" sz="2000" b="1" dirty="0">
                <a:solidFill>
                  <a:srgbClr val="1A2E52"/>
                </a:solidFill>
                <a:latin typeface="Colber"/>
              </a:rPr>
              <a:t> </a:t>
            </a:r>
            <a:r>
              <a:rPr lang="en-US" sz="2000" b="1" dirty="0">
                <a:solidFill>
                  <a:srgbClr val="00B0F0"/>
                </a:solidFill>
                <a:latin typeface="Colber"/>
              </a:rPr>
              <a:t>Time for students: included in 45 min block</a:t>
            </a:r>
            <a:r>
              <a:rPr lang="pl-PL" sz="2000" b="1" dirty="0">
                <a:solidFill>
                  <a:srgbClr val="00B0F0"/>
                </a:solidFill>
                <a:latin typeface="Colber"/>
              </a:rPr>
              <a:t> </a:t>
            </a:r>
          </a:p>
        </p:txBody>
      </p:sp>
      <p:sp>
        <p:nvSpPr>
          <p:cNvPr id="7" name="pole tekstowe 6">
            <a:extLst>
              <a:ext uri="{FF2B5EF4-FFF2-40B4-BE49-F238E27FC236}">
                <a16:creationId xmlns:a16="http://schemas.microsoft.com/office/drawing/2014/main" id="{2CD9BB17-90C4-414C-F61D-F346DFC5DDAB}"/>
              </a:ext>
            </a:extLst>
          </p:cNvPr>
          <p:cNvSpPr txBox="1"/>
          <p:nvPr/>
        </p:nvSpPr>
        <p:spPr>
          <a:xfrm>
            <a:off x="813848" y="1266531"/>
            <a:ext cx="10800760" cy="4616648"/>
          </a:xfrm>
          <a:prstGeom prst="rect">
            <a:avLst/>
          </a:prstGeom>
          <a:noFill/>
        </p:spPr>
        <p:txBody>
          <a:bodyPr wrap="square">
            <a:spAutoFit/>
          </a:bodyPr>
          <a:lstStyle/>
          <a:p>
            <a:r>
              <a:rPr lang="pl-PL" sz="2000" b="1" dirty="0">
                <a:solidFill>
                  <a:srgbClr val="1A2E52"/>
                </a:solidFill>
              </a:rPr>
              <a:t>Technical </a:t>
            </a:r>
            <a:r>
              <a:rPr lang="pl-PL" sz="2000" b="1" dirty="0" err="1">
                <a:solidFill>
                  <a:srgbClr val="1A2E52"/>
                </a:solidFill>
              </a:rPr>
              <a:t>importance</a:t>
            </a:r>
            <a:endParaRPr lang="pl-PL" sz="2000" b="1" dirty="0">
              <a:solidFill>
                <a:srgbClr val="1A2E52"/>
              </a:solidFill>
            </a:endParaRPr>
          </a:p>
          <a:p>
            <a:r>
              <a:rPr lang="en-GB" sz="2000" dirty="0"/>
              <a:t>Uncontrolled resonance dramatically amplifies mechanical stress on structural elements. This leads to accelerated material fatigue, crack propagation, and sudden structural failures.</a:t>
            </a:r>
            <a:br>
              <a:rPr lang="pl-PL" sz="2000" dirty="0">
                <a:solidFill>
                  <a:srgbClr val="1A2E52"/>
                </a:solidFill>
              </a:rPr>
            </a:br>
            <a:endParaRPr lang="pl-PL" sz="2000" dirty="0">
              <a:solidFill>
                <a:srgbClr val="1A2E52"/>
              </a:solidFill>
            </a:endParaRPr>
          </a:p>
          <a:p>
            <a:r>
              <a:rPr lang="pl-PL" sz="2000" b="1" dirty="0" err="1">
                <a:solidFill>
                  <a:srgbClr val="1A2E52"/>
                </a:solidFill>
              </a:rPr>
              <a:t>Economic</a:t>
            </a:r>
            <a:r>
              <a:rPr lang="pl-PL" sz="2000" b="1" dirty="0">
                <a:solidFill>
                  <a:srgbClr val="1A2E52"/>
                </a:solidFill>
              </a:rPr>
              <a:t> </a:t>
            </a:r>
            <a:r>
              <a:rPr lang="pl-PL" sz="2000" b="1" dirty="0" err="1">
                <a:solidFill>
                  <a:srgbClr val="1A2E52"/>
                </a:solidFill>
              </a:rPr>
              <a:t>importance</a:t>
            </a:r>
            <a:endParaRPr lang="pl-PL" sz="2000" b="1" dirty="0">
              <a:solidFill>
                <a:srgbClr val="1A2E52"/>
              </a:solidFill>
            </a:endParaRPr>
          </a:p>
          <a:p>
            <a:r>
              <a:rPr lang="en-GB" sz="2000" dirty="0"/>
              <a:t>Structural failures from resonance result in high economic losses due to unexpected machinery downtime, emergency repairs, and the need for early replacement of expensive components.</a:t>
            </a:r>
            <a:br>
              <a:rPr lang="pl-PL" sz="2000" dirty="0">
                <a:solidFill>
                  <a:srgbClr val="1A2E52"/>
                </a:solidFill>
              </a:rPr>
            </a:br>
            <a:endParaRPr lang="pl-PL" sz="2000" dirty="0">
              <a:solidFill>
                <a:srgbClr val="1A2E52"/>
              </a:solidFill>
            </a:endParaRPr>
          </a:p>
          <a:p>
            <a:r>
              <a:rPr lang="pl-PL" sz="2000" b="1" dirty="0" err="1">
                <a:solidFill>
                  <a:srgbClr val="1A2E52"/>
                </a:solidFill>
              </a:rPr>
              <a:t>Environmental</a:t>
            </a:r>
            <a:r>
              <a:rPr lang="pl-PL" sz="2000" b="1" dirty="0">
                <a:solidFill>
                  <a:srgbClr val="1A2E52"/>
                </a:solidFill>
              </a:rPr>
              <a:t> / </a:t>
            </a:r>
            <a:r>
              <a:rPr lang="pl-PL" sz="2000" b="1" dirty="0" err="1">
                <a:solidFill>
                  <a:srgbClr val="1A2E52"/>
                </a:solidFill>
              </a:rPr>
              <a:t>sustainability</a:t>
            </a:r>
            <a:r>
              <a:rPr lang="pl-PL" sz="2000" b="1" dirty="0">
                <a:solidFill>
                  <a:srgbClr val="1A2E52"/>
                </a:solidFill>
              </a:rPr>
              <a:t> </a:t>
            </a:r>
            <a:r>
              <a:rPr lang="pl-PL" sz="2000" b="1" dirty="0" err="1">
                <a:solidFill>
                  <a:srgbClr val="1A2E52"/>
                </a:solidFill>
              </a:rPr>
              <a:t>importance</a:t>
            </a:r>
            <a:endParaRPr lang="pl-PL" sz="2000" b="1" dirty="0">
              <a:solidFill>
                <a:srgbClr val="1A2E52"/>
              </a:solidFill>
            </a:endParaRPr>
          </a:p>
          <a:p>
            <a:r>
              <a:rPr lang="en-GB" sz="2000" dirty="0"/>
              <a:t>Frequent mechanical breakdowns and component destruction lead to premature disposal of materials, significantly increasing resource consumption and waste generation. Furthermore, resonance causes excessive acoustic pollution (noise) and wastes kinetic energy. By identifying and mitigating resonance, we extend equipment lifespans and reduce the environmental footprint of manufacturing and operating materials.</a:t>
            </a:r>
            <a:br>
              <a:rPr lang="pl-PL" sz="2000" dirty="0">
                <a:solidFill>
                  <a:srgbClr val="1A2E52"/>
                </a:solidFill>
              </a:rPr>
            </a:br>
            <a:endParaRPr lang="pl-PL" sz="1400" dirty="0">
              <a:solidFill>
                <a:srgbClr val="1A2E52"/>
              </a:solidFill>
            </a:endParaRPr>
          </a:p>
        </p:txBody>
      </p:sp>
    </p:spTree>
    <p:extLst>
      <p:ext uri="{BB962C8B-B14F-4D97-AF65-F5344CB8AC3E}">
        <p14:creationId xmlns:p14="http://schemas.microsoft.com/office/powerpoint/2010/main" val="1019231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0D2FB-24C5-EE99-E12F-3D5D4BC4E719}"/>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F852FB3C-C946-8AA6-1CA4-1FBDB16362C3}"/>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41EE53D9-C469-AACE-8A1E-9A0EFDFC25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6ED06204-9E8A-B59C-6648-BCEC09EE1E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24D6F608-03CA-22AC-16F8-C742523DCD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44BE9B08-ADA9-6A04-5A2C-73D0B0D7B642}"/>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81949162-CCA6-5F45-80E0-15074C341B4B}"/>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82B82A00-7DBE-1379-30A1-36A418E068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7C7C7471-E8F5-CE71-3B77-FF58DBCC8EF2}"/>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04149A52-7158-4FD7-F7D1-377599F4E5EF}"/>
              </a:ext>
            </a:extLst>
          </p:cNvPr>
          <p:cNvSpPr txBox="1"/>
          <p:nvPr/>
        </p:nvSpPr>
        <p:spPr>
          <a:xfrm>
            <a:off x="577391" y="932410"/>
            <a:ext cx="8145229" cy="400110"/>
          </a:xfrm>
          <a:prstGeom prst="rect">
            <a:avLst/>
          </a:prstGeom>
          <a:noFill/>
        </p:spPr>
        <p:txBody>
          <a:bodyPr wrap="square">
            <a:spAutoFit/>
          </a:bodyPr>
          <a:lstStyle/>
          <a:p>
            <a:r>
              <a:rPr lang="en-US" sz="2000" b="1" dirty="0">
                <a:solidFill>
                  <a:srgbClr val="1A2E52"/>
                </a:solidFill>
                <a:latin typeface="Colber"/>
              </a:rPr>
              <a:t>Project Challenge</a:t>
            </a:r>
            <a:r>
              <a:rPr lang="pl-PL" sz="2000" b="1" dirty="0">
                <a:solidFill>
                  <a:srgbClr val="1A2E52"/>
                </a:solidFill>
                <a:latin typeface="Colber"/>
              </a:rPr>
              <a:t> </a:t>
            </a:r>
            <a:r>
              <a:rPr lang="en-US" sz="2000" b="1" dirty="0">
                <a:solidFill>
                  <a:srgbClr val="00B0F0"/>
                </a:solidFill>
                <a:latin typeface="Colber"/>
              </a:rPr>
              <a:t>Time for students: included in 45 min block</a:t>
            </a:r>
            <a:r>
              <a:rPr lang="pl-PL" sz="2000" b="1" dirty="0">
                <a:solidFill>
                  <a:srgbClr val="00B0F0"/>
                </a:solidFill>
                <a:latin typeface="Colber"/>
              </a:rPr>
              <a:t> </a:t>
            </a:r>
            <a:endParaRPr lang="pl-PL" sz="2000" b="1" dirty="0">
              <a:solidFill>
                <a:srgbClr val="1A2E52"/>
              </a:solidFill>
              <a:latin typeface="Colber"/>
            </a:endParaRPr>
          </a:p>
        </p:txBody>
      </p:sp>
      <p:sp>
        <p:nvSpPr>
          <p:cNvPr id="7" name="pole tekstowe 6">
            <a:extLst>
              <a:ext uri="{FF2B5EF4-FFF2-40B4-BE49-F238E27FC236}">
                <a16:creationId xmlns:a16="http://schemas.microsoft.com/office/drawing/2014/main" id="{E0B25F33-86E9-9C0C-9B3E-9B70760D6305}"/>
              </a:ext>
            </a:extLst>
          </p:cNvPr>
          <p:cNvSpPr txBox="1"/>
          <p:nvPr/>
        </p:nvSpPr>
        <p:spPr>
          <a:xfrm>
            <a:off x="813848" y="1266531"/>
            <a:ext cx="10800760" cy="5016758"/>
          </a:xfrm>
          <a:prstGeom prst="rect">
            <a:avLst/>
          </a:prstGeom>
          <a:noFill/>
        </p:spPr>
        <p:txBody>
          <a:bodyPr wrap="square">
            <a:spAutoFit/>
          </a:bodyPr>
          <a:lstStyle/>
          <a:p>
            <a:r>
              <a:rPr lang="pl-PL" sz="2000" b="1" dirty="0" err="1">
                <a:solidFill>
                  <a:srgbClr val="1A2E52"/>
                </a:solidFill>
              </a:rPr>
              <a:t>Main</a:t>
            </a:r>
            <a:r>
              <a:rPr lang="pl-PL" sz="2000" b="1" dirty="0">
                <a:solidFill>
                  <a:srgbClr val="1A2E52"/>
                </a:solidFill>
              </a:rPr>
              <a:t> engineering </a:t>
            </a:r>
            <a:r>
              <a:rPr lang="pl-PL" sz="2000" b="1" dirty="0" err="1">
                <a:solidFill>
                  <a:srgbClr val="1A2E52"/>
                </a:solidFill>
              </a:rPr>
              <a:t>question</a:t>
            </a:r>
            <a:r>
              <a:rPr lang="pl-PL" sz="2000" b="1" dirty="0">
                <a:solidFill>
                  <a:srgbClr val="1A2E52"/>
                </a:solidFill>
              </a:rPr>
              <a:t>:</a:t>
            </a:r>
          </a:p>
          <a:p>
            <a:r>
              <a:rPr lang="en-GB" sz="2000" dirty="0"/>
              <a:t>How can an integrated data acquisition system, precise IEPE accelerometers, and signal processing algorithms be utilized to accurately identify structural resonance frequencies and assess damping characteristics across different physical configurations to prevent catastrophic fatigue failure?</a:t>
            </a:r>
            <a:endParaRPr lang="pl-PL" sz="2000" dirty="0">
              <a:solidFill>
                <a:srgbClr val="1A2E52"/>
              </a:solidFill>
            </a:endParaRPr>
          </a:p>
          <a:p>
            <a:endParaRPr lang="pl-PL" sz="2000" dirty="0">
              <a:solidFill>
                <a:srgbClr val="1A2E52"/>
              </a:solidFill>
            </a:endParaRPr>
          </a:p>
          <a:p>
            <a:endParaRPr lang="pl-PL" sz="2000" b="1" dirty="0">
              <a:solidFill>
                <a:srgbClr val="1A2E52"/>
              </a:solidFill>
            </a:endParaRPr>
          </a:p>
          <a:p>
            <a:r>
              <a:rPr lang="pl-PL" sz="2000" b="1" dirty="0" err="1">
                <a:solidFill>
                  <a:srgbClr val="1A2E52"/>
                </a:solidFill>
              </a:rPr>
              <a:t>Expected</a:t>
            </a:r>
            <a:r>
              <a:rPr lang="pl-PL" sz="2000" b="1" dirty="0">
                <a:solidFill>
                  <a:srgbClr val="1A2E52"/>
                </a:solidFill>
              </a:rPr>
              <a:t> </a:t>
            </a:r>
            <a:r>
              <a:rPr lang="pl-PL" sz="2000" b="1" dirty="0" err="1">
                <a:solidFill>
                  <a:srgbClr val="1A2E52"/>
                </a:solidFill>
              </a:rPr>
              <a:t>project</a:t>
            </a:r>
            <a:r>
              <a:rPr lang="pl-PL" sz="2000" b="1" dirty="0">
                <a:solidFill>
                  <a:srgbClr val="1A2E52"/>
                </a:solidFill>
              </a:rPr>
              <a:t> </a:t>
            </a:r>
            <a:r>
              <a:rPr lang="pl-PL" sz="2000" b="1" dirty="0" err="1">
                <a:solidFill>
                  <a:srgbClr val="1A2E52"/>
                </a:solidFill>
              </a:rPr>
              <a:t>outcome</a:t>
            </a:r>
            <a:r>
              <a:rPr lang="pl-PL" sz="2000" b="1" dirty="0">
                <a:solidFill>
                  <a:srgbClr val="1A2E52"/>
                </a:solidFill>
              </a:rPr>
              <a:t>:</a:t>
            </a:r>
          </a:p>
          <a:p>
            <a:r>
              <a:rPr lang="en-GB" sz="2000" dirty="0"/>
              <a:t>The expected outcome is a fully functional, automated vibration measurement and diagnostic station. It will feature a calibrated sensor configuration, a </a:t>
            </a:r>
            <a:r>
              <a:rPr lang="pl-PL" sz="2000" dirty="0"/>
              <a:t>web</a:t>
            </a:r>
            <a:r>
              <a:rPr lang="en-GB" sz="2000" dirty="0"/>
              <a:t> dashboard displaying Fast Fourier Transform (FFT) spectra</a:t>
            </a:r>
            <a:r>
              <a:rPr lang="pl-PL" sz="2000" dirty="0"/>
              <a:t>, </a:t>
            </a:r>
            <a:r>
              <a:rPr lang="pl-PL" sz="2000" dirty="0" err="1"/>
              <a:t>time</a:t>
            </a:r>
            <a:r>
              <a:rPr lang="pl-PL" sz="2000" dirty="0"/>
              <a:t> </a:t>
            </a:r>
            <a:r>
              <a:rPr lang="pl-PL" sz="2000" dirty="0" err="1"/>
              <a:t>domain</a:t>
            </a:r>
            <a:r>
              <a:rPr lang="pl-PL" sz="2000" dirty="0"/>
              <a:t> </a:t>
            </a:r>
            <a:r>
              <a:rPr lang="pl-PL" sz="2000" dirty="0" err="1"/>
              <a:t>signals</a:t>
            </a:r>
            <a:r>
              <a:rPr lang="pl-PL" sz="2000" dirty="0"/>
              <a:t>, </a:t>
            </a:r>
            <a:r>
              <a:rPr lang="en-GB" sz="2000" dirty="0"/>
              <a:t>structured TDMS logging protocol for raw experimental data, and a persistent </a:t>
            </a:r>
            <a:r>
              <a:rPr lang="pl-PL" sz="2000" dirty="0" err="1"/>
              <a:t>SQLite</a:t>
            </a:r>
            <a:r>
              <a:rPr lang="pl-PL" sz="2000" dirty="0"/>
              <a:t> </a:t>
            </a:r>
            <a:r>
              <a:rPr lang="en-GB" sz="2000" dirty="0"/>
              <a:t>database tracking dominant peak frequencies and decay rates across structural modifications to provide actionable engineering choices.</a:t>
            </a:r>
            <a:endParaRPr lang="pl-PL" sz="2000" dirty="0">
              <a:solidFill>
                <a:srgbClr val="C00000"/>
              </a:solidFill>
            </a:endParaRPr>
          </a:p>
          <a:p>
            <a:endParaRPr lang="pl-PL" sz="2000" dirty="0">
              <a:solidFill>
                <a:srgbClr val="C00000"/>
              </a:solidFill>
            </a:endParaRPr>
          </a:p>
          <a:p>
            <a:endParaRPr lang="pl-PL" sz="2000" dirty="0">
              <a:solidFill>
                <a:srgbClr val="C00000"/>
              </a:solidFill>
            </a:endParaRPr>
          </a:p>
          <a:p>
            <a:endParaRPr lang="pl-PL" sz="2000" dirty="0">
              <a:solidFill>
                <a:srgbClr val="C00000"/>
              </a:solidFill>
            </a:endParaRPr>
          </a:p>
          <a:p>
            <a:endParaRPr lang="pl-PL" sz="2000" dirty="0">
              <a:solidFill>
                <a:srgbClr val="C00000"/>
              </a:solidFill>
            </a:endParaRPr>
          </a:p>
        </p:txBody>
      </p:sp>
    </p:spTree>
    <p:extLst>
      <p:ext uri="{BB962C8B-B14F-4D97-AF65-F5344CB8AC3E}">
        <p14:creationId xmlns:p14="http://schemas.microsoft.com/office/powerpoint/2010/main" val="895000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A4E57-E010-9808-49B5-1F6E131D8FC8}"/>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7A43FE4F-7DA9-5CFC-C6FE-83C0A82915CE}"/>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1506A879-4D25-FA1F-5C6A-AEACF3F4A7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DFA21706-F20A-F100-2F86-2A50C79F02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523F111F-B302-5588-F796-4DBB3B92B7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EAF71688-F846-3AB5-388F-94220FB6129E}"/>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3A1210CC-34EF-1301-BCC8-E4859640A26E}"/>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23167241-B242-8BB5-AB24-6EEA769F60C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555C4313-F9D3-2B18-2B84-5B7D7082F497}"/>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9ACC62BD-324D-5028-C919-283740173984}"/>
              </a:ext>
            </a:extLst>
          </p:cNvPr>
          <p:cNvSpPr txBox="1"/>
          <p:nvPr/>
        </p:nvSpPr>
        <p:spPr>
          <a:xfrm>
            <a:off x="577392" y="659027"/>
            <a:ext cx="7903122" cy="707886"/>
          </a:xfrm>
          <a:prstGeom prst="rect">
            <a:avLst/>
          </a:prstGeom>
          <a:noFill/>
        </p:spPr>
        <p:txBody>
          <a:bodyPr wrap="square">
            <a:spAutoFit/>
          </a:bodyPr>
          <a:lstStyle/>
          <a:p>
            <a:r>
              <a:rPr lang="en-US" sz="2000" b="1" dirty="0">
                <a:solidFill>
                  <a:srgbClr val="1A2E52"/>
                </a:solidFill>
                <a:latin typeface="Colber"/>
              </a:rPr>
              <a:t>Activity: Problem Analysis</a:t>
            </a:r>
            <a:endParaRPr lang="pl-PL" sz="2000" b="1" dirty="0">
              <a:solidFill>
                <a:srgbClr val="1A2E52"/>
              </a:solidFill>
              <a:latin typeface="Colber"/>
            </a:endParaRPr>
          </a:p>
          <a:p>
            <a:r>
              <a:rPr lang="en-US" sz="2000" b="1" dirty="0">
                <a:solidFill>
                  <a:srgbClr val="1A2E52"/>
                </a:solidFill>
                <a:latin typeface="Colber"/>
              </a:rPr>
              <a:t>Measurement Requirements</a:t>
            </a:r>
            <a:r>
              <a:rPr lang="pl-PL" sz="2000" b="1" dirty="0">
                <a:solidFill>
                  <a:srgbClr val="1A2E52"/>
                </a:solidFill>
                <a:latin typeface="Colber"/>
              </a:rPr>
              <a:t> </a:t>
            </a:r>
            <a:r>
              <a:rPr lang="pl-PL" sz="2000" b="1" dirty="0">
                <a:solidFill>
                  <a:srgbClr val="00B0F0"/>
                </a:solidFill>
                <a:latin typeface="Colber"/>
              </a:rPr>
              <a:t>Time for </a:t>
            </a:r>
            <a:r>
              <a:rPr lang="pl-PL" sz="2000" b="1" dirty="0" err="1">
                <a:solidFill>
                  <a:srgbClr val="00B0F0"/>
                </a:solidFill>
                <a:latin typeface="Colber"/>
              </a:rPr>
              <a:t>students</a:t>
            </a:r>
            <a:r>
              <a:rPr lang="pl-PL" sz="2000" b="1" dirty="0">
                <a:solidFill>
                  <a:srgbClr val="00B0F0"/>
                </a:solidFill>
                <a:latin typeface="Colber"/>
              </a:rPr>
              <a:t>: 60 min</a:t>
            </a:r>
          </a:p>
        </p:txBody>
      </p:sp>
      <p:sp>
        <p:nvSpPr>
          <p:cNvPr id="7" name="pole tekstowe 6">
            <a:extLst>
              <a:ext uri="{FF2B5EF4-FFF2-40B4-BE49-F238E27FC236}">
                <a16:creationId xmlns:a16="http://schemas.microsoft.com/office/drawing/2014/main" id="{3E488C67-F38B-544A-CCD3-074ED7304DEF}"/>
              </a:ext>
            </a:extLst>
          </p:cNvPr>
          <p:cNvSpPr txBox="1"/>
          <p:nvPr/>
        </p:nvSpPr>
        <p:spPr>
          <a:xfrm>
            <a:off x="813848" y="1213345"/>
            <a:ext cx="10800760" cy="5293757"/>
          </a:xfrm>
          <a:prstGeom prst="rect">
            <a:avLst/>
          </a:prstGeom>
          <a:noFill/>
        </p:spPr>
        <p:txBody>
          <a:bodyPr wrap="square">
            <a:spAutoFit/>
          </a:bodyPr>
          <a:lstStyle/>
          <a:p>
            <a:r>
              <a:rPr lang="pl-PL" sz="2000" b="1" dirty="0" err="1">
                <a:solidFill>
                  <a:srgbClr val="1A2E52"/>
                </a:solidFill>
              </a:rPr>
              <a:t>Physical</a:t>
            </a:r>
            <a:r>
              <a:rPr lang="pl-PL" sz="2000" b="1" dirty="0">
                <a:solidFill>
                  <a:srgbClr val="1A2E52"/>
                </a:solidFill>
              </a:rPr>
              <a:t> </a:t>
            </a:r>
            <a:r>
              <a:rPr lang="pl-PL" sz="2000" b="1" dirty="0" err="1">
                <a:solidFill>
                  <a:srgbClr val="1A2E52"/>
                </a:solidFill>
              </a:rPr>
              <a:t>quantities</a:t>
            </a:r>
            <a:r>
              <a:rPr lang="pl-PL" sz="2000" b="1" dirty="0">
                <a:solidFill>
                  <a:srgbClr val="1A2E52"/>
                </a:solidFill>
              </a:rPr>
              <a:t> to </a:t>
            </a:r>
            <a:r>
              <a:rPr lang="pl-PL" sz="2000" b="1" dirty="0" err="1">
                <a:solidFill>
                  <a:srgbClr val="1A2E52"/>
                </a:solidFill>
              </a:rPr>
              <a:t>measure</a:t>
            </a:r>
            <a:r>
              <a:rPr lang="pl-PL" sz="2000" b="1" dirty="0">
                <a:solidFill>
                  <a:srgbClr val="1A2E52"/>
                </a:solidFill>
              </a:rPr>
              <a:t>:</a:t>
            </a:r>
          </a:p>
          <a:p>
            <a:r>
              <a:rPr lang="pl-PL" sz="1400" dirty="0">
                <a:solidFill>
                  <a:srgbClr val="1A2E52"/>
                </a:solidFill>
              </a:rPr>
              <a:t>☐ </a:t>
            </a:r>
            <a:r>
              <a:rPr lang="pl-PL" sz="1400" dirty="0" err="1">
                <a:solidFill>
                  <a:srgbClr val="1A2E52"/>
                </a:solidFill>
              </a:rPr>
              <a:t>Temperature</a:t>
            </a:r>
            <a:br>
              <a:rPr lang="pl-PL" sz="1400" dirty="0">
                <a:solidFill>
                  <a:srgbClr val="1A2E52"/>
                </a:solidFill>
              </a:rPr>
            </a:br>
            <a:r>
              <a:rPr lang="pl-PL" sz="1400" dirty="0">
                <a:solidFill>
                  <a:srgbClr val="1A2E52"/>
                </a:solidFill>
              </a:rPr>
              <a:t> X  </a:t>
            </a:r>
            <a:r>
              <a:rPr lang="pl-PL" sz="1400" dirty="0" err="1">
                <a:solidFill>
                  <a:srgbClr val="1A2E52"/>
                </a:solidFill>
              </a:rPr>
              <a:t>Vibration</a:t>
            </a:r>
            <a:br>
              <a:rPr lang="pl-PL" sz="1400" dirty="0">
                <a:solidFill>
                  <a:srgbClr val="1A2E52"/>
                </a:solidFill>
              </a:rPr>
            </a:br>
            <a:r>
              <a:rPr lang="pl-PL" sz="1400" dirty="0">
                <a:solidFill>
                  <a:srgbClr val="1A2E52"/>
                </a:solidFill>
              </a:rPr>
              <a:t>☐ </a:t>
            </a:r>
            <a:r>
              <a:rPr lang="pl-PL" sz="1400" dirty="0" err="1">
                <a:solidFill>
                  <a:srgbClr val="1A2E52"/>
                </a:solidFill>
              </a:rPr>
              <a:t>Flow</a:t>
            </a:r>
            <a:br>
              <a:rPr lang="pl-PL" sz="1400" dirty="0">
                <a:solidFill>
                  <a:srgbClr val="1A2E52"/>
                </a:solidFill>
              </a:rPr>
            </a:br>
            <a:r>
              <a:rPr lang="pl-PL" sz="1400" dirty="0">
                <a:solidFill>
                  <a:srgbClr val="1A2E52"/>
                </a:solidFill>
              </a:rPr>
              <a:t>☐ </a:t>
            </a:r>
            <a:r>
              <a:rPr lang="pl-PL" sz="1400" dirty="0" err="1">
                <a:solidFill>
                  <a:srgbClr val="1A2E52"/>
                </a:solidFill>
              </a:rPr>
              <a:t>Voltage</a:t>
            </a:r>
            <a:br>
              <a:rPr lang="pl-PL" sz="1400" dirty="0">
                <a:solidFill>
                  <a:srgbClr val="1A2E52"/>
                </a:solidFill>
              </a:rPr>
            </a:br>
            <a:r>
              <a:rPr lang="pl-PL" sz="1400" dirty="0">
                <a:solidFill>
                  <a:srgbClr val="1A2E52"/>
                </a:solidFill>
              </a:rPr>
              <a:t>☐ </a:t>
            </a:r>
            <a:r>
              <a:rPr lang="pl-PL" sz="1400" dirty="0" err="1">
                <a:solidFill>
                  <a:srgbClr val="1A2E52"/>
                </a:solidFill>
              </a:rPr>
              <a:t>Current</a:t>
            </a:r>
            <a:br>
              <a:rPr lang="pl-PL" sz="1400" dirty="0">
                <a:solidFill>
                  <a:srgbClr val="1A2E52"/>
                </a:solidFill>
              </a:rPr>
            </a:br>
            <a:r>
              <a:rPr lang="pl-PL" sz="1400" dirty="0">
                <a:solidFill>
                  <a:srgbClr val="1A2E52"/>
                </a:solidFill>
              </a:rPr>
              <a:t>☐ </a:t>
            </a:r>
            <a:r>
              <a:rPr lang="pl-PL" sz="1400" dirty="0" err="1">
                <a:solidFill>
                  <a:srgbClr val="1A2E52"/>
                </a:solidFill>
              </a:rPr>
              <a:t>Pressure</a:t>
            </a:r>
            <a:br>
              <a:rPr lang="pl-PL" sz="1400" dirty="0">
                <a:solidFill>
                  <a:srgbClr val="1A2E52"/>
                </a:solidFill>
              </a:rPr>
            </a:br>
            <a:r>
              <a:rPr lang="pl-PL" sz="1400" dirty="0">
                <a:solidFill>
                  <a:srgbClr val="1A2E52"/>
                </a:solidFill>
              </a:rPr>
              <a:t>☐ </a:t>
            </a:r>
            <a:r>
              <a:rPr lang="pl-PL" sz="1400" dirty="0" err="1">
                <a:solidFill>
                  <a:srgbClr val="1A2E52"/>
                </a:solidFill>
              </a:rPr>
              <a:t>Other</a:t>
            </a:r>
            <a:r>
              <a:rPr lang="pl-PL" sz="1400" dirty="0">
                <a:solidFill>
                  <a:srgbClr val="1A2E52"/>
                </a:solidFill>
              </a:rPr>
              <a:t>: __________</a:t>
            </a:r>
          </a:p>
          <a:p>
            <a:endParaRPr lang="pl-PL" sz="2000" dirty="0">
              <a:solidFill>
                <a:srgbClr val="1A2E52"/>
              </a:solidFill>
            </a:endParaRPr>
          </a:p>
          <a:p>
            <a:r>
              <a:rPr lang="pl-PL" sz="2000" b="1" dirty="0" err="1">
                <a:solidFill>
                  <a:srgbClr val="1A2E52"/>
                </a:solidFill>
              </a:rPr>
              <a:t>Why</a:t>
            </a:r>
            <a:r>
              <a:rPr lang="pl-PL" sz="2000" b="1" dirty="0">
                <a:solidFill>
                  <a:srgbClr val="1A2E52"/>
                </a:solidFill>
              </a:rPr>
              <a:t> </a:t>
            </a:r>
            <a:r>
              <a:rPr lang="pl-PL" sz="2000" b="1" dirty="0" err="1">
                <a:solidFill>
                  <a:srgbClr val="1A2E52"/>
                </a:solidFill>
              </a:rPr>
              <a:t>are</a:t>
            </a:r>
            <a:r>
              <a:rPr lang="pl-PL" sz="2000" b="1" dirty="0">
                <a:solidFill>
                  <a:srgbClr val="1A2E52"/>
                </a:solidFill>
              </a:rPr>
              <a:t> </a:t>
            </a:r>
            <a:r>
              <a:rPr lang="pl-PL" sz="2000" b="1" dirty="0" err="1">
                <a:solidFill>
                  <a:srgbClr val="1A2E52"/>
                </a:solidFill>
              </a:rPr>
              <a:t>these</a:t>
            </a:r>
            <a:r>
              <a:rPr lang="pl-PL" sz="2000" b="1" dirty="0">
                <a:solidFill>
                  <a:srgbClr val="1A2E52"/>
                </a:solidFill>
              </a:rPr>
              <a:t> </a:t>
            </a:r>
            <a:r>
              <a:rPr lang="pl-PL" sz="2000" b="1" dirty="0" err="1">
                <a:solidFill>
                  <a:srgbClr val="1A2E52"/>
                </a:solidFill>
              </a:rPr>
              <a:t>measurements</a:t>
            </a:r>
            <a:r>
              <a:rPr lang="pl-PL" sz="2000" b="1" dirty="0">
                <a:solidFill>
                  <a:srgbClr val="1A2E52"/>
                </a:solidFill>
              </a:rPr>
              <a:t> </a:t>
            </a:r>
            <a:r>
              <a:rPr lang="pl-PL" sz="2000" b="1" dirty="0" err="1">
                <a:solidFill>
                  <a:srgbClr val="1A2E52"/>
                </a:solidFill>
              </a:rPr>
              <a:t>important</a:t>
            </a:r>
            <a:r>
              <a:rPr lang="pl-PL" sz="2000" b="1" dirty="0">
                <a:solidFill>
                  <a:srgbClr val="1A2E52"/>
                </a:solidFill>
              </a:rPr>
              <a:t>?</a:t>
            </a:r>
          </a:p>
          <a:p>
            <a:r>
              <a:rPr lang="en-GB" sz="2000" dirty="0"/>
              <a:t>Real-world components often differ from theoretical models due to material defects and mounting variations. Measuring actual acceleration allows us to accurately locate the exact resonance frequencies. </a:t>
            </a:r>
            <a:endParaRPr lang="pl-PL" sz="2000" dirty="0"/>
          </a:p>
          <a:p>
            <a:endParaRPr lang="pl-PL" sz="2000" dirty="0"/>
          </a:p>
          <a:p>
            <a:r>
              <a:rPr lang="pl-PL" sz="2000" b="1" dirty="0" err="1">
                <a:solidFill>
                  <a:srgbClr val="1A2E52"/>
                </a:solidFill>
              </a:rPr>
              <a:t>Expected</a:t>
            </a:r>
            <a:r>
              <a:rPr lang="pl-PL" sz="2000" b="1" dirty="0">
                <a:solidFill>
                  <a:srgbClr val="1A2E52"/>
                </a:solidFill>
              </a:rPr>
              <a:t> </a:t>
            </a:r>
            <a:r>
              <a:rPr lang="pl-PL" sz="2000" b="1" dirty="0" err="1">
                <a:solidFill>
                  <a:srgbClr val="1A2E52"/>
                </a:solidFill>
              </a:rPr>
              <a:t>measurement</a:t>
            </a:r>
            <a:r>
              <a:rPr lang="pl-PL" sz="2000" b="1" dirty="0">
                <a:solidFill>
                  <a:srgbClr val="1A2E52"/>
                </a:solidFill>
              </a:rPr>
              <a:t> </a:t>
            </a:r>
            <a:r>
              <a:rPr lang="pl-PL" sz="2000" b="1" dirty="0" err="1">
                <a:solidFill>
                  <a:srgbClr val="1A2E52"/>
                </a:solidFill>
              </a:rPr>
              <a:t>conditions</a:t>
            </a:r>
            <a:r>
              <a:rPr lang="pl-PL" sz="2000" b="1" dirty="0">
                <a:solidFill>
                  <a:srgbClr val="1A2E52"/>
                </a:solidFill>
              </a:rPr>
              <a:t>:</a:t>
            </a:r>
          </a:p>
          <a:p>
            <a:pPr marL="342900" indent="-342900">
              <a:buFont typeface="Arial" panose="020B0604020202020204" pitchFamily="34" charset="0"/>
              <a:buChar char="•"/>
            </a:pPr>
            <a:r>
              <a:rPr lang="pl-PL" sz="2000" dirty="0" err="1">
                <a:solidFill>
                  <a:srgbClr val="1A2E52"/>
                </a:solidFill>
              </a:rPr>
              <a:t>Measurement</a:t>
            </a:r>
            <a:r>
              <a:rPr lang="pl-PL" sz="2000" dirty="0">
                <a:solidFill>
                  <a:srgbClr val="1A2E52"/>
                </a:solidFill>
              </a:rPr>
              <a:t> </a:t>
            </a:r>
            <a:r>
              <a:rPr lang="pl-PL" sz="2000" dirty="0" err="1">
                <a:solidFill>
                  <a:srgbClr val="1A2E52"/>
                </a:solidFill>
              </a:rPr>
              <a:t>duration</a:t>
            </a:r>
            <a:r>
              <a:rPr lang="pl-PL" sz="2000" dirty="0">
                <a:solidFill>
                  <a:srgbClr val="1A2E52"/>
                </a:solidFill>
              </a:rPr>
              <a:t>: 0.5-1 s per </a:t>
            </a:r>
            <a:r>
              <a:rPr lang="pl-PL" sz="2000" dirty="0" err="1">
                <a:solidFill>
                  <a:srgbClr val="1A2E52"/>
                </a:solidFill>
              </a:rPr>
              <a:t>impact</a:t>
            </a:r>
            <a:r>
              <a:rPr lang="pl-PL" sz="2000" dirty="0">
                <a:solidFill>
                  <a:srgbClr val="1A2E52"/>
                </a:solidFill>
              </a:rPr>
              <a:t> test</a:t>
            </a:r>
            <a:endParaRPr lang="pl-PL" sz="2000" dirty="0">
              <a:solidFill>
                <a:srgbClr val="C00000"/>
              </a:solidFill>
            </a:endParaRPr>
          </a:p>
          <a:p>
            <a:pPr marL="342900" indent="-342900">
              <a:buFont typeface="Arial" panose="020B0604020202020204" pitchFamily="34" charset="0"/>
              <a:buChar char="•"/>
            </a:pPr>
            <a:r>
              <a:rPr lang="pl-PL" sz="2000" dirty="0" err="1">
                <a:solidFill>
                  <a:srgbClr val="1A2E52"/>
                </a:solidFill>
              </a:rPr>
              <a:t>Sampling</a:t>
            </a:r>
            <a:r>
              <a:rPr lang="pl-PL" sz="2000" dirty="0">
                <a:solidFill>
                  <a:srgbClr val="1A2E52"/>
                </a:solidFill>
              </a:rPr>
              <a:t> </a:t>
            </a:r>
            <a:r>
              <a:rPr lang="pl-PL" sz="2000" dirty="0" err="1">
                <a:solidFill>
                  <a:srgbClr val="1A2E52"/>
                </a:solidFill>
              </a:rPr>
              <a:t>rate</a:t>
            </a:r>
            <a:r>
              <a:rPr lang="pl-PL" sz="2000" dirty="0">
                <a:solidFill>
                  <a:srgbClr val="1A2E52"/>
                </a:solidFill>
              </a:rPr>
              <a:t>: 5kS/s</a:t>
            </a:r>
            <a:endParaRPr lang="pl-PL" sz="2000" dirty="0">
              <a:solidFill>
                <a:srgbClr val="C00000"/>
              </a:solidFill>
            </a:endParaRPr>
          </a:p>
          <a:p>
            <a:pPr marL="342900" indent="-342900">
              <a:buFont typeface="Arial" panose="020B0604020202020204" pitchFamily="34" charset="0"/>
              <a:buChar char="•"/>
            </a:pPr>
            <a:r>
              <a:rPr lang="pl-PL" sz="2000" dirty="0" err="1">
                <a:solidFill>
                  <a:srgbClr val="1A2E52"/>
                </a:solidFill>
              </a:rPr>
              <a:t>Number</a:t>
            </a:r>
            <a:r>
              <a:rPr lang="pl-PL" sz="2000" dirty="0">
                <a:solidFill>
                  <a:srgbClr val="1A2E52"/>
                </a:solidFill>
              </a:rPr>
              <a:t> of </a:t>
            </a:r>
            <a:r>
              <a:rPr lang="pl-PL" sz="2000" dirty="0" err="1">
                <a:solidFill>
                  <a:srgbClr val="1A2E52"/>
                </a:solidFill>
              </a:rPr>
              <a:t>channels</a:t>
            </a:r>
            <a:r>
              <a:rPr lang="pl-PL" sz="2000" dirty="0">
                <a:solidFill>
                  <a:srgbClr val="1A2E52"/>
                </a:solidFill>
              </a:rPr>
              <a:t>: 1-2</a:t>
            </a:r>
            <a:endParaRPr lang="pl-PL" sz="2000" dirty="0">
              <a:solidFill>
                <a:srgbClr val="C00000"/>
              </a:solidFill>
            </a:endParaRPr>
          </a:p>
          <a:p>
            <a:endParaRPr lang="pl-PL" sz="2000" dirty="0">
              <a:solidFill>
                <a:srgbClr val="1A2E52"/>
              </a:solidFill>
            </a:endParaRPr>
          </a:p>
        </p:txBody>
      </p:sp>
    </p:spTree>
    <p:extLst>
      <p:ext uri="{BB962C8B-B14F-4D97-AF65-F5344CB8AC3E}">
        <p14:creationId xmlns:p14="http://schemas.microsoft.com/office/powerpoint/2010/main" val="2499374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4196D-3FFA-C38E-868B-CE873A4B2B6E}"/>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7A476FC5-042D-6040-CFA3-00FC06FF57F8}"/>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02A43634-4B2F-E55C-8F8B-6DA6610A10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254C83A2-7A3E-4F0A-DC2C-AD4FEB9A3E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788097A7-6437-B326-563E-3C1F743970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BD072161-12D3-3DAB-DC56-E74AECF3277C}"/>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38D7FF7E-55FD-ADDD-7018-FD66B62AB5C9}"/>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6EAD23ED-D057-0BE7-59C4-7976D708A7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0C2C38E0-984C-4341-5D9A-220F6096AB10}"/>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0D4E05CF-39BB-F28F-2DB0-F6E5A1BA15D8}"/>
              </a:ext>
            </a:extLst>
          </p:cNvPr>
          <p:cNvSpPr txBox="1"/>
          <p:nvPr/>
        </p:nvSpPr>
        <p:spPr>
          <a:xfrm>
            <a:off x="577391" y="847567"/>
            <a:ext cx="8981387" cy="400110"/>
          </a:xfrm>
          <a:prstGeom prst="rect">
            <a:avLst/>
          </a:prstGeom>
          <a:noFill/>
        </p:spPr>
        <p:txBody>
          <a:bodyPr wrap="square">
            <a:spAutoFit/>
          </a:bodyPr>
          <a:lstStyle/>
          <a:p>
            <a:r>
              <a:rPr lang="en-US" sz="2000" b="1" dirty="0">
                <a:solidFill>
                  <a:srgbClr val="1A2E52"/>
                </a:solidFill>
                <a:latin typeface="Colber"/>
              </a:rPr>
              <a:t>Sensor Selection</a:t>
            </a:r>
            <a:r>
              <a:rPr lang="pl-PL" sz="2000" b="1" dirty="0">
                <a:solidFill>
                  <a:srgbClr val="1A2E52"/>
                </a:solidFill>
                <a:latin typeface="Colber"/>
              </a:rPr>
              <a:t> </a:t>
            </a:r>
            <a:r>
              <a:rPr lang="pl-PL" sz="2000" b="1" dirty="0">
                <a:solidFill>
                  <a:srgbClr val="00B0F0"/>
                </a:solidFill>
              </a:rPr>
              <a:t>Time for </a:t>
            </a:r>
            <a:r>
              <a:rPr lang="pl-PL" sz="2000" b="1" dirty="0" err="1">
                <a:solidFill>
                  <a:srgbClr val="00B0F0"/>
                </a:solidFill>
              </a:rPr>
              <a:t>students</a:t>
            </a:r>
            <a:r>
              <a:rPr lang="pl-PL" sz="2000" b="1" dirty="0">
                <a:solidFill>
                  <a:srgbClr val="00B0F0"/>
                </a:solidFill>
              </a:rPr>
              <a:t>: </a:t>
            </a:r>
            <a:r>
              <a:rPr lang="pl-PL" sz="2000" b="1" dirty="0" err="1">
                <a:solidFill>
                  <a:srgbClr val="00B0F0"/>
                </a:solidFill>
              </a:rPr>
              <a:t>included</a:t>
            </a:r>
            <a:r>
              <a:rPr lang="pl-PL" sz="2000" b="1" dirty="0">
                <a:solidFill>
                  <a:srgbClr val="00B0F0"/>
                </a:solidFill>
              </a:rPr>
              <a:t> in 60 min </a:t>
            </a:r>
            <a:r>
              <a:rPr lang="pl-PL" sz="2000" b="1" dirty="0" err="1">
                <a:solidFill>
                  <a:srgbClr val="00B0F0"/>
                </a:solidFill>
              </a:rPr>
              <a:t>block</a:t>
            </a:r>
            <a:endParaRPr lang="pl-PL" sz="2000" b="1" dirty="0">
              <a:solidFill>
                <a:srgbClr val="00B0F0"/>
              </a:solidFill>
              <a:latin typeface="Colber"/>
            </a:endParaRPr>
          </a:p>
        </p:txBody>
      </p:sp>
      <p:graphicFrame>
        <p:nvGraphicFramePr>
          <p:cNvPr id="13" name="Tabela 12">
            <a:extLst>
              <a:ext uri="{FF2B5EF4-FFF2-40B4-BE49-F238E27FC236}">
                <a16:creationId xmlns:a16="http://schemas.microsoft.com/office/drawing/2014/main" id="{E2885AB6-3600-DDB8-C93B-878D32B05076}"/>
              </a:ext>
            </a:extLst>
          </p:cNvPr>
          <p:cNvGraphicFramePr>
            <a:graphicFrameLocks noGrp="1"/>
          </p:cNvGraphicFramePr>
          <p:nvPr>
            <p:extLst>
              <p:ext uri="{D42A27DB-BD31-4B8C-83A1-F6EECF244321}">
                <p14:modId xmlns:p14="http://schemas.microsoft.com/office/powerpoint/2010/main" val="3950384063"/>
              </p:ext>
            </p:extLst>
          </p:nvPr>
        </p:nvGraphicFramePr>
        <p:xfrm>
          <a:off x="271458" y="2584318"/>
          <a:ext cx="11629511" cy="5303520"/>
        </p:xfrm>
        <a:graphic>
          <a:graphicData uri="http://schemas.openxmlformats.org/drawingml/2006/table">
            <a:tbl>
              <a:tblPr firstRow="1" bandCol="1">
                <a:tableStyleId>{B301B821-A1FF-4177-AEE7-76D212191A09}</a:tableStyleId>
              </a:tblPr>
              <a:tblGrid>
                <a:gridCol w="1580537">
                  <a:extLst>
                    <a:ext uri="{9D8B030D-6E8A-4147-A177-3AD203B41FA5}">
                      <a16:colId xmlns:a16="http://schemas.microsoft.com/office/drawing/2014/main" val="418723005"/>
                    </a:ext>
                  </a:extLst>
                </a:gridCol>
                <a:gridCol w="2799761">
                  <a:extLst>
                    <a:ext uri="{9D8B030D-6E8A-4147-A177-3AD203B41FA5}">
                      <a16:colId xmlns:a16="http://schemas.microsoft.com/office/drawing/2014/main" val="789089246"/>
                    </a:ext>
                  </a:extLst>
                </a:gridCol>
                <a:gridCol w="2535811">
                  <a:extLst>
                    <a:ext uri="{9D8B030D-6E8A-4147-A177-3AD203B41FA5}">
                      <a16:colId xmlns:a16="http://schemas.microsoft.com/office/drawing/2014/main" val="2261178936"/>
                    </a:ext>
                  </a:extLst>
                </a:gridCol>
                <a:gridCol w="1442301">
                  <a:extLst>
                    <a:ext uri="{9D8B030D-6E8A-4147-A177-3AD203B41FA5}">
                      <a16:colId xmlns:a16="http://schemas.microsoft.com/office/drawing/2014/main" val="1761894778"/>
                    </a:ext>
                  </a:extLst>
                </a:gridCol>
                <a:gridCol w="1216057">
                  <a:extLst>
                    <a:ext uri="{9D8B030D-6E8A-4147-A177-3AD203B41FA5}">
                      <a16:colId xmlns:a16="http://schemas.microsoft.com/office/drawing/2014/main" val="1776207905"/>
                    </a:ext>
                  </a:extLst>
                </a:gridCol>
                <a:gridCol w="2055044">
                  <a:extLst>
                    <a:ext uri="{9D8B030D-6E8A-4147-A177-3AD203B41FA5}">
                      <a16:colId xmlns:a16="http://schemas.microsoft.com/office/drawing/2014/main" val="1067291122"/>
                    </a:ext>
                  </a:extLst>
                </a:gridCol>
              </a:tblGrid>
              <a:tr h="0">
                <a:tc>
                  <a:txBody>
                    <a:bodyPr/>
                    <a:lstStyle/>
                    <a:p>
                      <a:pPr>
                        <a:buNone/>
                      </a:pPr>
                      <a:r>
                        <a:rPr lang="pl-PL" dirty="0"/>
                        <a:t>Sensor</a:t>
                      </a:r>
                    </a:p>
                  </a:txBody>
                  <a:tcPr anchor="ctr"/>
                </a:tc>
                <a:tc>
                  <a:txBody>
                    <a:bodyPr/>
                    <a:lstStyle/>
                    <a:p>
                      <a:pPr>
                        <a:buNone/>
                      </a:pPr>
                      <a:r>
                        <a:rPr lang="pl-PL"/>
                        <a:t>Purpose</a:t>
                      </a:r>
                    </a:p>
                  </a:txBody>
                  <a:tcPr anchor="ctr"/>
                </a:tc>
                <a:tc>
                  <a:txBody>
                    <a:bodyPr/>
                    <a:lstStyle/>
                    <a:p>
                      <a:pPr>
                        <a:buNone/>
                      </a:pPr>
                      <a:r>
                        <a:rPr lang="pl-PL"/>
                        <a:t>Why</a:t>
                      </a:r>
                      <a:r>
                        <a:rPr lang="pl-PL" dirty="0"/>
                        <a:t> </a:t>
                      </a:r>
                      <a:r>
                        <a:rPr lang="pl-PL"/>
                        <a:t>selected</a:t>
                      </a:r>
                      <a:r>
                        <a:rPr lang="pl-PL" dirty="0"/>
                        <a:t>?</a:t>
                      </a:r>
                    </a:p>
                  </a:txBody>
                  <a:tcPr anchor="ctr"/>
                </a:tc>
                <a:tc>
                  <a:txBody>
                    <a:bodyPr/>
                    <a:lstStyle/>
                    <a:p>
                      <a:pPr>
                        <a:buNone/>
                      </a:pPr>
                      <a:r>
                        <a:rPr lang="pl-PL"/>
                        <a:t>Expected</a:t>
                      </a:r>
                      <a:r>
                        <a:rPr lang="pl-PL" dirty="0"/>
                        <a:t> </a:t>
                      </a:r>
                      <a:r>
                        <a:rPr lang="pl-PL"/>
                        <a:t>range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a:t>Expected</a:t>
                      </a:r>
                      <a:r>
                        <a:rPr lang="pl-PL" dirty="0"/>
                        <a:t> </a:t>
                      </a:r>
                      <a:r>
                        <a:rPr lang="pl-PL"/>
                        <a:t>accuracy</a:t>
                      </a:r>
                    </a:p>
                  </a:txBody>
                  <a:tcPr anchor="ctr"/>
                </a:tc>
                <a:tc>
                  <a:txBody>
                    <a:bodyPr/>
                    <a:lstStyle/>
                    <a:p>
                      <a:pPr>
                        <a:buNone/>
                      </a:pPr>
                      <a:r>
                        <a:rPr lang="pl-PL"/>
                        <a:t>Potential</a:t>
                      </a:r>
                      <a:r>
                        <a:rPr lang="pl-PL" dirty="0"/>
                        <a:t> </a:t>
                      </a:r>
                      <a:r>
                        <a:rPr lang="pl-PL"/>
                        <a:t>dificulties</a:t>
                      </a:r>
                    </a:p>
                  </a:txBody>
                  <a:tcPr anchor="ctr"/>
                </a:tc>
                <a:extLst>
                  <a:ext uri="{0D108BD9-81ED-4DB2-BD59-A6C34878D82A}">
                    <a16:rowId xmlns:a16="http://schemas.microsoft.com/office/drawing/2014/main" val="2271464794"/>
                  </a:ext>
                </a:extLst>
              </a:tr>
              <a:tr h="0">
                <a:tc>
                  <a:txBody>
                    <a:bodyPr/>
                    <a:lstStyle/>
                    <a:p>
                      <a:pPr fontAlgn="base"/>
                      <a:r>
                        <a:rPr lang="pl-PL"/>
                        <a:t>PCB-601A02</a:t>
                      </a:r>
                      <a:endParaRPr lang="en-GB" sz="1800" b="0" i="0" kern="1200">
                        <a:solidFill>
                          <a:schemeClr val="dk1"/>
                        </a:solidFill>
                        <a:effectLst/>
                        <a:latin typeface="+mn-lt"/>
                        <a:ea typeface="+mn-ea"/>
                        <a:cs typeface="+mn-cs"/>
                      </a:endParaRPr>
                    </a:p>
                    <a:p>
                      <a:pPr>
                        <a:buNone/>
                      </a:pPr>
                      <a:r>
                        <a:rPr lang="en-GB"/>
                        <a:t>ICP </a:t>
                      </a:r>
                      <a:r>
                        <a:rPr lang="en-GB" dirty="0"/>
                        <a:t>Accelerometer</a:t>
                      </a:r>
                      <a:endParaRPr lang="pl-PL" dirty="0"/>
                    </a:p>
                  </a:txBody>
                  <a:tcPr anchor="ctr"/>
                </a:tc>
                <a:tc>
                  <a:txBody>
                    <a:bodyPr/>
                    <a:lstStyle/>
                    <a:p>
                      <a:pPr>
                        <a:buNone/>
                      </a:pPr>
                      <a:r>
                        <a:rPr lang="en-GB" dirty="0"/>
                        <a:t>measure the dynamic acceleration response of the beam over time after an impact excitation.</a:t>
                      </a:r>
                      <a:endParaRPr lang="pl-PL" dirty="0"/>
                    </a:p>
                  </a:txBody>
                  <a:tcPr anchor="ctr"/>
                </a:tc>
                <a:tc>
                  <a:txBody>
                    <a:bodyPr/>
                    <a:lstStyle/>
                    <a:p>
                      <a:pPr>
                        <a:buNone/>
                      </a:pPr>
                      <a:r>
                        <a:rPr lang="en-GB" dirty="0"/>
                        <a:t>It features a high frequency response, integrated electronics, low noise, compatible with our NI-9232/NI-9234 DAQ hardware.</a:t>
                      </a:r>
                      <a:endParaRPr lang="pl-PL" dirty="0"/>
                    </a:p>
                  </a:txBody>
                  <a:tcPr anchor="ctr"/>
                </a:tc>
                <a:tc>
                  <a:txBody>
                    <a:bodyPr/>
                    <a:lstStyle/>
                    <a:p>
                      <a:pPr>
                        <a:buNone/>
                      </a:pPr>
                      <a:r>
                        <a:rPr lang="pl-PL" sz="1800" kern="1200" dirty="0">
                          <a:solidFill>
                            <a:schemeClr val="dk1"/>
                          </a:solidFill>
                          <a:effectLst/>
                          <a:latin typeface="+mn-lt"/>
                          <a:ea typeface="+mn-ea"/>
                          <a:cs typeface="+mn-cs"/>
                        </a:rPr>
                        <a:t>+-</a:t>
                      </a:r>
                      <a:r>
                        <a:rPr lang="en-GB" sz="1800" kern="1200" dirty="0">
                          <a:solidFill>
                            <a:schemeClr val="dk1"/>
                          </a:solidFill>
                          <a:effectLst/>
                          <a:latin typeface="+mn-lt"/>
                          <a:ea typeface="+mn-ea"/>
                          <a:cs typeface="+mn-cs"/>
                        </a:rPr>
                        <a:t>50g</a:t>
                      </a:r>
                      <a:endParaRPr lang="pl-PL" sz="1800" kern="1200" dirty="0">
                        <a:solidFill>
                          <a:schemeClr val="dk1"/>
                        </a:solidFill>
                        <a:effectLst/>
                        <a:latin typeface="+mn-lt"/>
                        <a:ea typeface="+mn-ea"/>
                        <a:cs typeface="+mn-cs"/>
                      </a:endParaRPr>
                    </a:p>
                    <a:p>
                      <a:pPr>
                        <a:buNone/>
                      </a:pPr>
                      <a:r>
                        <a:rPr lang="pl-PL" sz="1800" kern="1200" dirty="0">
                          <a:solidFill>
                            <a:schemeClr val="dk1"/>
                          </a:solidFill>
                          <a:effectLst/>
                          <a:latin typeface="+mn-lt"/>
                          <a:ea typeface="+mn-ea"/>
                          <a:cs typeface="+mn-cs"/>
                        </a:rPr>
                        <a:t>0.5-</a:t>
                      </a:r>
                      <a:r>
                        <a:rPr lang="en-GB" sz="1800" b="0" i="0" kern="1200" dirty="0">
                          <a:solidFill>
                            <a:schemeClr val="dk1"/>
                          </a:solidFill>
                          <a:effectLst/>
                          <a:latin typeface="+mn-lt"/>
                          <a:ea typeface="+mn-ea"/>
                          <a:cs typeface="+mn-cs"/>
                        </a:rPr>
                        <a:t>10000 Hz</a:t>
                      </a:r>
                      <a:endParaRPr lang="pl-PL" b="1" dirty="0"/>
                    </a:p>
                  </a:txBody>
                  <a:tcPr anchor="ctr"/>
                </a:tc>
                <a:tc>
                  <a:txBody>
                    <a:bodyPr/>
                    <a:lstStyle/>
                    <a:p>
                      <a:pPr>
                        <a:buNone/>
                      </a:pPr>
                      <a:r>
                        <a:rPr lang="en-GB" dirty="0"/>
                        <a:t>Sensitivity accuracy: ±10% </a:t>
                      </a:r>
                      <a:endParaRPr lang="pl-PL" dirty="0"/>
                    </a:p>
                    <a:p>
                      <a:pPr>
                        <a:buNone/>
                      </a:pPr>
                      <a:r>
                        <a:rPr lang="en-GB" dirty="0"/>
                        <a:t>Non-linearity error: </a:t>
                      </a:r>
                      <a:endParaRPr lang="pl-PL" dirty="0"/>
                    </a:p>
                    <a:p>
                      <a:pPr>
                        <a:buNone/>
                      </a:pPr>
                      <a:r>
                        <a:rPr lang="en-GB" dirty="0"/>
                        <a:t>≤1% Transverse sensitivity: ≤ 5%</a:t>
                      </a:r>
                      <a:endParaRPr lang="pl-PL" dirty="0"/>
                    </a:p>
                  </a:txBody>
                  <a:tcPr anchor="ctr"/>
                </a:tc>
                <a:tc>
                  <a:txBody>
                    <a:bodyPr/>
                    <a:lstStyle/>
                    <a:p>
                      <a:pPr>
                        <a:buNone/>
                      </a:pPr>
                      <a:r>
                        <a:rPr lang="pl-PL"/>
                        <a:t>Mounting</a:t>
                      </a:r>
                      <a:r>
                        <a:rPr lang="pl-PL" dirty="0"/>
                        <a:t> of the sensor to the chassis </a:t>
                      </a:r>
                      <a:r>
                        <a:rPr lang="pl-PL"/>
                        <a:t>made</a:t>
                      </a:r>
                      <a:r>
                        <a:rPr lang="pl-PL" dirty="0"/>
                        <a:t> of </a:t>
                      </a:r>
                      <a:r>
                        <a:rPr lang="pl-PL"/>
                        <a:t>aluminum</a:t>
                      </a:r>
                    </a:p>
                  </a:txBody>
                  <a:tcPr anchor="ctr"/>
                </a:tc>
                <a:extLst>
                  <a:ext uri="{0D108BD9-81ED-4DB2-BD59-A6C34878D82A}">
                    <a16:rowId xmlns:a16="http://schemas.microsoft.com/office/drawing/2014/main" val="326115372"/>
                  </a:ext>
                </a:extLst>
              </a:tr>
              <a:tr h="0">
                <a:tc>
                  <a:txBody>
                    <a:bodyPr/>
                    <a:lstStyle/>
                    <a:p>
                      <a:pPr>
                        <a:buNone/>
                      </a:pPr>
                      <a:endParaRPr lang="pl-PL" dirty="0"/>
                    </a:p>
                  </a:txBody>
                  <a:tcPr anchor="ctr"/>
                </a:tc>
                <a:tc>
                  <a:txBody>
                    <a:bodyPr/>
                    <a:lstStyle/>
                    <a:p>
                      <a:pPr>
                        <a:buNone/>
                      </a:pPr>
                      <a:endParaRPr lang="pl-PL" dirty="0"/>
                    </a:p>
                  </a:txBody>
                  <a:tcPr anchor="ctr"/>
                </a:tc>
                <a:tc>
                  <a:txBody>
                    <a:bodyPr/>
                    <a:lstStyle/>
                    <a:p>
                      <a:pPr>
                        <a:buNone/>
                      </a:pPr>
                      <a:endParaRPr lang="pl-PL"/>
                    </a:p>
                  </a:txBody>
                  <a:tcPr anchor="ctr"/>
                </a:tc>
                <a:tc>
                  <a:txBody>
                    <a:bodyPr/>
                    <a:lstStyle/>
                    <a:p>
                      <a:pPr>
                        <a:buNone/>
                      </a:pPr>
                      <a:endParaRPr lang="pl-PL"/>
                    </a:p>
                  </a:txBody>
                  <a:tcPr anchor="ctr"/>
                </a:tc>
                <a:tc>
                  <a:txBody>
                    <a:bodyPr/>
                    <a:lstStyle/>
                    <a:p>
                      <a:pPr>
                        <a:buNone/>
                      </a:pPr>
                      <a:endParaRPr lang="pl-PL"/>
                    </a:p>
                  </a:txBody>
                  <a:tcPr anchor="ctr"/>
                </a:tc>
                <a:tc>
                  <a:txBody>
                    <a:bodyPr/>
                    <a:lstStyle/>
                    <a:p>
                      <a:pPr>
                        <a:buNone/>
                      </a:pPr>
                      <a:endParaRPr lang="pl-PL"/>
                    </a:p>
                  </a:txBody>
                  <a:tcPr anchor="ctr"/>
                </a:tc>
                <a:extLst>
                  <a:ext uri="{0D108BD9-81ED-4DB2-BD59-A6C34878D82A}">
                    <a16:rowId xmlns:a16="http://schemas.microsoft.com/office/drawing/2014/main" val="1442910012"/>
                  </a:ext>
                </a:extLst>
              </a:tr>
              <a:tr h="0">
                <a:tc>
                  <a:txBody>
                    <a:bodyPr/>
                    <a:lstStyle/>
                    <a:p>
                      <a:pPr>
                        <a:buNone/>
                      </a:pPr>
                      <a:endParaRPr lang="pl-PL" dirty="0"/>
                    </a:p>
                  </a:txBody>
                  <a:tcPr anchor="ctr"/>
                </a:tc>
                <a:tc>
                  <a:txBody>
                    <a:bodyPr/>
                    <a:lstStyle/>
                    <a:p>
                      <a:pPr>
                        <a:buNone/>
                      </a:pPr>
                      <a:endParaRPr lang="pl-PL" dirty="0"/>
                    </a:p>
                  </a:txBody>
                  <a:tcPr anchor="ctr"/>
                </a:tc>
                <a:tc>
                  <a:txBody>
                    <a:bodyPr/>
                    <a:lstStyle/>
                    <a:p>
                      <a:pPr>
                        <a:buNone/>
                      </a:pPr>
                      <a:endParaRPr lang="pl-PL" dirty="0"/>
                    </a:p>
                  </a:txBody>
                  <a:tcPr anchor="ctr"/>
                </a:tc>
                <a:tc>
                  <a:txBody>
                    <a:bodyPr/>
                    <a:lstStyle/>
                    <a:p>
                      <a:pPr>
                        <a:buNone/>
                      </a:pPr>
                      <a:endParaRPr lang="pl-PL" dirty="0"/>
                    </a:p>
                  </a:txBody>
                  <a:tcPr anchor="ctr"/>
                </a:tc>
                <a:tc>
                  <a:txBody>
                    <a:bodyPr/>
                    <a:lstStyle/>
                    <a:p>
                      <a:pPr>
                        <a:buNone/>
                      </a:pPr>
                      <a:endParaRPr lang="pl-PL" dirty="0"/>
                    </a:p>
                  </a:txBody>
                  <a:tcPr anchor="ctr"/>
                </a:tc>
                <a:tc>
                  <a:txBody>
                    <a:bodyPr/>
                    <a:lstStyle/>
                    <a:p>
                      <a:pPr>
                        <a:buNone/>
                      </a:pPr>
                      <a:endParaRPr lang="pl-PL" dirty="0"/>
                    </a:p>
                  </a:txBody>
                  <a:tcPr anchor="ctr"/>
                </a:tc>
                <a:extLst>
                  <a:ext uri="{0D108BD9-81ED-4DB2-BD59-A6C34878D82A}">
                    <a16:rowId xmlns:a16="http://schemas.microsoft.com/office/drawing/2014/main" val="2695309722"/>
                  </a:ext>
                </a:extLst>
              </a:tr>
              <a:tr h="0">
                <a:tc>
                  <a:txBody>
                    <a:bodyPr/>
                    <a:lstStyle/>
                    <a:p>
                      <a:pPr>
                        <a:buNone/>
                      </a:pPr>
                      <a:endParaRPr lang="pl-PL"/>
                    </a:p>
                  </a:txBody>
                  <a:tcPr anchor="ctr"/>
                </a:tc>
                <a:tc>
                  <a:txBody>
                    <a:bodyPr/>
                    <a:lstStyle/>
                    <a:p>
                      <a:pPr>
                        <a:buNone/>
                      </a:pPr>
                      <a:endParaRPr lang="pl-PL"/>
                    </a:p>
                  </a:txBody>
                  <a:tcPr anchor="ctr"/>
                </a:tc>
                <a:tc>
                  <a:txBody>
                    <a:bodyPr/>
                    <a:lstStyle/>
                    <a:p>
                      <a:pPr>
                        <a:buNone/>
                      </a:pPr>
                      <a:endParaRPr lang="pl-PL" dirty="0"/>
                    </a:p>
                  </a:txBody>
                  <a:tcPr anchor="ctr"/>
                </a:tc>
                <a:tc>
                  <a:txBody>
                    <a:bodyPr/>
                    <a:lstStyle/>
                    <a:p>
                      <a:pPr>
                        <a:buNone/>
                      </a:pPr>
                      <a:endParaRPr lang="pl-PL" dirty="0"/>
                    </a:p>
                  </a:txBody>
                  <a:tcPr anchor="ctr"/>
                </a:tc>
                <a:tc>
                  <a:txBody>
                    <a:bodyPr/>
                    <a:lstStyle/>
                    <a:p>
                      <a:pPr>
                        <a:buNone/>
                      </a:pPr>
                      <a:endParaRPr lang="pl-PL" dirty="0"/>
                    </a:p>
                  </a:txBody>
                  <a:tcPr anchor="ctr"/>
                </a:tc>
                <a:tc>
                  <a:txBody>
                    <a:bodyPr/>
                    <a:lstStyle/>
                    <a:p>
                      <a:pPr>
                        <a:buNone/>
                      </a:pPr>
                      <a:endParaRPr lang="pl-PL" dirty="0"/>
                    </a:p>
                  </a:txBody>
                  <a:tcPr anchor="ctr"/>
                </a:tc>
                <a:extLst>
                  <a:ext uri="{0D108BD9-81ED-4DB2-BD59-A6C34878D82A}">
                    <a16:rowId xmlns:a16="http://schemas.microsoft.com/office/drawing/2014/main" val="3887355935"/>
                  </a:ext>
                </a:extLst>
              </a:tr>
              <a:tr h="0">
                <a:tc>
                  <a:txBody>
                    <a:bodyPr/>
                    <a:lstStyle/>
                    <a:p>
                      <a:pPr>
                        <a:buNone/>
                      </a:pPr>
                      <a:endParaRPr lang="pl-PL"/>
                    </a:p>
                  </a:txBody>
                  <a:tcPr anchor="ctr"/>
                </a:tc>
                <a:tc>
                  <a:txBody>
                    <a:bodyPr/>
                    <a:lstStyle/>
                    <a:p>
                      <a:pPr>
                        <a:buNone/>
                      </a:pPr>
                      <a:endParaRPr lang="pl-PL"/>
                    </a:p>
                  </a:txBody>
                  <a:tcPr anchor="ctr"/>
                </a:tc>
                <a:tc>
                  <a:txBody>
                    <a:bodyPr/>
                    <a:lstStyle/>
                    <a:p>
                      <a:pPr>
                        <a:buNone/>
                      </a:pPr>
                      <a:endParaRPr lang="pl-PL" dirty="0"/>
                    </a:p>
                  </a:txBody>
                  <a:tcPr anchor="ctr"/>
                </a:tc>
                <a:tc>
                  <a:txBody>
                    <a:bodyPr/>
                    <a:lstStyle/>
                    <a:p>
                      <a:pPr>
                        <a:buNone/>
                      </a:pPr>
                      <a:endParaRPr lang="pl-PL" dirty="0"/>
                    </a:p>
                  </a:txBody>
                  <a:tcPr anchor="ctr"/>
                </a:tc>
                <a:tc>
                  <a:txBody>
                    <a:bodyPr/>
                    <a:lstStyle/>
                    <a:p>
                      <a:pPr>
                        <a:buNone/>
                      </a:pPr>
                      <a:endParaRPr lang="pl-PL" dirty="0"/>
                    </a:p>
                  </a:txBody>
                  <a:tcPr anchor="ctr"/>
                </a:tc>
                <a:tc>
                  <a:txBody>
                    <a:bodyPr/>
                    <a:lstStyle/>
                    <a:p>
                      <a:pPr>
                        <a:buNone/>
                      </a:pPr>
                      <a:endParaRPr lang="pl-PL" dirty="0"/>
                    </a:p>
                  </a:txBody>
                  <a:tcPr anchor="ctr"/>
                </a:tc>
                <a:extLst>
                  <a:ext uri="{0D108BD9-81ED-4DB2-BD59-A6C34878D82A}">
                    <a16:rowId xmlns:a16="http://schemas.microsoft.com/office/drawing/2014/main" val="2991565544"/>
                  </a:ext>
                </a:extLst>
              </a:tr>
              <a:tr h="0">
                <a:tc>
                  <a:txBody>
                    <a:bodyPr/>
                    <a:lstStyle/>
                    <a:p>
                      <a:pPr>
                        <a:buNone/>
                      </a:pPr>
                      <a:endParaRPr lang="pl-PL"/>
                    </a:p>
                  </a:txBody>
                  <a:tcPr anchor="ctr"/>
                </a:tc>
                <a:tc>
                  <a:txBody>
                    <a:bodyPr/>
                    <a:lstStyle/>
                    <a:p>
                      <a:pPr>
                        <a:buNone/>
                      </a:pPr>
                      <a:endParaRPr lang="pl-PL"/>
                    </a:p>
                  </a:txBody>
                  <a:tcPr anchor="ctr"/>
                </a:tc>
                <a:tc>
                  <a:txBody>
                    <a:bodyPr/>
                    <a:lstStyle/>
                    <a:p>
                      <a:pPr>
                        <a:buNone/>
                      </a:pPr>
                      <a:endParaRPr lang="pl-PL" dirty="0"/>
                    </a:p>
                  </a:txBody>
                  <a:tcPr anchor="ctr"/>
                </a:tc>
                <a:tc>
                  <a:txBody>
                    <a:bodyPr/>
                    <a:lstStyle/>
                    <a:p>
                      <a:pPr>
                        <a:buNone/>
                      </a:pPr>
                      <a:endParaRPr lang="pl-PL" dirty="0"/>
                    </a:p>
                  </a:txBody>
                  <a:tcPr anchor="ctr"/>
                </a:tc>
                <a:tc>
                  <a:txBody>
                    <a:bodyPr/>
                    <a:lstStyle/>
                    <a:p>
                      <a:pPr>
                        <a:buNone/>
                      </a:pPr>
                      <a:endParaRPr lang="pl-PL" dirty="0"/>
                    </a:p>
                  </a:txBody>
                  <a:tcPr anchor="ctr"/>
                </a:tc>
                <a:tc>
                  <a:txBody>
                    <a:bodyPr/>
                    <a:lstStyle/>
                    <a:p>
                      <a:pPr>
                        <a:buNone/>
                      </a:pPr>
                      <a:endParaRPr lang="pl-PL" dirty="0"/>
                    </a:p>
                  </a:txBody>
                  <a:tcPr anchor="ctr"/>
                </a:tc>
                <a:extLst>
                  <a:ext uri="{0D108BD9-81ED-4DB2-BD59-A6C34878D82A}">
                    <a16:rowId xmlns:a16="http://schemas.microsoft.com/office/drawing/2014/main" val="3070718158"/>
                  </a:ext>
                </a:extLst>
              </a:tr>
            </a:tbl>
          </a:graphicData>
        </a:graphic>
      </p:graphicFrame>
    </p:spTree>
    <p:extLst>
      <p:ext uri="{BB962C8B-B14F-4D97-AF65-F5344CB8AC3E}">
        <p14:creationId xmlns:p14="http://schemas.microsoft.com/office/powerpoint/2010/main" val="365812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76A8F-D188-DCED-F2E9-6D0FE9A5973B}"/>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11A8F18D-B898-680A-A780-C187A95A67C9}"/>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4E029BA8-5A99-5302-A870-941A408F62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D9444107-7B79-A3E7-4E93-3BC3D69450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22CE9A8A-F344-8FE0-CCB8-5585E8A4F0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03541C0C-AB55-EDE3-63B0-01E58BB7CF90}"/>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AF9E3483-B263-3BF8-F0CA-A0AC7BB60112}"/>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8DECA96F-0DE3-CE36-F76D-DFD31151D5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A0C4BC54-70D8-2B1D-0501-373921E52D61}"/>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CE2B0D33-09F1-4DBD-9884-17627472C090}"/>
              </a:ext>
            </a:extLst>
          </p:cNvPr>
          <p:cNvSpPr txBox="1"/>
          <p:nvPr/>
        </p:nvSpPr>
        <p:spPr>
          <a:xfrm>
            <a:off x="577391" y="847567"/>
            <a:ext cx="8830559" cy="400110"/>
          </a:xfrm>
          <a:prstGeom prst="rect">
            <a:avLst/>
          </a:prstGeom>
          <a:noFill/>
        </p:spPr>
        <p:txBody>
          <a:bodyPr wrap="square">
            <a:spAutoFit/>
          </a:bodyPr>
          <a:lstStyle/>
          <a:p>
            <a:r>
              <a:rPr lang="en-US" sz="2000" b="1" dirty="0">
                <a:solidFill>
                  <a:srgbClr val="1A2E52"/>
                </a:solidFill>
                <a:latin typeface="Colber"/>
              </a:rPr>
              <a:t>DAQ and LabVIEW Concept</a:t>
            </a:r>
            <a:r>
              <a:rPr lang="pl-PL" sz="2000" b="1" dirty="0">
                <a:solidFill>
                  <a:srgbClr val="1A2E52"/>
                </a:solidFill>
                <a:latin typeface="Colber"/>
              </a:rPr>
              <a:t> </a:t>
            </a:r>
            <a:r>
              <a:rPr lang="pl-PL" sz="2000" b="1" dirty="0">
                <a:solidFill>
                  <a:srgbClr val="00B0F0"/>
                </a:solidFill>
              </a:rPr>
              <a:t>Time for </a:t>
            </a:r>
            <a:r>
              <a:rPr lang="pl-PL" sz="2000" b="1" dirty="0" err="1">
                <a:solidFill>
                  <a:srgbClr val="00B0F0"/>
                </a:solidFill>
              </a:rPr>
              <a:t>students</a:t>
            </a:r>
            <a:r>
              <a:rPr lang="pl-PL" sz="2000" b="1" dirty="0">
                <a:solidFill>
                  <a:srgbClr val="00B0F0"/>
                </a:solidFill>
              </a:rPr>
              <a:t>: </a:t>
            </a:r>
            <a:r>
              <a:rPr lang="pl-PL" sz="2000" b="1" dirty="0" err="1">
                <a:solidFill>
                  <a:srgbClr val="00B0F0"/>
                </a:solidFill>
              </a:rPr>
              <a:t>included</a:t>
            </a:r>
            <a:r>
              <a:rPr lang="pl-PL" sz="2000" b="1" dirty="0">
                <a:solidFill>
                  <a:srgbClr val="00B0F0"/>
                </a:solidFill>
              </a:rPr>
              <a:t> in 60 min </a:t>
            </a:r>
            <a:r>
              <a:rPr lang="pl-PL" sz="2000" b="1" dirty="0" err="1">
                <a:solidFill>
                  <a:srgbClr val="00B0F0"/>
                </a:solidFill>
              </a:rPr>
              <a:t>block</a:t>
            </a:r>
            <a:endParaRPr lang="pl-PL" sz="2000" b="1" dirty="0">
              <a:solidFill>
                <a:srgbClr val="1A2E52"/>
              </a:solidFill>
              <a:latin typeface="Colber"/>
            </a:endParaRPr>
          </a:p>
        </p:txBody>
      </p:sp>
      <p:sp>
        <p:nvSpPr>
          <p:cNvPr id="7" name="pole tekstowe 6">
            <a:extLst>
              <a:ext uri="{FF2B5EF4-FFF2-40B4-BE49-F238E27FC236}">
                <a16:creationId xmlns:a16="http://schemas.microsoft.com/office/drawing/2014/main" id="{32FFC5CB-553E-A4F6-58F1-0D86E1A99B75}"/>
              </a:ext>
            </a:extLst>
          </p:cNvPr>
          <p:cNvSpPr txBox="1"/>
          <p:nvPr/>
        </p:nvSpPr>
        <p:spPr>
          <a:xfrm>
            <a:off x="813848" y="1213345"/>
            <a:ext cx="10800760" cy="5539978"/>
          </a:xfrm>
          <a:prstGeom prst="rect">
            <a:avLst/>
          </a:prstGeom>
          <a:noFill/>
        </p:spPr>
        <p:txBody>
          <a:bodyPr wrap="square" lIns="91440" tIns="45720" rIns="91440" bIns="45720" anchor="t">
            <a:spAutoFit/>
          </a:bodyPr>
          <a:lstStyle/>
          <a:p>
            <a:r>
              <a:rPr lang="pl-PL" sz="2000" b="1">
                <a:solidFill>
                  <a:srgbClr val="1A2E52"/>
                </a:solidFill>
              </a:rPr>
              <a:t>Proposed</a:t>
            </a:r>
            <a:r>
              <a:rPr lang="pl-PL" sz="2000" b="1" dirty="0">
                <a:solidFill>
                  <a:srgbClr val="1A2E52"/>
                </a:solidFill>
              </a:rPr>
              <a:t> DAQ </a:t>
            </a:r>
            <a:r>
              <a:rPr lang="pl-PL" sz="2000" b="1">
                <a:solidFill>
                  <a:srgbClr val="1A2E52"/>
                </a:solidFill>
              </a:rPr>
              <a:t>configuration</a:t>
            </a:r>
            <a:r>
              <a:rPr lang="pl-PL" sz="2000" b="1" dirty="0">
                <a:solidFill>
                  <a:srgbClr val="1A2E52"/>
                </a:solidFill>
              </a:rPr>
              <a:t>:</a:t>
            </a:r>
          </a:p>
          <a:p>
            <a:r>
              <a:rPr lang="en-GB" sz="1500" dirty="0"/>
              <a:t>We will use the NI-9232</a:t>
            </a:r>
            <a:r>
              <a:rPr lang="pl-PL" sz="1500" dirty="0"/>
              <a:t> </a:t>
            </a:r>
            <a:r>
              <a:rPr lang="en-GB" sz="1500" dirty="0"/>
              <a:t>IEPE dynamic signal acquisition module inserted into an NI-9171</a:t>
            </a:r>
            <a:r>
              <a:rPr lang="en-GB" sz="1500"/>
              <a:t> single-slot USB chassis. The PCB Model 601A02 accelerometer will connect via a coaxial cable directly to Channel 0. In</a:t>
            </a:r>
            <a:r>
              <a:rPr lang="pl-PL" sz="1500" dirty="0"/>
              <a:t> the</a:t>
            </a:r>
            <a:r>
              <a:rPr lang="en-GB" sz="1500" dirty="0"/>
              <a:t> </a:t>
            </a:r>
            <a:r>
              <a:rPr lang="pl-PL" sz="1500" dirty="0"/>
              <a:t>C# backend</a:t>
            </a:r>
            <a:r>
              <a:rPr lang="en-GB" sz="1500" dirty="0"/>
              <a:t>, DAQmx tasks will be configured for continuous Analog Input, specifying an IEPE excitation current (typically 2 </a:t>
            </a:r>
            <a:r>
              <a:rPr lang="pl-PL" sz="1500" dirty="0"/>
              <a:t>- 20</a:t>
            </a:r>
            <a:r>
              <a:rPr lang="en-GB" sz="1500" dirty="0"/>
              <a:t> mA) to power the sensor's internal amplifier, with a sample rate of 5000 Hz.</a:t>
            </a:r>
            <a:endParaRPr lang="pl-PL" sz="1500" dirty="0"/>
          </a:p>
          <a:p>
            <a:endParaRPr lang="pl-PL" sz="2000" dirty="0">
              <a:solidFill>
                <a:srgbClr val="1A2E52"/>
              </a:solidFill>
            </a:endParaRPr>
          </a:p>
          <a:p>
            <a:r>
              <a:rPr lang="pl-PL" sz="2000" b="1">
                <a:solidFill>
                  <a:srgbClr val="1A2E52"/>
                </a:solidFill>
              </a:rPr>
              <a:t>Planned</a:t>
            </a:r>
            <a:r>
              <a:rPr lang="pl-PL" sz="2000" b="1" dirty="0">
                <a:solidFill>
                  <a:srgbClr val="1A2E52"/>
                </a:solidFill>
              </a:rPr>
              <a:t> software </a:t>
            </a:r>
            <a:r>
              <a:rPr lang="pl-PL" sz="2000" b="1">
                <a:solidFill>
                  <a:srgbClr val="1A2E52"/>
                </a:solidFill>
              </a:rPr>
              <a:t>functions</a:t>
            </a:r>
            <a:r>
              <a:rPr lang="pl-PL" sz="2000" b="1" dirty="0">
                <a:solidFill>
                  <a:srgbClr val="1A2E52"/>
                </a:solidFill>
              </a:rPr>
              <a:t>:</a:t>
            </a:r>
          </a:p>
          <a:p>
            <a:r>
              <a:rPr lang="pl-PL" sz="1400" dirty="0">
                <a:solidFill>
                  <a:srgbClr val="1A2E52"/>
                </a:solidFill>
              </a:rPr>
              <a:t>-Real-</a:t>
            </a:r>
            <a:r>
              <a:rPr lang="pl-PL" sz="1400">
                <a:solidFill>
                  <a:srgbClr val="1A2E52"/>
                </a:solidFill>
              </a:rPr>
              <a:t>time</a:t>
            </a:r>
            <a:r>
              <a:rPr lang="pl-PL" sz="1400" dirty="0">
                <a:solidFill>
                  <a:srgbClr val="1A2E52"/>
                </a:solidFill>
              </a:rPr>
              <a:t> </a:t>
            </a:r>
            <a:r>
              <a:rPr lang="pl-PL" sz="1400">
                <a:solidFill>
                  <a:srgbClr val="1A2E52"/>
                </a:solidFill>
              </a:rPr>
              <a:t>result</a:t>
            </a:r>
            <a:r>
              <a:rPr lang="pl-PL" sz="1400" dirty="0">
                <a:solidFill>
                  <a:srgbClr val="1A2E52"/>
                </a:solidFill>
              </a:rPr>
              <a:t> display</a:t>
            </a:r>
            <a:br>
              <a:rPr lang="pl-PL" sz="1400" dirty="0">
                <a:solidFill>
                  <a:srgbClr val="1A2E52"/>
                </a:solidFill>
              </a:rPr>
            </a:br>
            <a:r>
              <a:rPr lang="pl-PL" sz="1400" dirty="0">
                <a:solidFill>
                  <a:srgbClr val="1A2E52"/>
                </a:solidFill>
              </a:rPr>
              <a:t>-Raw data </a:t>
            </a:r>
            <a:r>
              <a:rPr lang="pl-PL" sz="1400">
                <a:solidFill>
                  <a:srgbClr val="1A2E52"/>
                </a:solidFill>
              </a:rPr>
              <a:t>logging</a:t>
            </a:r>
            <a:br>
              <a:rPr lang="pl-PL" sz="1400" dirty="0">
                <a:solidFill>
                  <a:srgbClr val="1A2E52"/>
                </a:solidFill>
              </a:rPr>
            </a:br>
            <a:r>
              <a:rPr lang="pl-PL" sz="1400" dirty="0">
                <a:solidFill>
                  <a:srgbClr val="1A2E52"/>
                </a:solidFill>
              </a:rPr>
              <a:t>-</a:t>
            </a:r>
            <a:r>
              <a:rPr lang="pl-PL" sz="1400">
                <a:solidFill>
                  <a:srgbClr val="1A2E52"/>
                </a:solidFill>
              </a:rPr>
              <a:t>Signal</a:t>
            </a:r>
            <a:r>
              <a:rPr lang="pl-PL" sz="1400" dirty="0">
                <a:solidFill>
                  <a:srgbClr val="1A2E52"/>
                </a:solidFill>
              </a:rPr>
              <a:t> </a:t>
            </a:r>
            <a:r>
              <a:rPr lang="pl-PL" sz="1400">
                <a:solidFill>
                  <a:srgbClr val="1A2E52"/>
                </a:solidFill>
              </a:rPr>
              <a:t>analysis</a:t>
            </a:r>
            <a:br>
              <a:rPr lang="pl-PL" sz="1400" dirty="0">
                <a:solidFill>
                  <a:srgbClr val="1A2E52"/>
                </a:solidFill>
              </a:rPr>
            </a:br>
            <a:r>
              <a:rPr lang="pl-PL" sz="1400" dirty="0">
                <a:solidFill>
                  <a:srgbClr val="1A2E52"/>
                </a:solidFill>
              </a:rPr>
              <a:t>-FFT </a:t>
            </a:r>
            <a:r>
              <a:rPr lang="pl-PL" sz="1400">
                <a:solidFill>
                  <a:srgbClr val="1A2E52"/>
                </a:solidFill>
              </a:rPr>
              <a:t>analysis</a:t>
            </a:r>
            <a:br>
              <a:rPr lang="pl-PL" sz="1400" dirty="0">
                <a:solidFill>
                  <a:srgbClr val="1A2E52"/>
                </a:solidFill>
              </a:rPr>
            </a:br>
            <a:r>
              <a:rPr lang="pl-PL" sz="1400" dirty="0">
                <a:solidFill>
                  <a:srgbClr val="1A2E52"/>
                </a:solidFill>
              </a:rPr>
              <a:t>-RMS </a:t>
            </a:r>
            <a:r>
              <a:rPr lang="pl-PL" sz="1400">
                <a:solidFill>
                  <a:srgbClr val="1A2E52"/>
                </a:solidFill>
              </a:rPr>
              <a:t>calculations</a:t>
            </a:r>
          </a:p>
          <a:p>
            <a:br>
              <a:rPr lang="pl-PL" sz="1400" dirty="0">
                <a:solidFill>
                  <a:srgbClr val="1A2E52"/>
                </a:solidFill>
              </a:rPr>
            </a:br>
            <a:r>
              <a:rPr lang="pl-PL" sz="2000" b="1">
                <a:solidFill>
                  <a:srgbClr val="1A2E52"/>
                </a:solidFill>
              </a:rPr>
              <a:t>Initial</a:t>
            </a:r>
            <a:r>
              <a:rPr lang="pl-PL" sz="2000" b="1" dirty="0">
                <a:solidFill>
                  <a:srgbClr val="1A2E52"/>
                </a:solidFill>
              </a:rPr>
              <a:t> software </a:t>
            </a:r>
            <a:r>
              <a:rPr lang="pl-PL" sz="2000" b="1">
                <a:solidFill>
                  <a:srgbClr val="1A2E52"/>
                </a:solidFill>
              </a:rPr>
              <a:t>concept</a:t>
            </a:r>
            <a:r>
              <a:rPr lang="pl-PL" sz="2000" b="1" dirty="0">
                <a:solidFill>
                  <a:srgbClr val="1A2E52"/>
                </a:solidFill>
              </a:rPr>
              <a:t>:</a:t>
            </a:r>
          </a:p>
          <a:p>
            <a:r>
              <a:rPr lang="en-GB" sz="1500" dirty="0"/>
              <a:t>The system utilizes a custom C# backend architecture managing a continuous high-speed DAQmx measurement task. Rather than saving everything, the backend continuously buffers incoming data and monitors the sample stream for a threshold-based trigger event indicating a physical strike. Once triggered, it extracts a precise waveform snapshot capturing a user-defined pre-trigger and post-trigger time window. This transient impact response is saved to a local TDMS file using NI TDMS .NET libraries. Key metrics (like calculated FFT peak resonance and damping characteristics) are written to a local SQLite database, which is immediately pushed to a web frontend application for real-time visualization and system configuration.</a:t>
            </a:r>
            <a:endParaRPr lang="pl-PL" sz="1500" dirty="0">
              <a:solidFill>
                <a:srgbClr val="1A2E52"/>
              </a:solidFill>
            </a:endParaRPr>
          </a:p>
          <a:p>
            <a:endParaRPr lang="pl-PL" sz="2000" dirty="0">
              <a:solidFill>
                <a:srgbClr val="1A2E52"/>
              </a:solidFill>
            </a:endParaRPr>
          </a:p>
          <a:p>
            <a:endParaRPr lang="pl-PL" sz="2000" dirty="0">
              <a:solidFill>
                <a:srgbClr val="1A2E52"/>
              </a:solidFill>
            </a:endParaRPr>
          </a:p>
        </p:txBody>
      </p:sp>
    </p:spTree>
    <p:extLst>
      <p:ext uri="{BB962C8B-B14F-4D97-AF65-F5344CB8AC3E}">
        <p14:creationId xmlns:p14="http://schemas.microsoft.com/office/powerpoint/2010/main" val="3199826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6E456-0D59-62CB-4688-3B43E45B9F0A}"/>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3C60EA78-A35D-9486-0760-CF0BF1EEC059}"/>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26C242FD-4BE4-5C38-A208-1D0555102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E50459E3-DE20-ACCC-9D90-BC1EE7763C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C98316AE-3F6E-E55B-9074-F810418F1B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1F98AC84-AC18-ECFD-7695-2987A862885A}"/>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BFAB5A17-F09A-E97F-D2F9-702FA6147A00}"/>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008D8A2D-9CE9-6A71-5A4B-BD0C51D12F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7B238F8F-BE75-9576-C8F9-6046DBD86CF3}"/>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B3F28494-EFEC-E2DA-6C45-51B3FB3FDA36}"/>
              </a:ext>
            </a:extLst>
          </p:cNvPr>
          <p:cNvSpPr txBox="1"/>
          <p:nvPr/>
        </p:nvSpPr>
        <p:spPr>
          <a:xfrm>
            <a:off x="577391" y="847567"/>
            <a:ext cx="8792851" cy="400110"/>
          </a:xfrm>
          <a:prstGeom prst="rect">
            <a:avLst/>
          </a:prstGeom>
          <a:noFill/>
        </p:spPr>
        <p:txBody>
          <a:bodyPr wrap="square">
            <a:spAutoFit/>
          </a:bodyPr>
          <a:lstStyle/>
          <a:p>
            <a:r>
              <a:rPr lang="en-US" sz="2000" b="1" dirty="0">
                <a:solidFill>
                  <a:srgbClr val="1A2E52"/>
                </a:solidFill>
                <a:latin typeface="Colber"/>
              </a:rPr>
              <a:t>Preliminary System Architecture</a:t>
            </a:r>
            <a:r>
              <a:rPr lang="pl-PL" sz="2000" b="1" dirty="0">
                <a:solidFill>
                  <a:srgbClr val="1A2E52"/>
                </a:solidFill>
                <a:latin typeface="Colber"/>
              </a:rPr>
              <a:t> </a:t>
            </a:r>
            <a:r>
              <a:rPr lang="pl-PL" sz="2000" b="1" dirty="0">
                <a:solidFill>
                  <a:srgbClr val="00B0F0"/>
                </a:solidFill>
              </a:rPr>
              <a:t>Time for </a:t>
            </a:r>
            <a:r>
              <a:rPr lang="pl-PL" sz="2000" b="1" dirty="0" err="1">
                <a:solidFill>
                  <a:srgbClr val="00B0F0"/>
                </a:solidFill>
              </a:rPr>
              <a:t>students</a:t>
            </a:r>
            <a:r>
              <a:rPr lang="pl-PL" sz="2000" b="1" dirty="0">
                <a:solidFill>
                  <a:srgbClr val="00B0F0"/>
                </a:solidFill>
              </a:rPr>
              <a:t>: </a:t>
            </a:r>
            <a:r>
              <a:rPr lang="pl-PL" sz="2000" b="1" dirty="0" err="1">
                <a:solidFill>
                  <a:srgbClr val="00B0F0"/>
                </a:solidFill>
              </a:rPr>
              <a:t>included</a:t>
            </a:r>
            <a:r>
              <a:rPr lang="pl-PL" sz="2000" b="1" dirty="0">
                <a:solidFill>
                  <a:srgbClr val="00B0F0"/>
                </a:solidFill>
              </a:rPr>
              <a:t> in 60 min </a:t>
            </a:r>
            <a:r>
              <a:rPr lang="pl-PL" sz="2000" b="1" dirty="0" err="1">
                <a:solidFill>
                  <a:srgbClr val="00B0F0"/>
                </a:solidFill>
              </a:rPr>
              <a:t>block</a:t>
            </a:r>
            <a:endParaRPr lang="pl-PL" sz="2000" b="1" dirty="0">
              <a:solidFill>
                <a:srgbClr val="1A2E52"/>
              </a:solidFill>
              <a:latin typeface="Colber"/>
            </a:endParaRPr>
          </a:p>
        </p:txBody>
      </p:sp>
      <p:sp>
        <p:nvSpPr>
          <p:cNvPr id="7" name="pole tekstowe 6">
            <a:extLst>
              <a:ext uri="{FF2B5EF4-FFF2-40B4-BE49-F238E27FC236}">
                <a16:creationId xmlns:a16="http://schemas.microsoft.com/office/drawing/2014/main" id="{8BC3CFB8-3D96-7608-DFB5-23A086FF7E65}"/>
              </a:ext>
            </a:extLst>
          </p:cNvPr>
          <p:cNvSpPr txBox="1"/>
          <p:nvPr/>
        </p:nvSpPr>
        <p:spPr>
          <a:xfrm>
            <a:off x="813848" y="1213345"/>
            <a:ext cx="10800760" cy="5478423"/>
          </a:xfrm>
          <a:prstGeom prst="rect">
            <a:avLst/>
          </a:prstGeom>
          <a:noFill/>
        </p:spPr>
        <p:txBody>
          <a:bodyPr wrap="square">
            <a:spAutoFit/>
          </a:bodyPr>
          <a:lstStyle/>
          <a:p>
            <a:r>
              <a:rPr lang="pl-PL" sz="2000" b="1" dirty="0">
                <a:solidFill>
                  <a:srgbClr val="1A2E52"/>
                </a:solidFill>
              </a:rPr>
              <a:t>Block Diagram</a:t>
            </a:r>
          </a:p>
          <a:p>
            <a:endParaRPr lang="pl-PL" sz="2000" b="1" dirty="0">
              <a:solidFill>
                <a:srgbClr val="1A2E52"/>
              </a:solidFill>
            </a:endParaRPr>
          </a:p>
          <a:p>
            <a:br>
              <a:rPr lang="pl-PL" sz="2000" dirty="0">
                <a:solidFill>
                  <a:srgbClr val="1A2E52"/>
                </a:solidFill>
              </a:rPr>
            </a:br>
            <a:endParaRPr lang="pl-PL" sz="2000" dirty="0">
              <a:solidFill>
                <a:srgbClr val="1A2E52"/>
              </a:solidFill>
            </a:endParaRPr>
          </a:p>
          <a:p>
            <a:endParaRPr lang="pl-PL" sz="2000" dirty="0">
              <a:solidFill>
                <a:srgbClr val="1A2E52"/>
              </a:solidFill>
            </a:endParaRPr>
          </a:p>
          <a:p>
            <a:endParaRPr lang="pl-PL" sz="2000" dirty="0">
              <a:solidFill>
                <a:srgbClr val="1A2E52"/>
              </a:solidFill>
            </a:endParaRPr>
          </a:p>
          <a:p>
            <a:endParaRPr lang="pl-PL" sz="2000" dirty="0">
              <a:solidFill>
                <a:srgbClr val="1A2E52"/>
              </a:solidFill>
            </a:endParaRPr>
          </a:p>
          <a:p>
            <a:endParaRPr lang="pl-PL" sz="2000" dirty="0">
              <a:solidFill>
                <a:srgbClr val="1A2E52"/>
              </a:solidFill>
            </a:endParaRPr>
          </a:p>
          <a:p>
            <a:endParaRPr lang="pl-PL" sz="2000" dirty="0">
              <a:solidFill>
                <a:srgbClr val="1A2E52"/>
              </a:solidFill>
            </a:endParaRPr>
          </a:p>
          <a:p>
            <a:br>
              <a:rPr lang="pl-PL" sz="2000" dirty="0">
                <a:solidFill>
                  <a:srgbClr val="1A2E52"/>
                </a:solidFill>
              </a:rPr>
            </a:br>
            <a:endParaRPr lang="pl-PL" sz="2000" dirty="0">
              <a:solidFill>
                <a:srgbClr val="1A2E52"/>
              </a:solidFill>
            </a:endParaRPr>
          </a:p>
          <a:p>
            <a:r>
              <a:rPr lang="pl-PL" sz="2000" b="1" dirty="0" err="1">
                <a:solidFill>
                  <a:srgbClr val="1A2E52"/>
                </a:solidFill>
              </a:rPr>
              <a:t>Short</a:t>
            </a:r>
            <a:r>
              <a:rPr lang="pl-PL" sz="2000" b="1" dirty="0">
                <a:solidFill>
                  <a:srgbClr val="1A2E52"/>
                </a:solidFill>
              </a:rPr>
              <a:t> </a:t>
            </a:r>
            <a:r>
              <a:rPr lang="pl-PL" sz="2000" b="1" dirty="0" err="1">
                <a:solidFill>
                  <a:srgbClr val="1A2E52"/>
                </a:solidFill>
              </a:rPr>
              <a:t>explanation</a:t>
            </a:r>
            <a:r>
              <a:rPr lang="pl-PL" sz="2000" b="1" dirty="0">
                <a:solidFill>
                  <a:srgbClr val="1A2E52"/>
                </a:solidFill>
              </a:rPr>
              <a:t> of system </a:t>
            </a:r>
            <a:r>
              <a:rPr lang="pl-PL" sz="2000" b="1" dirty="0" err="1">
                <a:solidFill>
                  <a:srgbClr val="1A2E52"/>
                </a:solidFill>
              </a:rPr>
              <a:t>operation</a:t>
            </a:r>
            <a:r>
              <a:rPr lang="pl-PL" sz="2000" b="1" dirty="0">
                <a:solidFill>
                  <a:srgbClr val="1A2E52"/>
                </a:solidFill>
              </a:rPr>
              <a:t>:</a:t>
            </a:r>
          </a:p>
          <a:p>
            <a:r>
              <a:rPr lang="en-GB" sz="1500" dirty="0"/>
              <a:t>The system operates by continuously buffering </a:t>
            </a:r>
            <a:r>
              <a:rPr lang="en-GB" sz="1500" dirty="0" err="1"/>
              <a:t>analog</a:t>
            </a:r>
            <a:r>
              <a:rPr lang="en-GB" sz="1500" dirty="0"/>
              <a:t> vibration data in a C# backend until a physical strike triggers a precise pre- and post-trigger snapshot. The raw wave data is permanently saved to an TDMS file, while calculated results (such as FFT peak frequencies) and user configurations are logged into an Excel file. To tie everything together, an SQLite database acts as a master registry, storing experimental metadata alongside the absolute file locations of the generated TDMS and Excel reports. Finally, a web frontend queries this SQLite registry to locate the files, extract the data, and visualize the structural performance charts.</a:t>
            </a:r>
            <a:endParaRPr lang="pl-PL" sz="1500" dirty="0">
              <a:solidFill>
                <a:srgbClr val="1A2E52"/>
              </a:solidFill>
            </a:endParaRPr>
          </a:p>
          <a:p>
            <a:endParaRPr lang="pl-PL" sz="1500" dirty="0">
              <a:solidFill>
                <a:srgbClr val="1A2E52"/>
              </a:solidFill>
            </a:endParaRPr>
          </a:p>
          <a:p>
            <a:endParaRPr lang="pl-PL" sz="2000" dirty="0">
              <a:solidFill>
                <a:srgbClr val="1A2E52"/>
              </a:solidFill>
            </a:endParaRPr>
          </a:p>
        </p:txBody>
      </p:sp>
      <p:pic>
        <p:nvPicPr>
          <p:cNvPr id="5" name="Picture 4" descr="A diagram of a computer program&#10;&#10;AI-generated content may be incorrect.">
            <a:extLst>
              <a:ext uri="{FF2B5EF4-FFF2-40B4-BE49-F238E27FC236}">
                <a16:creationId xmlns:a16="http://schemas.microsoft.com/office/drawing/2014/main" id="{D11B47BD-FF10-AC15-8656-01E43D6D82C8}"/>
              </a:ext>
            </a:extLst>
          </p:cNvPr>
          <p:cNvPicPr>
            <a:picLocks noChangeAspect="1"/>
          </p:cNvPicPr>
          <p:nvPr/>
        </p:nvPicPr>
        <p:blipFill>
          <a:blip r:embed="rId7"/>
          <a:stretch>
            <a:fillRect/>
          </a:stretch>
        </p:blipFill>
        <p:spPr>
          <a:xfrm>
            <a:off x="812321" y="1717667"/>
            <a:ext cx="9733472" cy="2883516"/>
          </a:xfrm>
          <a:prstGeom prst="rect">
            <a:avLst/>
          </a:prstGeom>
        </p:spPr>
      </p:pic>
    </p:spTree>
    <p:extLst>
      <p:ext uri="{BB962C8B-B14F-4D97-AF65-F5344CB8AC3E}">
        <p14:creationId xmlns:p14="http://schemas.microsoft.com/office/powerpoint/2010/main" val="3945078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9B2A3-2FEB-3213-4F9A-5F647B203C5E}"/>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FE2ED968-8208-5E09-D39D-4CE6C4176A96}"/>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4DD59BDB-DF11-7AB7-E239-C9B1778F8A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9E1AC7FE-641B-F124-EF40-A436F2C42C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8B46385E-40D6-5E53-4C59-3012791906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88C9B9A8-3F59-BDDB-922D-A95132BEF7A0}"/>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2A1E47CF-931F-5C1F-C8DE-EA50B66F0F2B}"/>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4F4C7C49-ABA3-B355-635D-BC7973D918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6EFDC9FA-1F62-3B48-3775-CE5018D2C598}"/>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C87C5172-F1C6-5069-81AD-EF00B6DAA66C}"/>
              </a:ext>
            </a:extLst>
          </p:cNvPr>
          <p:cNvSpPr txBox="1"/>
          <p:nvPr/>
        </p:nvSpPr>
        <p:spPr>
          <a:xfrm>
            <a:off x="577391" y="847567"/>
            <a:ext cx="9773239" cy="400110"/>
          </a:xfrm>
          <a:prstGeom prst="rect">
            <a:avLst/>
          </a:prstGeom>
          <a:noFill/>
        </p:spPr>
        <p:txBody>
          <a:bodyPr wrap="square">
            <a:spAutoFit/>
          </a:bodyPr>
          <a:lstStyle/>
          <a:p>
            <a:r>
              <a:rPr lang="en-US" sz="2000" b="1" dirty="0">
                <a:solidFill>
                  <a:srgbClr val="1A2E52"/>
                </a:solidFill>
                <a:latin typeface="Colber"/>
              </a:rPr>
              <a:t>Initial Experimental Setup</a:t>
            </a:r>
            <a:r>
              <a:rPr lang="pl-PL" sz="2000" b="1" dirty="0">
                <a:solidFill>
                  <a:srgbClr val="1A2E52"/>
                </a:solidFill>
                <a:latin typeface="Colber"/>
              </a:rPr>
              <a:t> </a:t>
            </a:r>
            <a:r>
              <a:rPr lang="pl-PL" sz="2000" b="1" dirty="0">
                <a:solidFill>
                  <a:srgbClr val="00B0F0"/>
                </a:solidFill>
              </a:rPr>
              <a:t>Time for </a:t>
            </a:r>
            <a:r>
              <a:rPr lang="pl-PL" sz="2000" b="1" dirty="0" err="1">
                <a:solidFill>
                  <a:srgbClr val="00B0F0"/>
                </a:solidFill>
              </a:rPr>
              <a:t>students</a:t>
            </a:r>
            <a:r>
              <a:rPr lang="pl-PL" sz="2000" b="1" dirty="0">
                <a:solidFill>
                  <a:srgbClr val="00B0F0"/>
                </a:solidFill>
              </a:rPr>
              <a:t>: </a:t>
            </a:r>
            <a:r>
              <a:rPr lang="pl-PL" sz="2000" b="1" dirty="0" err="1">
                <a:solidFill>
                  <a:srgbClr val="00B0F0"/>
                </a:solidFill>
              </a:rPr>
              <a:t>included</a:t>
            </a:r>
            <a:r>
              <a:rPr lang="pl-PL" sz="2000" b="1" dirty="0">
                <a:solidFill>
                  <a:srgbClr val="00B0F0"/>
                </a:solidFill>
              </a:rPr>
              <a:t> in 60 min </a:t>
            </a:r>
            <a:r>
              <a:rPr lang="pl-PL" sz="2000" b="1" dirty="0" err="1">
                <a:solidFill>
                  <a:srgbClr val="00B0F0"/>
                </a:solidFill>
              </a:rPr>
              <a:t>block</a:t>
            </a:r>
            <a:endParaRPr lang="pl-PL" sz="2000" b="1" dirty="0">
              <a:solidFill>
                <a:srgbClr val="1A2E52"/>
              </a:solidFill>
              <a:latin typeface="Colber"/>
            </a:endParaRPr>
          </a:p>
        </p:txBody>
      </p:sp>
      <p:sp>
        <p:nvSpPr>
          <p:cNvPr id="7" name="pole tekstowe 6">
            <a:extLst>
              <a:ext uri="{FF2B5EF4-FFF2-40B4-BE49-F238E27FC236}">
                <a16:creationId xmlns:a16="http://schemas.microsoft.com/office/drawing/2014/main" id="{F1F0C7AF-2F69-BF07-5550-0AB52249CAE7}"/>
              </a:ext>
            </a:extLst>
          </p:cNvPr>
          <p:cNvSpPr txBox="1"/>
          <p:nvPr/>
        </p:nvSpPr>
        <p:spPr>
          <a:xfrm>
            <a:off x="813848" y="1213345"/>
            <a:ext cx="10800760" cy="3970318"/>
          </a:xfrm>
          <a:prstGeom prst="rect">
            <a:avLst/>
          </a:prstGeom>
          <a:noFill/>
        </p:spPr>
        <p:txBody>
          <a:bodyPr wrap="square">
            <a:spAutoFit/>
          </a:bodyPr>
          <a:lstStyle/>
          <a:p>
            <a:r>
              <a:rPr lang="pl-PL" sz="2000" b="1" dirty="0" err="1">
                <a:solidFill>
                  <a:srgbClr val="1A2E52"/>
                </a:solidFill>
              </a:rPr>
              <a:t>Describe</a:t>
            </a:r>
            <a:r>
              <a:rPr lang="pl-PL" sz="2000" b="1" dirty="0">
                <a:solidFill>
                  <a:srgbClr val="1A2E52"/>
                </a:solidFill>
              </a:rPr>
              <a:t> the </a:t>
            </a:r>
            <a:r>
              <a:rPr lang="pl-PL" sz="2000" b="1" dirty="0" err="1">
                <a:solidFill>
                  <a:srgbClr val="1A2E52"/>
                </a:solidFill>
              </a:rPr>
              <a:t>planned</a:t>
            </a:r>
            <a:r>
              <a:rPr lang="pl-PL" sz="2000" b="1" dirty="0">
                <a:solidFill>
                  <a:srgbClr val="1A2E52"/>
                </a:solidFill>
              </a:rPr>
              <a:t> </a:t>
            </a:r>
            <a:r>
              <a:rPr lang="pl-PL" sz="2000" b="1" dirty="0" err="1">
                <a:solidFill>
                  <a:srgbClr val="1A2E52"/>
                </a:solidFill>
              </a:rPr>
              <a:t>experiment</a:t>
            </a:r>
            <a:r>
              <a:rPr lang="pl-PL" sz="2000" b="1" dirty="0">
                <a:solidFill>
                  <a:srgbClr val="1A2E52"/>
                </a:solidFill>
              </a:rPr>
              <a:t>:</a:t>
            </a:r>
          </a:p>
          <a:p>
            <a:r>
              <a:rPr lang="en-GB" sz="2000" dirty="0"/>
              <a:t>The experiment involves exciting a mechanical structure (</a:t>
            </a:r>
            <a:r>
              <a:rPr lang="pl-PL" sz="2000" dirty="0"/>
              <a:t>CNC </a:t>
            </a:r>
            <a:r>
              <a:rPr lang="pl-PL" sz="2000" dirty="0" err="1"/>
              <a:t>machine</a:t>
            </a:r>
            <a:r>
              <a:rPr lang="en-GB" sz="2000" dirty="0"/>
              <a:t>) using a hammer strike to trigger continuous vibration data collection. The system will record the physical decay waveform over a specified pre- and post-trigger time window. A Fast Fourier Transform (FFT) algorithm will then convert this snapshot into the frequency domain to identify the exact structural resonance frequencies</a:t>
            </a:r>
            <a:r>
              <a:rPr lang="pl-PL" sz="2000" dirty="0"/>
              <a:t>, and </a:t>
            </a:r>
            <a:r>
              <a:rPr lang="pl-PL" sz="2000" dirty="0" err="1"/>
              <a:t>allow</a:t>
            </a:r>
            <a:r>
              <a:rPr lang="pl-PL" sz="2000" dirty="0"/>
              <a:t> for </a:t>
            </a:r>
            <a:r>
              <a:rPr lang="pl-PL" sz="2000" dirty="0" err="1"/>
              <a:t>further</a:t>
            </a:r>
            <a:r>
              <a:rPr lang="pl-PL" sz="2000" dirty="0"/>
              <a:t> </a:t>
            </a:r>
            <a:r>
              <a:rPr lang="pl-PL" sz="2000" dirty="0" err="1"/>
              <a:t>analysis</a:t>
            </a:r>
            <a:endParaRPr lang="pl-PL" sz="2000" dirty="0">
              <a:solidFill>
                <a:srgbClr val="1A2E52"/>
              </a:solidFill>
            </a:endParaRPr>
          </a:p>
          <a:p>
            <a:r>
              <a:rPr lang="pl-PL" sz="2000" b="1" dirty="0" err="1">
                <a:solidFill>
                  <a:srgbClr val="1A2E52"/>
                </a:solidFill>
              </a:rPr>
              <a:t>Measurement</a:t>
            </a:r>
            <a:r>
              <a:rPr lang="pl-PL" sz="2000" b="1" dirty="0">
                <a:solidFill>
                  <a:srgbClr val="1A2E52"/>
                </a:solidFill>
              </a:rPr>
              <a:t> </a:t>
            </a:r>
            <a:r>
              <a:rPr lang="pl-PL" sz="2000" b="1" dirty="0" err="1">
                <a:solidFill>
                  <a:srgbClr val="1A2E52"/>
                </a:solidFill>
              </a:rPr>
              <a:t>location</a:t>
            </a:r>
            <a:r>
              <a:rPr lang="pl-PL" sz="2000" b="1" dirty="0">
                <a:solidFill>
                  <a:srgbClr val="1A2E52"/>
                </a:solidFill>
              </a:rPr>
              <a:t>/environment:</a:t>
            </a:r>
          </a:p>
          <a:p>
            <a:r>
              <a:rPr lang="pl-PL" sz="2000" dirty="0" err="1">
                <a:solidFill>
                  <a:srgbClr val="1A2E52"/>
                </a:solidFill>
              </a:rPr>
              <a:t>Labolatory</a:t>
            </a:r>
            <a:r>
              <a:rPr lang="pl-PL" sz="2000" dirty="0">
                <a:solidFill>
                  <a:srgbClr val="1A2E52"/>
                </a:solidFill>
              </a:rPr>
              <a:t> </a:t>
            </a:r>
            <a:r>
              <a:rPr lang="pl-PL" sz="2000" dirty="0" err="1">
                <a:solidFill>
                  <a:srgbClr val="1A2E52"/>
                </a:solidFill>
              </a:rPr>
              <a:t>Classroom</a:t>
            </a:r>
            <a:r>
              <a:rPr lang="pl-PL" sz="2000" dirty="0">
                <a:solidFill>
                  <a:srgbClr val="1A2E52"/>
                </a:solidFill>
              </a:rPr>
              <a:t> – CNC </a:t>
            </a:r>
            <a:r>
              <a:rPr lang="pl-PL" sz="2000" dirty="0" err="1">
                <a:solidFill>
                  <a:srgbClr val="1A2E52"/>
                </a:solidFill>
              </a:rPr>
              <a:t>machine</a:t>
            </a:r>
            <a:r>
              <a:rPr lang="pl-PL" sz="2000" dirty="0">
                <a:solidFill>
                  <a:srgbClr val="1A2E52"/>
                </a:solidFill>
              </a:rPr>
              <a:t> </a:t>
            </a:r>
            <a:r>
              <a:rPr lang="pl-PL" sz="2000" dirty="0" err="1">
                <a:solidFill>
                  <a:srgbClr val="1A2E52"/>
                </a:solidFill>
              </a:rPr>
              <a:t>chasis</a:t>
            </a:r>
            <a:endParaRPr lang="pl-PL" sz="2000" dirty="0">
              <a:solidFill>
                <a:srgbClr val="1A2E52"/>
              </a:solidFill>
            </a:endParaRPr>
          </a:p>
          <a:p>
            <a:br>
              <a:rPr lang="pl-PL" sz="2000" dirty="0">
                <a:solidFill>
                  <a:srgbClr val="1A2E52"/>
                </a:solidFill>
              </a:rPr>
            </a:br>
            <a:endParaRPr lang="pl-PL" sz="2000" dirty="0">
              <a:solidFill>
                <a:srgbClr val="1A2E52"/>
              </a:solidFill>
            </a:endParaRPr>
          </a:p>
          <a:p>
            <a:r>
              <a:rPr lang="pl-PL" sz="2000" b="1" dirty="0" err="1">
                <a:solidFill>
                  <a:srgbClr val="1A2E52"/>
                </a:solidFill>
              </a:rPr>
              <a:t>Planned</a:t>
            </a:r>
            <a:r>
              <a:rPr lang="pl-PL" sz="2000" b="1" dirty="0">
                <a:solidFill>
                  <a:srgbClr val="1A2E52"/>
                </a:solidFill>
              </a:rPr>
              <a:t> </a:t>
            </a:r>
            <a:r>
              <a:rPr lang="pl-PL" sz="2000" b="1" dirty="0" err="1">
                <a:solidFill>
                  <a:srgbClr val="1A2E52"/>
                </a:solidFill>
              </a:rPr>
              <a:t>experimental</a:t>
            </a:r>
            <a:r>
              <a:rPr lang="pl-PL" sz="2000" b="1" dirty="0">
                <a:solidFill>
                  <a:srgbClr val="1A2E52"/>
                </a:solidFill>
              </a:rPr>
              <a:t> </a:t>
            </a:r>
            <a:r>
              <a:rPr lang="pl-PL" sz="2000" b="1" dirty="0" err="1">
                <a:solidFill>
                  <a:srgbClr val="1A2E52"/>
                </a:solidFill>
              </a:rPr>
              <a:t>scenarios</a:t>
            </a:r>
            <a:r>
              <a:rPr lang="pl-PL" sz="2000" b="1" dirty="0">
                <a:solidFill>
                  <a:srgbClr val="1A2E52"/>
                </a:solidFill>
              </a:rPr>
              <a:t>:</a:t>
            </a:r>
          </a:p>
          <a:p>
            <a:r>
              <a:rPr lang="pl-PL" sz="1600" dirty="0">
                <a:solidFill>
                  <a:srgbClr val="1A2E52"/>
                </a:solidFill>
              </a:rPr>
              <a:t>- Hammer </a:t>
            </a:r>
            <a:r>
              <a:rPr lang="pl-PL" sz="1600" dirty="0" err="1">
                <a:solidFill>
                  <a:srgbClr val="1A2E52"/>
                </a:solidFill>
              </a:rPr>
              <a:t>impact</a:t>
            </a:r>
            <a:r>
              <a:rPr lang="pl-PL" sz="1600" dirty="0">
                <a:solidFill>
                  <a:srgbClr val="1A2E52"/>
                </a:solidFill>
              </a:rPr>
              <a:t> </a:t>
            </a:r>
            <a:r>
              <a:rPr lang="pl-PL" sz="1600" dirty="0" err="1">
                <a:solidFill>
                  <a:srgbClr val="1A2E52"/>
                </a:solidFill>
              </a:rPr>
              <a:t>response</a:t>
            </a:r>
            <a:r>
              <a:rPr lang="pl-PL" sz="1600" dirty="0">
                <a:solidFill>
                  <a:srgbClr val="1A2E52"/>
                </a:solidFill>
              </a:rPr>
              <a:t> for </a:t>
            </a:r>
            <a:r>
              <a:rPr lang="pl-PL" sz="1600" dirty="0" err="1">
                <a:solidFill>
                  <a:srgbClr val="1A2E52"/>
                </a:solidFill>
              </a:rPr>
              <a:t>different</a:t>
            </a:r>
            <a:r>
              <a:rPr lang="pl-PL" sz="1600" dirty="0">
                <a:solidFill>
                  <a:srgbClr val="1A2E52"/>
                </a:solidFill>
              </a:rPr>
              <a:t> </a:t>
            </a:r>
            <a:r>
              <a:rPr lang="pl-PL" sz="1600" dirty="0" err="1">
                <a:solidFill>
                  <a:srgbClr val="1A2E52"/>
                </a:solidFill>
              </a:rPr>
              <a:t>structure</a:t>
            </a:r>
            <a:r>
              <a:rPr lang="pl-PL" sz="1600" dirty="0">
                <a:solidFill>
                  <a:srgbClr val="1A2E52"/>
                </a:solidFill>
              </a:rPr>
              <a:t> </a:t>
            </a:r>
            <a:r>
              <a:rPr lang="pl-PL" sz="1600" dirty="0" err="1">
                <a:solidFill>
                  <a:srgbClr val="1A2E52"/>
                </a:solidFill>
              </a:rPr>
              <a:t>configurations</a:t>
            </a:r>
            <a:br>
              <a:rPr lang="pl-PL" sz="1600" dirty="0">
                <a:solidFill>
                  <a:srgbClr val="1A2E52"/>
                </a:solidFill>
              </a:rPr>
            </a:br>
            <a:r>
              <a:rPr lang="pl-PL" sz="1600" dirty="0">
                <a:solidFill>
                  <a:srgbClr val="1A2E52"/>
                </a:solidFill>
              </a:rPr>
              <a:t>- </a:t>
            </a:r>
            <a:r>
              <a:rPr lang="pl-PL" sz="1600" dirty="0" err="1">
                <a:solidFill>
                  <a:srgbClr val="1A2E52"/>
                </a:solidFill>
              </a:rPr>
              <a:t>Vibration</a:t>
            </a:r>
            <a:r>
              <a:rPr lang="pl-PL" sz="1600" dirty="0">
                <a:solidFill>
                  <a:srgbClr val="1A2E52"/>
                </a:solidFill>
              </a:rPr>
              <a:t> </a:t>
            </a:r>
            <a:r>
              <a:rPr lang="pl-PL" sz="1600" dirty="0" err="1">
                <a:solidFill>
                  <a:srgbClr val="1A2E52"/>
                </a:solidFill>
              </a:rPr>
              <a:t>measurement</a:t>
            </a:r>
            <a:r>
              <a:rPr lang="pl-PL" sz="1600" dirty="0">
                <a:solidFill>
                  <a:srgbClr val="1A2E52"/>
                </a:solidFill>
              </a:rPr>
              <a:t> </a:t>
            </a:r>
            <a:r>
              <a:rPr lang="pl-PL" sz="1600" dirty="0" err="1">
                <a:solidFill>
                  <a:srgbClr val="1A2E52"/>
                </a:solidFill>
              </a:rPr>
              <a:t>during</a:t>
            </a:r>
            <a:r>
              <a:rPr lang="pl-PL" sz="1600" dirty="0">
                <a:solidFill>
                  <a:srgbClr val="1A2E52"/>
                </a:solidFill>
              </a:rPr>
              <a:t> </a:t>
            </a:r>
            <a:r>
              <a:rPr lang="pl-PL" sz="1600" dirty="0" err="1">
                <a:solidFill>
                  <a:srgbClr val="1A2E52"/>
                </a:solidFill>
              </a:rPr>
              <a:t>spindle</a:t>
            </a:r>
            <a:r>
              <a:rPr lang="pl-PL" sz="1600" dirty="0">
                <a:solidFill>
                  <a:srgbClr val="1A2E52"/>
                </a:solidFill>
              </a:rPr>
              <a:t> </a:t>
            </a:r>
            <a:r>
              <a:rPr lang="pl-PL" sz="1600" dirty="0" err="1">
                <a:solidFill>
                  <a:srgbClr val="1A2E52"/>
                </a:solidFill>
              </a:rPr>
              <a:t>operation</a:t>
            </a:r>
            <a:r>
              <a:rPr lang="pl-PL" sz="1600" dirty="0">
                <a:solidFill>
                  <a:srgbClr val="1A2E52"/>
                </a:solidFill>
              </a:rPr>
              <a:t> for </a:t>
            </a:r>
            <a:r>
              <a:rPr lang="pl-PL" sz="1600" dirty="0" err="1">
                <a:solidFill>
                  <a:srgbClr val="1A2E52"/>
                </a:solidFill>
              </a:rPr>
              <a:t>different</a:t>
            </a:r>
            <a:r>
              <a:rPr lang="pl-PL" sz="1600" dirty="0">
                <a:solidFill>
                  <a:srgbClr val="1A2E52"/>
                </a:solidFill>
              </a:rPr>
              <a:t> </a:t>
            </a:r>
            <a:r>
              <a:rPr lang="pl-PL" sz="1600" dirty="0" err="1">
                <a:solidFill>
                  <a:srgbClr val="1A2E52"/>
                </a:solidFill>
              </a:rPr>
              <a:t>structure</a:t>
            </a:r>
            <a:r>
              <a:rPr lang="pl-PL" sz="1600" dirty="0">
                <a:solidFill>
                  <a:srgbClr val="1A2E52"/>
                </a:solidFill>
              </a:rPr>
              <a:t> </a:t>
            </a:r>
            <a:r>
              <a:rPr lang="pl-PL" sz="1600" dirty="0" err="1">
                <a:solidFill>
                  <a:srgbClr val="1A2E52"/>
                </a:solidFill>
              </a:rPr>
              <a:t>configurations</a:t>
            </a:r>
            <a:endParaRPr lang="pl-PL" sz="2000" dirty="0">
              <a:solidFill>
                <a:srgbClr val="1A2E52"/>
              </a:solidFill>
            </a:endParaRPr>
          </a:p>
        </p:txBody>
      </p:sp>
    </p:spTree>
    <p:extLst>
      <p:ext uri="{BB962C8B-B14F-4D97-AF65-F5344CB8AC3E}">
        <p14:creationId xmlns:p14="http://schemas.microsoft.com/office/powerpoint/2010/main" val="1623702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D4442-2260-BDA6-CCC3-237F467BEB3F}"/>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32A154BA-58B6-E954-4C2D-1AA865735DB0}"/>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59A39FEA-A6CF-D45A-4214-9FCDD36473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DF6813D7-701C-99BD-617F-4E1DEC9B41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1CFA30F4-2DD7-EBB7-ECA6-0F914EF771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99143493-8186-F5C0-D94F-AFEB88AA132C}"/>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8E386688-1D2F-4FB2-94F7-19D83443D6C6}"/>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8E79FA97-0422-F1AB-1D3A-9E3F095D10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E83D3325-A642-9D55-3318-658C4AE4BC92}"/>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5BDF61E9-22BE-461D-AE60-BBE2DA0179B7}"/>
              </a:ext>
            </a:extLst>
          </p:cNvPr>
          <p:cNvSpPr txBox="1"/>
          <p:nvPr/>
        </p:nvSpPr>
        <p:spPr>
          <a:xfrm>
            <a:off x="577392" y="847567"/>
            <a:ext cx="8783424" cy="400110"/>
          </a:xfrm>
          <a:prstGeom prst="rect">
            <a:avLst/>
          </a:prstGeom>
          <a:noFill/>
        </p:spPr>
        <p:txBody>
          <a:bodyPr wrap="square">
            <a:spAutoFit/>
          </a:bodyPr>
          <a:lstStyle/>
          <a:p>
            <a:r>
              <a:rPr lang="en-US" sz="2000" b="1" dirty="0">
                <a:solidFill>
                  <a:srgbClr val="1A2E52"/>
                </a:solidFill>
                <a:latin typeface="Colber"/>
              </a:rPr>
              <a:t>Sustainability Context</a:t>
            </a:r>
            <a:r>
              <a:rPr lang="pl-PL" sz="2000" b="1" dirty="0">
                <a:solidFill>
                  <a:srgbClr val="1A2E52"/>
                </a:solidFill>
                <a:latin typeface="Colber"/>
              </a:rPr>
              <a:t> </a:t>
            </a:r>
            <a:r>
              <a:rPr lang="pl-PL" sz="2000" b="1" dirty="0">
                <a:solidFill>
                  <a:srgbClr val="00B0F0"/>
                </a:solidFill>
              </a:rPr>
              <a:t>Time for </a:t>
            </a:r>
            <a:r>
              <a:rPr lang="pl-PL" sz="2000" b="1" dirty="0" err="1">
                <a:solidFill>
                  <a:srgbClr val="00B0F0"/>
                </a:solidFill>
              </a:rPr>
              <a:t>students</a:t>
            </a:r>
            <a:r>
              <a:rPr lang="pl-PL" sz="2000" b="1" dirty="0">
                <a:solidFill>
                  <a:srgbClr val="00B0F0"/>
                </a:solidFill>
              </a:rPr>
              <a:t>: </a:t>
            </a:r>
            <a:r>
              <a:rPr lang="pl-PL" sz="2000" b="1" dirty="0" err="1">
                <a:solidFill>
                  <a:srgbClr val="00B0F0"/>
                </a:solidFill>
              </a:rPr>
              <a:t>included</a:t>
            </a:r>
            <a:r>
              <a:rPr lang="pl-PL" sz="2000" b="1" dirty="0">
                <a:solidFill>
                  <a:srgbClr val="00B0F0"/>
                </a:solidFill>
              </a:rPr>
              <a:t> in 60 min </a:t>
            </a:r>
            <a:r>
              <a:rPr lang="pl-PL" sz="2000" b="1" dirty="0" err="1">
                <a:solidFill>
                  <a:srgbClr val="00B0F0"/>
                </a:solidFill>
              </a:rPr>
              <a:t>block</a:t>
            </a:r>
            <a:endParaRPr lang="pl-PL" sz="2000" b="1" dirty="0">
              <a:solidFill>
                <a:srgbClr val="1A2E52"/>
              </a:solidFill>
              <a:latin typeface="Colber"/>
            </a:endParaRPr>
          </a:p>
        </p:txBody>
      </p:sp>
      <p:sp>
        <p:nvSpPr>
          <p:cNvPr id="7" name="pole tekstowe 6">
            <a:extLst>
              <a:ext uri="{FF2B5EF4-FFF2-40B4-BE49-F238E27FC236}">
                <a16:creationId xmlns:a16="http://schemas.microsoft.com/office/drawing/2014/main" id="{C526593B-D46A-3E23-4594-9C03D4C8CE51}"/>
              </a:ext>
            </a:extLst>
          </p:cNvPr>
          <p:cNvSpPr txBox="1"/>
          <p:nvPr/>
        </p:nvSpPr>
        <p:spPr>
          <a:xfrm>
            <a:off x="813848" y="1213345"/>
            <a:ext cx="10800760" cy="4878259"/>
          </a:xfrm>
          <a:prstGeom prst="rect">
            <a:avLst/>
          </a:prstGeom>
          <a:noFill/>
        </p:spPr>
        <p:txBody>
          <a:bodyPr wrap="square">
            <a:spAutoFit/>
          </a:bodyPr>
          <a:lstStyle/>
          <a:p>
            <a:r>
              <a:rPr lang="pl-PL" sz="2000" b="1" dirty="0">
                <a:solidFill>
                  <a:srgbClr val="1A2E52"/>
                </a:solidFill>
              </a:rPr>
              <a:t>How </a:t>
            </a:r>
            <a:r>
              <a:rPr lang="pl-PL" sz="2000" b="1" dirty="0" err="1">
                <a:solidFill>
                  <a:srgbClr val="1A2E52"/>
                </a:solidFill>
              </a:rPr>
              <a:t>can</a:t>
            </a:r>
            <a:r>
              <a:rPr lang="pl-PL" sz="2000" b="1" dirty="0">
                <a:solidFill>
                  <a:srgbClr val="1A2E52"/>
                </a:solidFill>
              </a:rPr>
              <a:t> </a:t>
            </a:r>
            <a:r>
              <a:rPr lang="pl-PL" sz="2000" b="1" dirty="0" err="1">
                <a:solidFill>
                  <a:srgbClr val="1A2E52"/>
                </a:solidFill>
              </a:rPr>
              <a:t>this</a:t>
            </a:r>
            <a:r>
              <a:rPr lang="pl-PL" sz="2000" b="1" dirty="0">
                <a:solidFill>
                  <a:srgbClr val="1A2E52"/>
                </a:solidFill>
              </a:rPr>
              <a:t> </a:t>
            </a:r>
            <a:r>
              <a:rPr lang="pl-PL" sz="2000" b="1" dirty="0" err="1">
                <a:solidFill>
                  <a:srgbClr val="1A2E52"/>
                </a:solidFill>
              </a:rPr>
              <a:t>project</a:t>
            </a:r>
            <a:r>
              <a:rPr lang="pl-PL" sz="2000" b="1" dirty="0">
                <a:solidFill>
                  <a:srgbClr val="1A2E52"/>
                </a:solidFill>
              </a:rPr>
              <a:t> </a:t>
            </a:r>
            <a:r>
              <a:rPr lang="pl-PL" sz="2000" b="1" dirty="0" err="1">
                <a:solidFill>
                  <a:srgbClr val="1A2E52"/>
                </a:solidFill>
              </a:rPr>
              <a:t>improve</a:t>
            </a:r>
            <a:r>
              <a:rPr lang="pl-PL" sz="2000" b="1" dirty="0">
                <a:solidFill>
                  <a:srgbClr val="1A2E52"/>
                </a:solidFill>
              </a:rPr>
              <a:t> </a:t>
            </a:r>
            <a:r>
              <a:rPr lang="pl-PL" sz="2000" b="1" dirty="0" err="1">
                <a:solidFill>
                  <a:srgbClr val="1A2E52"/>
                </a:solidFill>
              </a:rPr>
              <a:t>sustainability</a:t>
            </a:r>
            <a:r>
              <a:rPr lang="pl-PL" sz="2000" b="1" dirty="0">
                <a:solidFill>
                  <a:srgbClr val="1A2E52"/>
                </a:solidFill>
              </a:rPr>
              <a:t>?</a:t>
            </a:r>
          </a:p>
          <a:p>
            <a:r>
              <a:rPr lang="pl-PL" sz="1600" dirty="0">
                <a:solidFill>
                  <a:srgbClr val="1A2E52"/>
                </a:solidFill>
              </a:rPr>
              <a:t>☐ </a:t>
            </a:r>
            <a:r>
              <a:rPr lang="pl-PL" sz="1600" dirty="0" err="1">
                <a:solidFill>
                  <a:srgbClr val="1A2E52"/>
                </a:solidFill>
              </a:rPr>
              <a:t>Reduce</a:t>
            </a:r>
            <a:r>
              <a:rPr lang="pl-PL" sz="1600" dirty="0">
                <a:solidFill>
                  <a:srgbClr val="1A2E52"/>
                </a:solidFill>
              </a:rPr>
              <a:t> </a:t>
            </a:r>
            <a:r>
              <a:rPr lang="pl-PL" sz="1600" dirty="0" err="1">
                <a:solidFill>
                  <a:srgbClr val="1A2E52"/>
                </a:solidFill>
              </a:rPr>
              <a:t>energy</a:t>
            </a:r>
            <a:r>
              <a:rPr lang="pl-PL" sz="1600" dirty="0">
                <a:solidFill>
                  <a:srgbClr val="1A2E52"/>
                </a:solidFill>
              </a:rPr>
              <a:t> </a:t>
            </a:r>
            <a:r>
              <a:rPr lang="pl-PL" sz="1600" dirty="0" err="1">
                <a:solidFill>
                  <a:srgbClr val="1A2E52"/>
                </a:solidFill>
              </a:rPr>
              <a:t>consumption</a:t>
            </a:r>
            <a:br>
              <a:rPr lang="pl-PL" sz="1600" dirty="0">
                <a:solidFill>
                  <a:srgbClr val="1A2E52"/>
                </a:solidFill>
              </a:rPr>
            </a:br>
            <a:r>
              <a:rPr lang="pl-PL" sz="1600" dirty="0">
                <a:solidFill>
                  <a:srgbClr val="1A2E52"/>
                </a:solidFill>
              </a:rPr>
              <a:t>☐ </a:t>
            </a:r>
            <a:r>
              <a:rPr lang="pl-PL" sz="1600" dirty="0" err="1">
                <a:solidFill>
                  <a:srgbClr val="1A2E52"/>
                </a:solidFill>
              </a:rPr>
              <a:t>Reduce</a:t>
            </a:r>
            <a:r>
              <a:rPr lang="pl-PL" sz="1600" dirty="0">
                <a:solidFill>
                  <a:srgbClr val="1A2E52"/>
                </a:solidFill>
              </a:rPr>
              <a:t> </a:t>
            </a:r>
            <a:r>
              <a:rPr lang="pl-PL" sz="1600" dirty="0" err="1">
                <a:solidFill>
                  <a:srgbClr val="1A2E52"/>
                </a:solidFill>
              </a:rPr>
              <a:t>water</a:t>
            </a:r>
            <a:r>
              <a:rPr lang="pl-PL" sz="1600" dirty="0">
                <a:solidFill>
                  <a:srgbClr val="1A2E52"/>
                </a:solidFill>
              </a:rPr>
              <a:t> </a:t>
            </a:r>
            <a:r>
              <a:rPr lang="pl-PL" sz="1600" dirty="0" err="1">
                <a:solidFill>
                  <a:srgbClr val="1A2E52"/>
                </a:solidFill>
              </a:rPr>
              <a:t>consumption</a:t>
            </a:r>
            <a:br>
              <a:rPr lang="pl-PL" sz="1600" dirty="0">
                <a:solidFill>
                  <a:srgbClr val="1A2E52"/>
                </a:solidFill>
              </a:rPr>
            </a:br>
            <a:r>
              <a:rPr lang="pl-PL" sz="1600" dirty="0">
                <a:solidFill>
                  <a:srgbClr val="1A2E52"/>
                </a:solidFill>
              </a:rPr>
              <a:t> x  </a:t>
            </a:r>
            <a:r>
              <a:rPr lang="pl-PL" sz="1600" dirty="0" err="1">
                <a:solidFill>
                  <a:srgbClr val="1A2E52"/>
                </a:solidFill>
              </a:rPr>
              <a:t>Extend</a:t>
            </a:r>
            <a:r>
              <a:rPr lang="pl-PL" sz="1600" dirty="0">
                <a:solidFill>
                  <a:srgbClr val="1A2E52"/>
                </a:solidFill>
              </a:rPr>
              <a:t> </a:t>
            </a:r>
            <a:r>
              <a:rPr lang="pl-PL" sz="1600" dirty="0" err="1">
                <a:solidFill>
                  <a:srgbClr val="1A2E52"/>
                </a:solidFill>
              </a:rPr>
              <a:t>equipment</a:t>
            </a:r>
            <a:r>
              <a:rPr lang="pl-PL" sz="1600" dirty="0">
                <a:solidFill>
                  <a:srgbClr val="1A2E52"/>
                </a:solidFill>
              </a:rPr>
              <a:t> </a:t>
            </a:r>
            <a:r>
              <a:rPr lang="pl-PL" sz="1600" dirty="0" err="1">
                <a:solidFill>
                  <a:srgbClr val="1A2E52"/>
                </a:solidFill>
              </a:rPr>
              <a:t>lifetime</a:t>
            </a:r>
            <a:br>
              <a:rPr lang="pl-PL" sz="1600" dirty="0">
                <a:solidFill>
                  <a:srgbClr val="1A2E52"/>
                </a:solidFill>
              </a:rPr>
            </a:br>
            <a:r>
              <a:rPr lang="pl-PL" sz="1600" dirty="0">
                <a:solidFill>
                  <a:srgbClr val="1A2E52"/>
                </a:solidFill>
              </a:rPr>
              <a:t> x  </a:t>
            </a:r>
            <a:r>
              <a:rPr lang="pl-PL" sz="1600" dirty="0" err="1">
                <a:solidFill>
                  <a:srgbClr val="1A2E52"/>
                </a:solidFill>
              </a:rPr>
              <a:t>Reduce</a:t>
            </a:r>
            <a:r>
              <a:rPr lang="pl-PL" sz="1600" dirty="0">
                <a:solidFill>
                  <a:srgbClr val="1A2E52"/>
                </a:solidFill>
              </a:rPr>
              <a:t> waste</a:t>
            </a:r>
            <a:br>
              <a:rPr lang="pl-PL" sz="1600" dirty="0">
                <a:solidFill>
                  <a:srgbClr val="1A2E52"/>
                </a:solidFill>
              </a:rPr>
            </a:br>
            <a:r>
              <a:rPr lang="pl-PL" sz="1600" dirty="0">
                <a:solidFill>
                  <a:srgbClr val="1A2E52"/>
                </a:solidFill>
              </a:rPr>
              <a:t>☐ </a:t>
            </a:r>
            <a:r>
              <a:rPr lang="pl-PL" sz="1600" dirty="0" err="1">
                <a:solidFill>
                  <a:srgbClr val="1A2E52"/>
                </a:solidFill>
              </a:rPr>
              <a:t>Improve</a:t>
            </a:r>
            <a:r>
              <a:rPr lang="pl-PL" sz="1600" dirty="0">
                <a:solidFill>
                  <a:srgbClr val="1A2E52"/>
                </a:solidFill>
              </a:rPr>
              <a:t> </a:t>
            </a:r>
            <a:r>
              <a:rPr lang="pl-PL" sz="1600" dirty="0" err="1">
                <a:solidFill>
                  <a:srgbClr val="1A2E52"/>
                </a:solidFill>
              </a:rPr>
              <a:t>efficiency</a:t>
            </a:r>
            <a:br>
              <a:rPr lang="pl-PL" sz="1600" dirty="0">
                <a:solidFill>
                  <a:srgbClr val="1A2E52"/>
                </a:solidFill>
              </a:rPr>
            </a:br>
            <a:r>
              <a:rPr lang="pl-PL" sz="1600" dirty="0">
                <a:solidFill>
                  <a:srgbClr val="1A2E52"/>
                </a:solidFill>
              </a:rPr>
              <a:t> x </a:t>
            </a:r>
            <a:r>
              <a:rPr lang="pl-PL" sz="1600" dirty="0" err="1">
                <a:solidFill>
                  <a:srgbClr val="1A2E52"/>
                </a:solidFill>
              </a:rPr>
              <a:t>Reduce</a:t>
            </a:r>
            <a:r>
              <a:rPr lang="pl-PL" sz="1600" dirty="0">
                <a:solidFill>
                  <a:srgbClr val="1A2E52"/>
                </a:solidFill>
              </a:rPr>
              <a:t> </a:t>
            </a:r>
            <a:r>
              <a:rPr lang="pl-PL" sz="1600" dirty="0" err="1">
                <a:solidFill>
                  <a:srgbClr val="1A2E52"/>
                </a:solidFill>
              </a:rPr>
              <a:t>failures</a:t>
            </a:r>
            <a:r>
              <a:rPr lang="pl-PL" sz="1600" dirty="0">
                <a:solidFill>
                  <a:srgbClr val="1A2E52"/>
                </a:solidFill>
              </a:rPr>
              <a:t>/</a:t>
            </a:r>
            <a:r>
              <a:rPr lang="pl-PL" sz="1600" dirty="0" err="1">
                <a:solidFill>
                  <a:srgbClr val="1A2E52"/>
                </a:solidFill>
              </a:rPr>
              <a:t>losses</a:t>
            </a:r>
            <a:endParaRPr lang="pl-PL" sz="1600" dirty="0">
              <a:solidFill>
                <a:srgbClr val="1A2E52"/>
              </a:solidFill>
            </a:endParaRPr>
          </a:p>
          <a:p>
            <a:r>
              <a:rPr lang="pl-PL" sz="2000" b="1" dirty="0" err="1">
                <a:solidFill>
                  <a:srgbClr val="1A2E52"/>
                </a:solidFill>
              </a:rPr>
              <a:t>Expected</a:t>
            </a:r>
            <a:r>
              <a:rPr lang="pl-PL" sz="2000" b="1" dirty="0">
                <a:solidFill>
                  <a:srgbClr val="1A2E52"/>
                </a:solidFill>
              </a:rPr>
              <a:t> </a:t>
            </a:r>
            <a:r>
              <a:rPr lang="pl-PL" sz="2000" b="1" dirty="0" err="1">
                <a:solidFill>
                  <a:srgbClr val="1A2E52"/>
                </a:solidFill>
              </a:rPr>
              <a:t>environmental</a:t>
            </a:r>
            <a:r>
              <a:rPr lang="pl-PL" sz="2000" b="1" dirty="0">
                <a:solidFill>
                  <a:srgbClr val="1A2E52"/>
                </a:solidFill>
              </a:rPr>
              <a:t> </a:t>
            </a:r>
            <a:r>
              <a:rPr lang="pl-PL" sz="2000" b="1" dirty="0" err="1">
                <a:solidFill>
                  <a:srgbClr val="1A2E52"/>
                </a:solidFill>
              </a:rPr>
              <a:t>benefits</a:t>
            </a:r>
            <a:r>
              <a:rPr lang="pl-PL" sz="2000" b="1" dirty="0">
                <a:solidFill>
                  <a:srgbClr val="1A2E52"/>
                </a:solidFill>
              </a:rPr>
              <a:t>:</a:t>
            </a:r>
          </a:p>
          <a:p>
            <a:r>
              <a:rPr lang="en-GB" sz="1500" dirty="0"/>
              <a:t>By precisely mapping structural resonance frequencies, </a:t>
            </a:r>
            <a:r>
              <a:rPr lang="pl-PL" sz="1500" dirty="0"/>
              <a:t>we</a:t>
            </a:r>
            <a:r>
              <a:rPr lang="en-GB" sz="1500" dirty="0"/>
              <a:t> can modify physical designs or implement targeted damping solutions to eliminate high-amplitude vibrations</a:t>
            </a:r>
            <a:r>
              <a:rPr lang="pl-PL" sz="1500" dirty="0"/>
              <a:t>, </a:t>
            </a:r>
            <a:r>
              <a:rPr lang="pl-PL" sz="1500" dirty="0" err="1"/>
              <a:t>or</a:t>
            </a:r>
            <a:r>
              <a:rPr lang="pl-PL" sz="1500" dirty="0"/>
              <a:t> for </a:t>
            </a:r>
            <a:r>
              <a:rPr lang="pl-PL" sz="1500" dirty="0" err="1"/>
              <a:t>example</a:t>
            </a:r>
            <a:r>
              <a:rPr lang="pl-PL" sz="1500" dirty="0"/>
              <a:t> </a:t>
            </a:r>
            <a:r>
              <a:rPr lang="pl-PL" sz="1500" dirty="0" err="1"/>
              <a:t>determine</a:t>
            </a:r>
            <a:r>
              <a:rPr lang="pl-PL" sz="1500" dirty="0"/>
              <a:t> the </a:t>
            </a:r>
            <a:r>
              <a:rPr lang="pl-PL" sz="1500" dirty="0" err="1"/>
              <a:t>spindle</a:t>
            </a:r>
            <a:r>
              <a:rPr lang="pl-PL" sz="1500" dirty="0"/>
              <a:t> RPM </a:t>
            </a:r>
            <a:r>
              <a:rPr lang="pl-PL" sz="1500" dirty="0" err="1"/>
              <a:t>values</a:t>
            </a:r>
            <a:r>
              <a:rPr lang="pl-PL" sz="1500" dirty="0"/>
              <a:t>, </a:t>
            </a:r>
            <a:r>
              <a:rPr lang="pl-PL" sz="1500" dirty="0" err="1"/>
              <a:t>which</a:t>
            </a:r>
            <a:r>
              <a:rPr lang="pl-PL" sz="1500" dirty="0"/>
              <a:t> </a:t>
            </a:r>
            <a:r>
              <a:rPr lang="pl-PL" sz="1500" dirty="0" err="1"/>
              <a:t>should</a:t>
            </a:r>
            <a:r>
              <a:rPr lang="pl-PL" sz="1500" dirty="0"/>
              <a:t> be </a:t>
            </a:r>
            <a:r>
              <a:rPr lang="pl-PL" sz="1500" dirty="0" err="1"/>
              <a:t>avoided</a:t>
            </a:r>
            <a:r>
              <a:rPr lang="pl-PL" sz="1500" dirty="0"/>
              <a:t> </a:t>
            </a:r>
            <a:r>
              <a:rPr lang="pl-PL" sz="1500" dirty="0" err="1"/>
              <a:t>during</a:t>
            </a:r>
            <a:r>
              <a:rPr lang="pl-PL" sz="1500" dirty="0"/>
              <a:t> </a:t>
            </a:r>
            <a:r>
              <a:rPr lang="pl-PL" sz="1500" dirty="0" err="1"/>
              <a:t>operation</a:t>
            </a:r>
            <a:r>
              <a:rPr lang="en-GB" sz="1500" dirty="0"/>
              <a:t>. This directly prevents premature material fatigue, dramatically extending the operating lifetime of industrial machinery and components. Consequently, this lowers the raw material footprint, minimizes scrap metal waste generation, and dampens acoustic noise pollution in the lab or workshop</a:t>
            </a:r>
            <a:endParaRPr lang="pl-PL" sz="2000" dirty="0">
              <a:solidFill>
                <a:srgbClr val="1A2E52"/>
              </a:solidFill>
            </a:endParaRPr>
          </a:p>
          <a:p>
            <a:r>
              <a:rPr lang="pl-PL" sz="2000" b="1" dirty="0" err="1">
                <a:solidFill>
                  <a:srgbClr val="1A2E52"/>
                </a:solidFill>
              </a:rPr>
              <a:t>GreenComp</a:t>
            </a:r>
            <a:r>
              <a:rPr lang="pl-PL" sz="2000" b="1" dirty="0">
                <a:solidFill>
                  <a:srgbClr val="1A2E52"/>
                </a:solidFill>
              </a:rPr>
              <a:t> </a:t>
            </a:r>
            <a:r>
              <a:rPr lang="pl-PL" sz="2000" b="1" dirty="0" err="1">
                <a:solidFill>
                  <a:srgbClr val="1A2E52"/>
                </a:solidFill>
              </a:rPr>
              <a:t>competences</a:t>
            </a:r>
            <a:r>
              <a:rPr lang="pl-PL" sz="2000" b="1" dirty="0">
                <a:solidFill>
                  <a:srgbClr val="1A2E52"/>
                </a:solidFill>
              </a:rPr>
              <a:t> </a:t>
            </a:r>
            <a:r>
              <a:rPr lang="pl-PL" sz="2000" b="1" dirty="0" err="1">
                <a:solidFill>
                  <a:srgbClr val="1A2E52"/>
                </a:solidFill>
              </a:rPr>
              <a:t>involved</a:t>
            </a:r>
            <a:r>
              <a:rPr lang="pl-PL" sz="2000" b="1" dirty="0">
                <a:solidFill>
                  <a:srgbClr val="1A2E52"/>
                </a:solidFill>
              </a:rPr>
              <a:t>:</a:t>
            </a:r>
          </a:p>
          <a:p>
            <a:r>
              <a:rPr lang="pl-PL" sz="1600" dirty="0">
                <a:solidFill>
                  <a:srgbClr val="1A2E52"/>
                </a:solidFill>
              </a:rPr>
              <a:t> x Systems </a:t>
            </a:r>
            <a:r>
              <a:rPr lang="pl-PL" sz="1600" dirty="0" err="1">
                <a:solidFill>
                  <a:srgbClr val="1A2E52"/>
                </a:solidFill>
              </a:rPr>
              <a:t>thinking</a:t>
            </a:r>
            <a:br>
              <a:rPr lang="pl-PL" sz="1600" dirty="0">
                <a:solidFill>
                  <a:srgbClr val="1A2E52"/>
                </a:solidFill>
              </a:rPr>
            </a:br>
            <a:r>
              <a:rPr lang="pl-PL" sz="1600" dirty="0">
                <a:solidFill>
                  <a:srgbClr val="1A2E52"/>
                </a:solidFill>
              </a:rPr>
              <a:t> x Problem </a:t>
            </a:r>
            <a:r>
              <a:rPr lang="pl-PL" sz="1600" dirty="0" err="1">
                <a:solidFill>
                  <a:srgbClr val="1A2E52"/>
                </a:solidFill>
              </a:rPr>
              <a:t>solving</a:t>
            </a:r>
            <a:br>
              <a:rPr lang="pl-PL" sz="1600" dirty="0">
                <a:solidFill>
                  <a:srgbClr val="1A2E52"/>
                </a:solidFill>
              </a:rPr>
            </a:br>
            <a:r>
              <a:rPr lang="pl-PL" sz="1600" dirty="0">
                <a:solidFill>
                  <a:srgbClr val="1A2E52"/>
                </a:solidFill>
              </a:rPr>
              <a:t> x Collaboration</a:t>
            </a:r>
            <a:br>
              <a:rPr lang="pl-PL" sz="1600" dirty="0">
                <a:solidFill>
                  <a:srgbClr val="1A2E52"/>
                </a:solidFill>
              </a:rPr>
            </a:br>
            <a:r>
              <a:rPr lang="pl-PL" sz="1600" dirty="0">
                <a:solidFill>
                  <a:srgbClr val="1A2E52"/>
                </a:solidFill>
              </a:rPr>
              <a:t> x Critical </a:t>
            </a:r>
            <a:r>
              <a:rPr lang="pl-PL" sz="1600" dirty="0" err="1">
                <a:solidFill>
                  <a:srgbClr val="1A2E52"/>
                </a:solidFill>
              </a:rPr>
              <a:t>thinking</a:t>
            </a:r>
            <a:br>
              <a:rPr lang="pl-PL" sz="1600" dirty="0">
                <a:solidFill>
                  <a:srgbClr val="1A2E52"/>
                </a:solidFill>
              </a:rPr>
            </a:br>
            <a:r>
              <a:rPr lang="pl-PL" sz="1600" dirty="0">
                <a:solidFill>
                  <a:srgbClr val="1A2E52"/>
                </a:solidFill>
              </a:rPr>
              <a:t> x </a:t>
            </a:r>
            <a:r>
              <a:rPr lang="pl-PL" sz="1600" dirty="0" err="1">
                <a:solidFill>
                  <a:srgbClr val="1A2E52"/>
                </a:solidFill>
              </a:rPr>
              <a:t>Responsibility</a:t>
            </a:r>
            <a:endParaRPr lang="pl-PL" sz="1600" dirty="0">
              <a:solidFill>
                <a:srgbClr val="1A2E52"/>
              </a:solidFill>
            </a:endParaRPr>
          </a:p>
        </p:txBody>
      </p:sp>
    </p:spTree>
    <p:extLst>
      <p:ext uri="{BB962C8B-B14F-4D97-AF65-F5344CB8AC3E}">
        <p14:creationId xmlns:p14="http://schemas.microsoft.com/office/powerpoint/2010/main" val="1904833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E3887-0118-3EAB-ECA9-F193035F734D}"/>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138164E4-BB09-BA71-E1AE-350F29605E8F}"/>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314752EC-A5B3-D68A-992F-191FE0E75D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4A1CC507-CADB-3744-8D8B-5F8580E8F9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6A5A8C57-BD52-0C9E-0998-20B209217B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6FB81716-4E7F-955A-E844-AEE0870C34AD}"/>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A081D491-8220-329F-7D5E-D5FE65FC506E}"/>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A8B2B942-83F2-372A-984C-669355B1C6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C4B939A0-3421-8E66-B36B-252F28F780DB}"/>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D9F1B66D-44B8-B84C-2C51-A4745DF56F29}"/>
              </a:ext>
            </a:extLst>
          </p:cNvPr>
          <p:cNvSpPr txBox="1"/>
          <p:nvPr/>
        </p:nvSpPr>
        <p:spPr>
          <a:xfrm>
            <a:off x="577392" y="847567"/>
            <a:ext cx="6094428" cy="400110"/>
          </a:xfrm>
          <a:prstGeom prst="rect">
            <a:avLst/>
          </a:prstGeom>
          <a:noFill/>
        </p:spPr>
        <p:txBody>
          <a:bodyPr wrap="square">
            <a:spAutoFit/>
          </a:bodyPr>
          <a:lstStyle/>
          <a:p>
            <a:r>
              <a:rPr lang="pl-PL" sz="2000" b="1" dirty="0">
                <a:solidFill>
                  <a:srgbClr val="1A2E52"/>
                </a:solidFill>
              </a:rPr>
              <a:t>Activity: Project Planning </a:t>
            </a:r>
            <a:r>
              <a:rPr lang="pl-PL" sz="2000" b="1" dirty="0">
                <a:solidFill>
                  <a:srgbClr val="00B0F0"/>
                </a:solidFill>
              </a:rPr>
              <a:t>Time for </a:t>
            </a:r>
            <a:r>
              <a:rPr lang="pl-PL" sz="2000" b="1" dirty="0" err="1">
                <a:solidFill>
                  <a:srgbClr val="00B0F0"/>
                </a:solidFill>
              </a:rPr>
              <a:t>students</a:t>
            </a:r>
            <a:r>
              <a:rPr lang="pl-PL" sz="2000" b="1" dirty="0">
                <a:solidFill>
                  <a:srgbClr val="00B0F0"/>
                </a:solidFill>
              </a:rPr>
              <a:t>: 45 min</a:t>
            </a:r>
            <a:endParaRPr lang="pl-PL" sz="2000" b="1" dirty="0">
              <a:solidFill>
                <a:srgbClr val="00B0F0"/>
              </a:solidFill>
              <a:latin typeface="Colber"/>
            </a:endParaRPr>
          </a:p>
        </p:txBody>
      </p:sp>
      <p:graphicFrame>
        <p:nvGraphicFramePr>
          <p:cNvPr id="5" name="Tabela 4">
            <a:extLst>
              <a:ext uri="{FF2B5EF4-FFF2-40B4-BE49-F238E27FC236}">
                <a16:creationId xmlns:a16="http://schemas.microsoft.com/office/drawing/2014/main" id="{7E43885E-2BF8-90E7-2810-B1BDA05268FF}"/>
              </a:ext>
            </a:extLst>
          </p:cNvPr>
          <p:cNvGraphicFramePr>
            <a:graphicFrameLocks noGrp="1"/>
          </p:cNvGraphicFramePr>
          <p:nvPr>
            <p:extLst>
              <p:ext uri="{D42A27DB-BD31-4B8C-83A1-F6EECF244321}">
                <p14:modId xmlns:p14="http://schemas.microsoft.com/office/powerpoint/2010/main" val="3032561072"/>
              </p:ext>
            </p:extLst>
          </p:nvPr>
        </p:nvGraphicFramePr>
        <p:xfrm>
          <a:off x="828414" y="1484326"/>
          <a:ext cx="8422057" cy="4389120"/>
        </p:xfrm>
        <a:graphic>
          <a:graphicData uri="http://schemas.openxmlformats.org/drawingml/2006/table">
            <a:tbl>
              <a:tblPr firstRow="1" bandCol="1">
                <a:tableStyleId>{B301B821-A1FF-4177-AEE7-76D212191A09}</a:tableStyleId>
              </a:tblPr>
              <a:tblGrid>
                <a:gridCol w="3505200">
                  <a:extLst>
                    <a:ext uri="{9D8B030D-6E8A-4147-A177-3AD203B41FA5}">
                      <a16:colId xmlns:a16="http://schemas.microsoft.com/office/drawing/2014/main" val="2170614768"/>
                    </a:ext>
                  </a:extLst>
                </a:gridCol>
                <a:gridCol w="3505200">
                  <a:extLst>
                    <a:ext uri="{9D8B030D-6E8A-4147-A177-3AD203B41FA5}">
                      <a16:colId xmlns:a16="http://schemas.microsoft.com/office/drawing/2014/main" val="1629322904"/>
                    </a:ext>
                  </a:extLst>
                </a:gridCol>
                <a:gridCol w="1411657">
                  <a:extLst>
                    <a:ext uri="{9D8B030D-6E8A-4147-A177-3AD203B41FA5}">
                      <a16:colId xmlns:a16="http://schemas.microsoft.com/office/drawing/2014/main" val="2628638929"/>
                    </a:ext>
                  </a:extLst>
                </a:gridCol>
              </a:tblGrid>
              <a:tr h="0">
                <a:tc>
                  <a:txBody>
                    <a:bodyPr/>
                    <a:lstStyle/>
                    <a:p>
                      <a:pPr>
                        <a:buNone/>
                      </a:pPr>
                      <a:r>
                        <a:rPr lang="pl-PL"/>
                        <a:t>Task</a:t>
                      </a:r>
                    </a:p>
                  </a:txBody>
                  <a:tcPr anchor="ctr"/>
                </a:tc>
                <a:tc>
                  <a:txBody>
                    <a:bodyPr/>
                    <a:lstStyle/>
                    <a:p>
                      <a:pPr>
                        <a:buNone/>
                      </a:pPr>
                      <a:r>
                        <a:rPr lang="pl-PL" dirty="0" err="1"/>
                        <a:t>Responsible</a:t>
                      </a:r>
                      <a:r>
                        <a:rPr lang="pl-PL" dirty="0"/>
                        <a:t> person</a:t>
                      </a:r>
                    </a:p>
                  </a:txBody>
                  <a:tcPr anchor="ctr"/>
                </a:tc>
                <a:tc>
                  <a:txBody>
                    <a:bodyPr/>
                    <a:lstStyle/>
                    <a:p>
                      <a:pPr>
                        <a:buNone/>
                      </a:pPr>
                      <a:r>
                        <a:rPr lang="pl-PL"/>
                        <a:t>Deadline</a:t>
                      </a:r>
                    </a:p>
                  </a:txBody>
                  <a:tcPr anchor="ctr"/>
                </a:tc>
                <a:extLst>
                  <a:ext uri="{0D108BD9-81ED-4DB2-BD59-A6C34878D82A}">
                    <a16:rowId xmlns:a16="http://schemas.microsoft.com/office/drawing/2014/main" val="3884354893"/>
                  </a:ext>
                </a:extLst>
              </a:tr>
              <a:tr h="0">
                <a:tc>
                  <a:txBody>
                    <a:bodyPr/>
                    <a:lstStyle/>
                    <a:p>
                      <a:pPr>
                        <a:buNone/>
                      </a:pPr>
                      <a:r>
                        <a:rPr lang="pl-PL"/>
                        <a:t>Problem analysis</a:t>
                      </a:r>
                    </a:p>
                  </a:txBody>
                  <a:tcPr anchor="ctr"/>
                </a:tc>
                <a:tc>
                  <a:txBody>
                    <a:bodyPr/>
                    <a:lstStyle/>
                    <a:p>
                      <a:pPr>
                        <a:buNone/>
                      </a:pPr>
                      <a:r>
                        <a:rPr lang="pl-PL" dirty="0"/>
                        <a:t>Patryk Januś</a:t>
                      </a:r>
                    </a:p>
                  </a:txBody>
                  <a:tcPr anchor="ctr"/>
                </a:tc>
                <a:tc>
                  <a:txBody>
                    <a:bodyPr/>
                    <a:lstStyle/>
                    <a:p>
                      <a:pPr>
                        <a:buNone/>
                      </a:pPr>
                      <a:r>
                        <a:rPr lang="pl-PL" dirty="0"/>
                        <a:t>23.05.2026</a:t>
                      </a:r>
                    </a:p>
                  </a:txBody>
                  <a:tcPr anchor="ctr"/>
                </a:tc>
                <a:extLst>
                  <a:ext uri="{0D108BD9-81ED-4DB2-BD59-A6C34878D82A}">
                    <a16:rowId xmlns:a16="http://schemas.microsoft.com/office/drawing/2014/main" val="1865449027"/>
                  </a:ext>
                </a:extLst>
              </a:tr>
              <a:tr h="0">
                <a:tc>
                  <a:txBody>
                    <a:bodyPr/>
                    <a:lstStyle/>
                    <a:p>
                      <a:pPr>
                        <a:buNone/>
                      </a:pPr>
                      <a:r>
                        <a:rPr lang="pl-PL"/>
                        <a:t>Sensor selection</a:t>
                      </a:r>
                    </a:p>
                  </a:txBody>
                  <a:tcPr anchor="ctr"/>
                </a:tc>
                <a:tc>
                  <a:txBody>
                    <a:bodyPr/>
                    <a:lstStyle/>
                    <a:p>
                      <a:pPr>
                        <a:buNone/>
                      </a:pPr>
                      <a:r>
                        <a:rPr lang="pl-PL" dirty="0"/>
                        <a:t>Patryk </a:t>
                      </a:r>
                      <a:r>
                        <a:rPr lang="pl-PL" dirty="0" err="1"/>
                        <a:t>Reiter</a:t>
                      </a:r>
                      <a:endParaRPr lang="pl-PL"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23.05.2026</a:t>
                      </a:r>
                    </a:p>
                  </a:txBody>
                  <a:tcPr anchor="ctr"/>
                </a:tc>
                <a:extLst>
                  <a:ext uri="{0D108BD9-81ED-4DB2-BD59-A6C34878D82A}">
                    <a16:rowId xmlns:a16="http://schemas.microsoft.com/office/drawing/2014/main" val="4111866147"/>
                  </a:ext>
                </a:extLst>
              </a:tr>
              <a:tr h="0">
                <a:tc>
                  <a:txBody>
                    <a:bodyPr/>
                    <a:lstStyle/>
                    <a:p>
                      <a:pPr>
                        <a:buNone/>
                      </a:pPr>
                      <a:r>
                        <a:rPr lang="pl-PL" dirty="0"/>
                        <a:t>DAQ setup, </a:t>
                      </a:r>
                      <a:r>
                        <a:rPr lang="pl-PL" dirty="0" err="1"/>
                        <a:t>measurement</a:t>
                      </a:r>
                      <a:r>
                        <a:rPr lang="pl-PL" dirty="0"/>
                        <a:t> and </a:t>
                      </a:r>
                      <a:r>
                        <a:rPr lang="pl-PL" dirty="0" err="1"/>
                        <a:t>analysis</a:t>
                      </a:r>
                      <a:r>
                        <a:rPr lang="pl-PL" dirty="0"/>
                        <a:t> service in C#</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Patryk Januś</a:t>
                      </a:r>
                    </a:p>
                  </a:txBody>
                  <a:tcPr anchor="ctr"/>
                </a:tc>
                <a:tc>
                  <a:txBody>
                    <a:bodyPr/>
                    <a:lstStyle/>
                    <a:p>
                      <a:pPr>
                        <a:buNone/>
                      </a:pPr>
                      <a:r>
                        <a:rPr lang="pl-PL" dirty="0"/>
                        <a:t>01.06.2026</a:t>
                      </a:r>
                    </a:p>
                  </a:txBody>
                  <a:tcPr anchor="ctr"/>
                </a:tc>
                <a:extLst>
                  <a:ext uri="{0D108BD9-81ED-4DB2-BD59-A6C34878D82A}">
                    <a16:rowId xmlns:a16="http://schemas.microsoft.com/office/drawing/2014/main" val="3982205636"/>
                  </a:ext>
                </a:extLst>
              </a:tr>
              <a:tr h="320040">
                <a:tc>
                  <a:txBody>
                    <a:bodyPr/>
                    <a:lstStyle/>
                    <a:p>
                      <a:pPr>
                        <a:buNone/>
                      </a:pPr>
                      <a:r>
                        <a:rPr lang="pl-PL" dirty="0"/>
                        <a:t>Web </a:t>
                      </a:r>
                      <a:r>
                        <a:rPr lang="pl-PL" dirty="0" err="1"/>
                        <a:t>Api</a:t>
                      </a:r>
                      <a:r>
                        <a:rPr lang="pl-PL" dirty="0"/>
                        <a:t> </a:t>
                      </a:r>
                      <a:r>
                        <a:rPr lang="pl-PL" dirty="0" err="1"/>
                        <a:t>backend</a:t>
                      </a:r>
                      <a:r>
                        <a:rPr lang="pl-PL" dirty="0"/>
                        <a:t>, </a:t>
                      </a:r>
                      <a:r>
                        <a:rPr lang="pl-PL" dirty="0" err="1"/>
                        <a:t>database</a:t>
                      </a:r>
                      <a:r>
                        <a:rPr lang="pl-PL" dirty="0"/>
                        <a:t> </a:t>
                      </a:r>
                      <a:r>
                        <a:rPr lang="pl-PL" dirty="0" err="1"/>
                        <a:t>integration</a:t>
                      </a:r>
                      <a:endParaRPr lang="pl-PL"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Patryk </a:t>
                      </a:r>
                      <a:r>
                        <a:rPr lang="pl-PL" dirty="0" err="1"/>
                        <a:t>Reiter</a:t>
                      </a:r>
                      <a:endParaRPr lang="pl-PL" dirty="0"/>
                    </a:p>
                    <a:p>
                      <a:pPr>
                        <a:buNone/>
                      </a:pPr>
                      <a:endParaRPr lang="pl-PL"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01.06.2026</a:t>
                      </a:r>
                    </a:p>
                    <a:p>
                      <a:pPr>
                        <a:buNone/>
                      </a:pPr>
                      <a:endParaRPr lang="pl-PL" dirty="0"/>
                    </a:p>
                  </a:txBody>
                  <a:tcPr anchor="ctr"/>
                </a:tc>
                <a:extLst>
                  <a:ext uri="{0D108BD9-81ED-4DB2-BD59-A6C34878D82A}">
                    <a16:rowId xmlns:a16="http://schemas.microsoft.com/office/drawing/2014/main" val="1433314639"/>
                  </a:ext>
                </a:extLst>
              </a:tr>
              <a:tr h="320040">
                <a:tc>
                  <a:txBody>
                    <a:bodyPr/>
                    <a:lstStyle/>
                    <a:p>
                      <a:pPr>
                        <a:buNone/>
                      </a:pPr>
                      <a:r>
                        <a:rPr lang="pl-PL" dirty="0"/>
                        <a:t>Hardware setup, Controlling CNC</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Szymon Korzuch</a:t>
                      </a:r>
                    </a:p>
                  </a:txBody>
                  <a:tcPr anchor="ctr"/>
                </a:tc>
                <a:tc>
                  <a:txBody>
                    <a:bodyPr/>
                    <a:lstStyle/>
                    <a:p>
                      <a:pPr>
                        <a:buNone/>
                      </a:pPr>
                      <a:r>
                        <a:rPr lang="pl-PL" dirty="0"/>
                        <a:t>01.06.2026</a:t>
                      </a:r>
                    </a:p>
                  </a:txBody>
                  <a:tcPr anchor="ctr"/>
                </a:tc>
                <a:extLst>
                  <a:ext uri="{0D108BD9-81ED-4DB2-BD59-A6C34878D82A}">
                    <a16:rowId xmlns:a16="http://schemas.microsoft.com/office/drawing/2014/main" val="734889133"/>
                  </a:ext>
                </a:extLst>
              </a:tr>
              <a:tr h="320040">
                <a:tc>
                  <a:txBody>
                    <a:bodyPr/>
                    <a:lstStyle/>
                    <a:p>
                      <a:pPr>
                        <a:buNone/>
                      </a:pPr>
                      <a:r>
                        <a:rPr lang="pl-PL" dirty="0"/>
                        <a:t>Front end for </a:t>
                      </a:r>
                      <a:r>
                        <a:rPr lang="pl-PL" dirty="0" err="1"/>
                        <a:t>displaying</a:t>
                      </a:r>
                      <a:r>
                        <a:rPr lang="pl-PL" dirty="0"/>
                        <a:t> </a:t>
                      </a:r>
                      <a:r>
                        <a:rPr lang="pl-PL" dirty="0" err="1"/>
                        <a:t>results</a:t>
                      </a:r>
                      <a:r>
                        <a:rPr lang="pl-PL" dirty="0"/>
                        <a:t>, </a:t>
                      </a:r>
                      <a:r>
                        <a:rPr lang="pl-PL" dirty="0" err="1"/>
                        <a:t>measurement</a:t>
                      </a:r>
                      <a:r>
                        <a:rPr lang="pl-PL" dirty="0"/>
                        <a:t> </a:t>
                      </a:r>
                      <a:r>
                        <a:rPr lang="pl-PL" dirty="0" err="1"/>
                        <a:t>configuration</a:t>
                      </a:r>
                      <a:endParaRPr lang="pl-PL" dirty="0"/>
                    </a:p>
                  </a:txBody>
                  <a:tcPr anchor="ctr"/>
                </a:tc>
                <a:tc>
                  <a:txBody>
                    <a:bodyPr/>
                    <a:lstStyle/>
                    <a:p>
                      <a:pPr>
                        <a:buNone/>
                      </a:pPr>
                      <a:r>
                        <a:rPr lang="pl-PL" dirty="0"/>
                        <a:t>Natalia Szymeczko</a:t>
                      </a:r>
                    </a:p>
                  </a:txBody>
                  <a:tcPr anchor="ctr"/>
                </a:tc>
                <a:tc>
                  <a:txBody>
                    <a:bodyPr/>
                    <a:lstStyle/>
                    <a:p>
                      <a:pPr>
                        <a:buNone/>
                      </a:pPr>
                      <a:r>
                        <a:rPr lang="pl-PL" dirty="0"/>
                        <a:t>17.06.2026</a:t>
                      </a:r>
                    </a:p>
                  </a:txBody>
                  <a:tcPr anchor="ctr"/>
                </a:tc>
                <a:extLst>
                  <a:ext uri="{0D108BD9-81ED-4DB2-BD59-A6C34878D82A}">
                    <a16:rowId xmlns:a16="http://schemas.microsoft.com/office/drawing/2014/main" val="3979064249"/>
                  </a:ext>
                </a:extLst>
              </a:tr>
              <a:tr h="320040">
                <a:tc>
                  <a:txBody>
                    <a:bodyPr/>
                    <a:lstStyle/>
                    <a:p>
                      <a:pPr>
                        <a:buNone/>
                      </a:pPr>
                      <a:r>
                        <a:rPr lang="pl-PL" dirty="0" err="1"/>
                        <a:t>Result</a:t>
                      </a:r>
                      <a:r>
                        <a:rPr lang="pl-PL" dirty="0"/>
                        <a:t> </a:t>
                      </a:r>
                      <a:r>
                        <a:rPr lang="pl-PL" dirty="0" err="1"/>
                        <a:t>analysis</a:t>
                      </a:r>
                      <a:endParaRPr lang="pl-PL"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Natalia Szymeczko</a:t>
                      </a:r>
                    </a:p>
                    <a:p>
                      <a:pPr>
                        <a:buNone/>
                      </a:pPr>
                      <a:endParaRPr lang="pl-PL" dirty="0"/>
                    </a:p>
                  </a:txBody>
                  <a:tcPr anchor="ctr"/>
                </a:tc>
                <a:tc>
                  <a:txBody>
                    <a:bodyPr/>
                    <a:lstStyle/>
                    <a:p>
                      <a:pPr>
                        <a:buNone/>
                      </a:pPr>
                      <a:r>
                        <a:rPr lang="pl-PL" dirty="0"/>
                        <a:t>20.06.2026</a:t>
                      </a:r>
                    </a:p>
                  </a:txBody>
                  <a:tcPr anchor="ctr"/>
                </a:tc>
                <a:extLst>
                  <a:ext uri="{0D108BD9-81ED-4DB2-BD59-A6C34878D82A}">
                    <a16:rowId xmlns:a16="http://schemas.microsoft.com/office/drawing/2014/main" val="1563950330"/>
                  </a:ext>
                </a:extLst>
              </a:tr>
              <a:tr h="182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err="1"/>
                        <a:t>Final</a:t>
                      </a:r>
                      <a:r>
                        <a:rPr lang="pl-PL" dirty="0"/>
                        <a:t> </a:t>
                      </a:r>
                      <a:r>
                        <a:rPr lang="pl-PL" dirty="0" err="1"/>
                        <a:t>presentation</a:t>
                      </a:r>
                      <a:endParaRPr lang="pl-PL" dirty="0"/>
                    </a:p>
                  </a:txBody>
                  <a:tcPr anchor="ctr"/>
                </a:tc>
                <a:tc>
                  <a:txBody>
                    <a:bodyPr/>
                    <a:lstStyle/>
                    <a:p>
                      <a:pPr>
                        <a:buNone/>
                      </a:pPr>
                      <a:r>
                        <a:rPr lang="pl-PL" dirty="0"/>
                        <a:t>Szymon Korzuch</a:t>
                      </a:r>
                    </a:p>
                  </a:txBody>
                  <a:tcPr anchor="ctr"/>
                </a:tc>
                <a:tc>
                  <a:txBody>
                    <a:bodyPr/>
                    <a:lstStyle/>
                    <a:p>
                      <a:pPr>
                        <a:buNone/>
                      </a:pPr>
                      <a:r>
                        <a:rPr lang="pl-PL" dirty="0"/>
                        <a:t>24.06.2026</a:t>
                      </a:r>
                    </a:p>
                  </a:txBody>
                  <a:tcPr anchor="ctr"/>
                </a:tc>
                <a:extLst>
                  <a:ext uri="{0D108BD9-81ED-4DB2-BD59-A6C34878D82A}">
                    <a16:rowId xmlns:a16="http://schemas.microsoft.com/office/drawing/2014/main" val="4018608342"/>
                  </a:ext>
                </a:extLst>
              </a:tr>
            </a:tbl>
          </a:graphicData>
        </a:graphic>
      </p:graphicFrame>
      <p:sp>
        <p:nvSpPr>
          <p:cNvPr id="13" name="pole tekstowe 12">
            <a:extLst>
              <a:ext uri="{FF2B5EF4-FFF2-40B4-BE49-F238E27FC236}">
                <a16:creationId xmlns:a16="http://schemas.microsoft.com/office/drawing/2014/main" id="{B6BF4279-6DDA-30F2-9C6B-A193C123439A}"/>
              </a:ext>
            </a:extLst>
          </p:cNvPr>
          <p:cNvSpPr txBox="1"/>
          <p:nvPr/>
        </p:nvSpPr>
        <p:spPr>
          <a:xfrm>
            <a:off x="9334747" y="1484326"/>
            <a:ext cx="6094428" cy="1600438"/>
          </a:xfrm>
          <a:prstGeom prst="rect">
            <a:avLst/>
          </a:prstGeom>
          <a:noFill/>
        </p:spPr>
        <p:txBody>
          <a:bodyPr wrap="square">
            <a:spAutoFit/>
          </a:bodyPr>
          <a:lstStyle/>
          <a:p>
            <a:pPr>
              <a:buNone/>
            </a:pPr>
            <a:r>
              <a:rPr lang="pl-PL" b="1" dirty="0" err="1">
                <a:solidFill>
                  <a:srgbClr val="1A2E52"/>
                </a:solidFill>
              </a:rPr>
              <a:t>Communication</a:t>
            </a:r>
            <a:r>
              <a:rPr lang="pl-PL" b="1" dirty="0">
                <a:solidFill>
                  <a:srgbClr val="1A2E52"/>
                </a:solidFill>
              </a:rPr>
              <a:t> </a:t>
            </a:r>
            <a:r>
              <a:rPr lang="pl-PL" b="1" dirty="0" err="1">
                <a:solidFill>
                  <a:srgbClr val="1A2E52"/>
                </a:solidFill>
              </a:rPr>
              <a:t>method</a:t>
            </a:r>
            <a:r>
              <a:rPr lang="pl-PL" b="1" dirty="0">
                <a:solidFill>
                  <a:srgbClr val="1A2E52"/>
                </a:solidFill>
              </a:rPr>
              <a:t>:</a:t>
            </a:r>
          </a:p>
          <a:p>
            <a:pPr>
              <a:buNone/>
            </a:pPr>
            <a:r>
              <a:rPr lang="pl-PL" sz="1600" dirty="0">
                <a:solidFill>
                  <a:srgbClr val="1A2E52"/>
                </a:solidFill>
              </a:rPr>
              <a:t>☐ MS </a:t>
            </a:r>
            <a:r>
              <a:rPr lang="pl-PL" sz="1600" dirty="0" err="1">
                <a:solidFill>
                  <a:srgbClr val="1A2E52"/>
                </a:solidFill>
              </a:rPr>
              <a:t>Teams</a:t>
            </a:r>
            <a:br>
              <a:rPr lang="pl-PL" sz="1600" dirty="0">
                <a:solidFill>
                  <a:srgbClr val="1A2E52"/>
                </a:solidFill>
              </a:rPr>
            </a:br>
            <a:r>
              <a:rPr lang="pl-PL" sz="1600" dirty="0">
                <a:solidFill>
                  <a:srgbClr val="1A2E52"/>
                </a:solidFill>
              </a:rPr>
              <a:t> x  Messenger</a:t>
            </a:r>
            <a:br>
              <a:rPr lang="pl-PL" sz="1600" dirty="0">
                <a:solidFill>
                  <a:srgbClr val="1A2E52"/>
                </a:solidFill>
              </a:rPr>
            </a:br>
            <a:r>
              <a:rPr lang="pl-PL" sz="1600" dirty="0">
                <a:solidFill>
                  <a:srgbClr val="1A2E52"/>
                </a:solidFill>
              </a:rPr>
              <a:t>☐ WhatsApp</a:t>
            </a:r>
            <a:br>
              <a:rPr lang="pl-PL" sz="1600" dirty="0">
                <a:solidFill>
                  <a:srgbClr val="1A2E52"/>
                </a:solidFill>
              </a:rPr>
            </a:br>
            <a:r>
              <a:rPr lang="pl-PL" sz="1600" dirty="0">
                <a:solidFill>
                  <a:srgbClr val="1A2E52"/>
                </a:solidFill>
              </a:rPr>
              <a:t> x </a:t>
            </a:r>
            <a:r>
              <a:rPr lang="pl-PL" sz="1600" dirty="0" err="1">
                <a:solidFill>
                  <a:srgbClr val="1A2E52"/>
                </a:solidFill>
              </a:rPr>
              <a:t>Discord</a:t>
            </a:r>
            <a:br>
              <a:rPr lang="pl-PL" sz="1600" dirty="0">
                <a:solidFill>
                  <a:srgbClr val="1A2E52"/>
                </a:solidFill>
              </a:rPr>
            </a:br>
            <a:r>
              <a:rPr lang="pl-PL" sz="1600" dirty="0">
                <a:solidFill>
                  <a:srgbClr val="1A2E52"/>
                </a:solidFill>
              </a:rPr>
              <a:t>☐ </a:t>
            </a:r>
            <a:r>
              <a:rPr lang="pl-PL" sz="1600" dirty="0" err="1">
                <a:solidFill>
                  <a:srgbClr val="1A2E52"/>
                </a:solidFill>
              </a:rPr>
              <a:t>Other</a:t>
            </a:r>
            <a:r>
              <a:rPr lang="pl-PL" sz="1600" dirty="0">
                <a:solidFill>
                  <a:srgbClr val="1A2E52"/>
                </a:solidFill>
              </a:rPr>
              <a:t>: __________</a:t>
            </a:r>
          </a:p>
        </p:txBody>
      </p:sp>
    </p:spTree>
    <p:extLst>
      <p:ext uri="{BB962C8B-B14F-4D97-AF65-F5344CB8AC3E}">
        <p14:creationId xmlns:p14="http://schemas.microsoft.com/office/powerpoint/2010/main" val="559481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05B24-2E55-E831-6051-B7EE0F3DDEAA}"/>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FE4A43F7-9120-6930-6939-4531062DCA7E}"/>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1E01DDD2-75E0-E269-6047-F10905E43B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1EAD5B50-8BE6-09EF-AC58-AC030F4A26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E6F76DDC-602F-6058-741E-583E8A89C7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8E900FE3-AC55-B1E4-0779-859C59EB6BA2}"/>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AF5666A2-5634-B792-5B8D-03A2ABDCA44F}"/>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BB8B5944-A177-1C0C-F63A-A3D7837323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894CBDD4-D9C5-344E-C26D-D984EBA68FC9}"/>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C0620866-8AB6-CE9C-B078-21B530CFC688}"/>
              </a:ext>
            </a:extLst>
          </p:cNvPr>
          <p:cNvSpPr txBox="1"/>
          <p:nvPr/>
        </p:nvSpPr>
        <p:spPr>
          <a:xfrm>
            <a:off x="577392" y="847567"/>
            <a:ext cx="7903122" cy="707886"/>
          </a:xfrm>
          <a:prstGeom prst="rect">
            <a:avLst/>
          </a:prstGeom>
          <a:noFill/>
        </p:spPr>
        <p:txBody>
          <a:bodyPr wrap="square">
            <a:spAutoFit/>
          </a:bodyPr>
          <a:lstStyle/>
          <a:p>
            <a:r>
              <a:rPr lang="en-US" sz="2000" b="1" dirty="0">
                <a:solidFill>
                  <a:srgbClr val="1A2E52"/>
                </a:solidFill>
                <a:latin typeface="Colber"/>
              </a:rPr>
              <a:t>Activity: Project Planning</a:t>
            </a:r>
            <a:endParaRPr lang="pl-PL" sz="2000" b="1" dirty="0">
              <a:solidFill>
                <a:srgbClr val="1A2E52"/>
              </a:solidFill>
              <a:latin typeface="Colber"/>
            </a:endParaRPr>
          </a:p>
          <a:p>
            <a:r>
              <a:rPr lang="en-US" sz="2000" b="1" dirty="0">
                <a:solidFill>
                  <a:srgbClr val="1A2E52"/>
                </a:solidFill>
                <a:latin typeface="Colber"/>
              </a:rPr>
              <a:t>Risk Analysis</a:t>
            </a:r>
            <a:r>
              <a:rPr lang="pl-PL" sz="2000" b="1" dirty="0">
                <a:solidFill>
                  <a:srgbClr val="1A2E52"/>
                </a:solidFill>
                <a:latin typeface="Colber"/>
              </a:rPr>
              <a:t> </a:t>
            </a:r>
            <a:r>
              <a:rPr lang="en-US" sz="2000" b="1" dirty="0">
                <a:solidFill>
                  <a:srgbClr val="00B0F0"/>
                </a:solidFill>
                <a:latin typeface="Colber"/>
              </a:rPr>
              <a:t>Time for students: included in 45 min block</a:t>
            </a:r>
            <a:endParaRPr lang="pl-PL" sz="2000" b="1" dirty="0">
              <a:solidFill>
                <a:srgbClr val="00B0F0"/>
              </a:solidFill>
              <a:latin typeface="Colber"/>
            </a:endParaRPr>
          </a:p>
        </p:txBody>
      </p:sp>
      <p:graphicFrame>
        <p:nvGraphicFramePr>
          <p:cNvPr id="5" name="Tabela 4">
            <a:extLst>
              <a:ext uri="{FF2B5EF4-FFF2-40B4-BE49-F238E27FC236}">
                <a16:creationId xmlns:a16="http://schemas.microsoft.com/office/drawing/2014/main" id="{4E3F4816-BE4F-6EAB-0322-0F1066810E82}"/>
              </a:ext>
            </a:extLst>
          </p:cNvPr>
          <p:cNvGraphicFramePr>
            <a:graphicFrameLocks noGrp="1"/>
          </p:cNvGraphicFramePr>
          <p:nvPr>
            <p:extLst>
              <p:ext uri="{D42A27DB-BD31-4B8C-83A1-F6EECF244321}">
                <p14:modId xmlns:p14="http://schemas.microsoft.com/office/powerpoint/2010/main" val="852178059"/>
              </p:ext>
            </p:extLst>
          </p:nvPr>
        </p:nvGraphicFramePr>
        <p:xfrm>
          <a:off x="828414" y="1887327"/>
          <a:ext cx="10515600" cy="2316480"/>
        </p:xfrm>
        <a:graphic>
          <a:graphicData uri="http://schemas.openxmlformats.org/drawingml/2006/table">
            <a:tbl>
              <a:tblPr firstRow="1" bandCol="1">
                <a:tableStyleId>{B301B821-A1FF-4177-AEE7-76D212191A09}</a:tableStyleId>
              </a:tblPr>
              <a:tblGrid>
                <a:gridCol w="3505200">
                  <a:extLst>
                    <a:ext uri="{9D8B030D-6E8A-4147-A177-3AD203B41FA5}">
                      <a16:colId xmlns:a16="http://schemas.microsoft.com/office/drawing/2014/main" val="2170614768"/>
                    </a:ext>
                  </a:extLst>
                </a:gridCol>
                <a:gridCol w="3505200">
                  <a:extLst>
                    <a:ext uri="{9D8B030D-6E8A-4147-A177-3AD203B41FA5}">
                      <a16:colId xmlns:a16="http://schemas.microsoft.com/office/drawing/2014/main" val="1629322904"/>
                    </a:ext>
                  </a:extLst>
                </a:gridCol>
                <a:gridCol w="3505200">
                  <a:extLst>
                    <a:ext uri="{9D8B030D-6E8A-4147-A177-3AD203B41FA5}">
                      <a16:colId xmlns:a16="http://schemas.microsoft.com/office/drawing/2014/main" val="2628638929"/>
                    </a:ext>
                  </a:extLst>
                </a:gridCol>
              </a:tblGrid>
              <a:tr h="0">
                <a:tc>
                  <a:txBody>
                    <a:bodyPr/>
                    <a:lstStyle/>
                    <a:p>
                      <a:pPr>
                        <a:buNone/>
                      </a:pPr>
                      <a:r>
                        <a:rPr lang="pl-PL" dirty="0" err="1"/>
                        <a:t>Potential</a:t>
                      </a:r>
                      <a:r>
                        <a:rPr lang="pl-PL" dirty="0"/>
                        <a:t> problem</a:t>
                      </a:r>
                    </a:p>
                  </a:txBody>
                  <a:tcPr anchor="ctr"/>
                </a:tc>
                <a:tc>
                  <a:txBody>
                    <a:bodyPr/>
                    <a:lstStyle/>
                    <a:p>
                      <a:pPr>
                        <a:buNone/>
                      </a:pPr>
                      <a:r>
                        <a:rPr lang="pl-PL" dirty="0" err="1"/>
                        <a:t>Potential</a:t>
                      </a:r>
                      <a:r>
                        <a:rPr lang="pl-PL" dirty="0"/>
                        <a:t> </a:t>
                      </a:r>
                      <a:r>
                        <a:rPr lang="pl-PL" dirty="0" err="1"/>
                        <a:t>impact</a:t>
                      </a:r>
                      <a:endParaRPr lang="pl-PL" dirty="0"/>
                    </a:p>
                  </a:txBody>
                  <a:tcPr anchor="ctr"/>
                </a:tc>
                <a:tc>
                  <a:txBody>
                    <a:bodyPr/>
                    <a:lstStyle/>
                    <a:p>
                      <a:pPr>
                        <a:buNone/>
                      </a:pPr>
                      <a:r>
                        <a:rPr lang="pl-PL" dirty="0"/>
                        <a:t>Solution</a:t>
                      </a:r>
                    </a:p>
                  </a:txBody>
                  <a:tcPr anchor="ctr"/>
                </a:tc>
                <a:extLst>
                  <a:ext uri="{0D108BD9-81ED-4DB2-BD59-A6C34878D82A}">
                    <a16:rowId xmlns:a16="http://schemas.microsoft.com/office/drawing/2014/main" val="3884354893"/>
                  </a:ext>
                </a:extLst>
              </a:tr>
              <a:tr h="0">
                <a:tc>
                  <a:txBody>
                    <a:bodyPr/>
                    <a:lstStyle/>
                    <a:p>
                      <a:pPr>
                        <a:buNone/>
                      </a:pPr>
                      <a:r>
                        <a:rPr lang="en-GB" sz="1300" b="0" dirty="0"/>
                        <a:t>Sensor / DAQ communication drop</a:t>
                      </a:r>
                    </a:p>
                  </a:txBody>
                  <a:tcPr anchor="ctr"/>
                </a:tc>
                <a:tc>
                  <a:txBody>
                    <a:bodyPr/>
                    <a:lstStyle/>
                    <a:p>
                      <a:pPr>
                        <a:buNone/>
                      </a:pPr>
                      <a:r>
                        <a:rPr lang="en-GB" sz="1300"/>
                        <a:t>Missing threshold trigger events; no data sent to C# backend.</a:t>
                      </a:r>
                    </a:p>
                  </a:txBody>
                  <a:tcPr anchor="ctr"/>
                </a:tc>
                <a:tc>
                  <a:txBody>
                    <a:bodyPr/>
                    <a:lstStyle/>
                    <a:p>
                      <a:pPr>
                        <a:buNone/>
                      </a:pPr>
                      <a:r>
                        <a:rPr lang="en-GB" sz="1300"/>
                        <a:t>Implement connection retry logic and status indicators on the frontend.</a:t>
                      </a:r>
                    </a:p>
                  </a:txBody>
                  <a:tcPr anchor="ctr"/>
                </a:tc>
                <a:extLst>
                  <a:ext uri="{0D108BD9-81ED-4DB2-BD59-A6C34878D82A}">
                    <a16:rowId xmlns:a16="http://schemas.microsoft.com/office/drawing/2014/main" val="1865449027"/>
                  </a:ext>
                </a:extLst>
              </a:tr>
              <a:tr h="0">
                <a:tc>
                  <a:txBody>
                    <a:bodyPr/>
                    <a:lstStyle/>
                    <a:p>
                      <a:pPr>
                        <a:buNone/>
                      </a:pPr>
                      <a:r>
                        <a:rPr lang="en-GB" sz="1300" b="0" dirty="0"/>
                        <a:t>Unstable signals / high noise</a:t>
                      </a:r>
                    </a:p>
                  </a:txBody>
                  <a:tcPr anchor="ctr"/>
                </a:tc>
                <a:tc>
                  <a:txBody>
                    <a:bodyPr/>
                    <a:lstStyle/>
                    <a:p>
                      <a:pPr>
                        <a:buNone/>
                      </a:pPr>
                      <a:r>
                        <a:rPr lang="en-GB" sz="1300"/>
                        <a:t>False software triggers or completely masked FFT resonance peaks.</a:t>
                      </a:r>
                    </a:p>
                  </a:txBody>
                  <a:tcPr anchor="ctr"/>
                </a:tc>
                <a:tc>
                  <a:txBody>
                    <a:bodyPr/>
                    <a:lstStyle/>
                    <a:p>
                      <a:pPr>
                        <a:buNone/>
                      </a:pPr>
                      <a:r>
                        <a:rPr lang="en-GB" sz="1300"/>
                        <a:t>Secure the accelerometer cable tightly; apply a software threshold band filter.</a:t>
                      </a:r>
                    </a:p>
                  </a:txBody>
                  <a:tcPr anchor="ctr"/>
                </a:tc>
                <a:extLst>
                  <a:ext uri="{0D108BD9-81ED-4DB2-BD59-A6C34878D82A}">
                    <a16:rowId xmlns:a16="http://schemas.microsoft.com/office/drawing/2014/main" val="4111866147"/>
                  </a:ext>
                </a:extLst>
              </a:tr>
              <a:tr h="0">
                <a:tc>
                  <a:txBody>
                    <a:bodyPr/>
                    <a:lstStyle/>
                    <a:p>
                      <a:pPr>
                        <a:buNone/>
                      </a:pPr>
                      <a:r>
                        <a:rPr lang="en-GB" sz="1300" b="0" dirty="0"/>
                        <a:t>Insufficient measurement data</a:t>
                      </a:r>
                    </a:p>
                  </a:txBody>
                  <a:tcPr anchor="ctr"/>
                </a:tc>
                <a:tc>
                  <a:txBody>
                    <a:bodyPr/>
                    <a:lstStyle/>
                    <a:p>
                      <a:pPr>
                        <a:buNone/>
                      </a:pPr>
                      <a:r>
                        <a:rPr lang="en-GB" sz="1300"/>
                        <a:t>Captured time window is too short to calculate accurate decay rates.</a:t>
                      </a:r>
                    </a:p>
                  </a:txBody>
                  <a:tcPr anchor="ctr"/>
                </a:tc>
                <a:tc>
                  <a:txBody>
                    <a:bodyPr/>
                    <a:lstStyle/>
                    <a:p>
                      <a:pPr>
                        <a:buNone/>
                      </a:pPr>
                      <a:r>
                        <a:rPr lang="en-GB" sz="1300"/>
                        <a:t>Allow users to adjust pre-/post-trigger windows via frontend configs.</a:t>
                      </a:r>
                    </a:p>
                  </a:txBody>
                  <a:tcPr anchor="ctr"/>
                </a:tc>
                <a:extLst>
                  <a:ext uri="{0D108BD9-81ED-4DB2-BD59-A6C34878D82A}">
                    <a16:rowId xmlns:a16="http://schemas.microsoft.com/office/drawing/2014/main" val="3982205636"/>
                  </a:ext>
                </a:extLst>
              </a:tr>
              <a:tr h="0">
                <a:tc>
                  <a:txBody>
                    <a:bodyPr/>
                    <a:lstStyle/>
                    <a:p>
                      <a:pPr>
                        <a:buNone/>
                      </a:pPr>
                      <a:r>
                        <a:rPr lang="en-GB" sz="1300" b="0" dirty="0"/>
                        <a:t>Time management issues</a:t>
                      </a:r>
                    </a:p>
                  </a:txBody>
                  <a:tcPr anchor="ctr"/>
                </a:tc>
                <a:tc>
                  <a:txBody>
                    <a:bodyPr/>
                    <a:lstStyle/>
                    <a:p>
                      <a:pPr>
                        <a:buNone/>
                      </a:pPr>
                      <a:r>
                        <a:rPr lang="en-GB" sz="1300"/>
                        <a:t>Missing project deadlines due to complex integration bugs.</a:t>
                      </a:r>
                    </a:p>
                  </a:txBody>
                  <a:tcPr anchor="ctr"/>
                </a:tc>
                <a:tc>
                  <a:txBody>
                    <a:bodyPr/>
                    <a:lstStyle/>
                    <a:p>
                      <a:pPr>
                        <a:buNone/>
                      </a:pPr>
                      <a:r>
                        <a:rPr lang="en-GB" sz="1300" dirty="0"/>
                        <a:t>Focus on early parallel development</a:t>
                      </a:r>
                      <a:r>
                        <a:rPr lang="pl-PL" sz="1300" dirty="0"/>
                        <a:t>, </a:t>
                      </a:r>
                      <a:r>
                        <a:rPr lang="pl-PL" sz="1300" dirty="0" err="1"/>
                        <a:t>so</a:t>
                      </a:r>
                      <a:r>
                        <a:rPr lang="pl-PL" sz="1300" dirty="0"/>
                        <a:t> we </a:t>
                      </a:r>
                      <a:r>
                        <a:rPr lang="pl-PL" sz="1300" dirty="0" err="1"/>
                        <a:t>have</a:t>
                      </a:r>
                      <a:r>
                        <a:rPr lang="pl-PL" sz="1300" dirty="0"/>
                        <a:t> </a:t>
                      </a:r>
                      <a:r>
                        <a:rPr lang="pl-PL" sz="1300" dirty="0" err="1"/>
                        <a:t>enough</a:t>
                      </a:r>
                      <a:r>
                        <a:rPr lang="pl-PL" sz="1300" dirty="0"/>
                        <a:t> </a:t>
                      </a:r>
                      <a:r>
                        <a:rPr lang="pl-PL" sz="1300" dirty="0" err="1"/>
                        <a:t>time</a:t>
                      </a:r>
                      <a:r>
                        <a:rPr lang="pl-PL" sz="1300" dirty="0"/>
                        <a:t> to </a:t>
                      </a:r>
                      <a:r>
                        <a:rPr lang="pl-PL" sz="1300" dirty="0" err="1"/>
                        <a:t>deal</a:t>
                      </a:r>
                      <a:r>
                        <a:rPr lang="pl-PL" sz="1300" dirty="0"/>
                        <a:t> with </a:t>
                      </a:r>
                      <a:r>
                        <a:rPr lang="pl-PL" sz="1300" dirty="0" err="1"/>
                        <a:t>any</a:t>
                      </a:r>
                      <a:r>
                        <a:rPr lang="pl-PL" sz="1300" dirty="0"/>
                        <a:t> </a:t>
                      </a:r>
                      <a:r>
                        <a:rPr lang="pl-PL" sz="1300" dirty="0" err="1"/>
                        <a:t>problems</a:t>
                      </a:r>
                      <a:r>
                        <a:rPr lang="pl-PL" sz="1300" dirty="0"/>
                        <a:t>.</a:t>
                      </a:r>
                      <a:endParaRPr lang="en-GB" sz="1300" dirty="0"/>
                    </a:p>
                  </a:txBody>
                  <a:tcPr anchor="ctr"/>
                </a:tc>
                <a:extLst>
                  <a:ext uri="{0D108BD9-81ED-4DB2-BD59-A6C34878D82A}">
                    <a16:rowId xmlns:a16="http://schemas.microsoft.com/office/drawing/2014/main" val="1433314639"/>
                  </a:ext>
                </a:extLst>
              </a:tr>
            </a:tbl>
          </a:graphicData>
        </a:graphic>
      </p:graphicFrame>
      <p:sp>
        <p:nvSpPr>
          <p:cNvPr id="7" name="pole tekstowe 6">
            <a:extLst>
              <a:ext uri="{FF2B5EF4-FFF2-40B4-BE49-F238E27FC236}">
                <a16:creationId xmlns:a16="http://schemas.microsoft.com/office/drawing/2014/main" id="{7A5A74C4-67F4-75CD-020D-27AA4AAA4C09}"/>
              </a:ext>
            </a:extLst>
          </p:cNvPr>
          <p:cNvSpPr txBox="1"/>
          <p:nvPr/>
        </p:nvSpPr>
        <p:spPr>
          <a:xfrm>
            <a:off x="838200" y="4590322"/>
            <a:ext cx="6094428" cy="1384995"/>
          </a:xfrm>
          <a:prstGeom prst="rect">
            <a:avLst/>
          </a:prstGeom>
          <a:noFill/>
        </p:spPr>
        <p:txBody>
          <a:bodyPr wrap="square">
            <a:spAutoFit/>
          </a:bodyPr>
          <a:lstStyle/>
          <a:p>
            <a:pPr>
              <a:buNone/>
            </a:pPr>
            <a:r>
              <a:rPr lang="pl-PL" sz="1400" b="1" dirty="0" err="1">
                <a:solidFill>
                  <a:srgbClr val="1A2E52"/>
                </a:solidFill>
              </a:rPr>
              <a:t>Example</a:t>
            </a:r>
            <a:r>
              <a:rPr lang="pl-PL" sz="1400" b="1" dirty="0">
                <a:solidFill>
                  <a:srgbClr val="1A2E52"/>
                </a:solidFill>
              </a:rPr>
              <a:t> </a:t>
            </a:r>
            <a:r>
              <a:rPr lang="pl-PL" sz="1400" b="1" dirty="0" err="1">
                <a:solidFill>
                  <a:srgbClr val="1A2E52"/>
                </a:solidFill>
              </a:rPr>
              <a:t>risks</a:t>
            </a:r>
            <a:r>
              <a:rPr lang="pl-PL" sz="1400" b="1" dirty="0">
                <a:solidFill>
                  <a:srgbClr val="1A2E52"/>
                </a:solidFill>
              </a:rPr>
              <a:t>:</a:t>
            </a:r>
          </a:p>
          <a:p>
            <a:pPr>
              <a:buFont typeface="Arial" panose="020B0604020202020204" pitchFamily="34" charset="0"/>
              <a:buChar char="•"/>
            </a:pPr>
            <a:r>
              <a:rPr lang="pl-PL" sz="1400" dirty="0">
                <a:solidFill>
                  <a:srgbClr val="1A2E52"/>
                </a:solidFill>
              </a:rPr>
              <a:t>sensor </a:t>
            </a:r>
            <a:r>
              <a:rPr lang="pl-PL" sz="1400" dirty="0" err="1">
                <a:solidFill>
                  <a:srgbClr val="1A2E52"/>
                </a:solidFill>
              </a:rPr>
              <a:t>malfunction</a:t>
            </a:r>
            <a:r>
              <a:rPr lang="pl-PL" sz="1400" dirty="0">
                <a:solidFill>
                  <a:srgbClr val="1A2E52"/>
                </a:solidFill>
              </a:rPr>
              <a:t>, </a:t>
            </a:r>
          </a:p>
          <a:p>
            <a:pPr>
              <a:buFont typeface="Arial" panose="020B0604020202020204" pitchFamily="34" charset="0"/>
              <a:buChar char="•"/>
            </a:pPr>
            <a:r>
              <a:rPr lang="pl-PL" sz="1400" dirty="0">
                <a:solidFill>
                  <a:srgbClr val="1A2E52"/>
                </a:solidFill>
              </a:rPr>
              <a:t>DAQ </a:t>
            </a:r>
            <a:r>
              <a:rPr lang="pl-PL" sz="1400" dirty="0" err="1">
                <a:solidFill>
                  <a:srgbClr val="1A2E52"/>
                </a:solidFill>
              </a:rPr>
              <a:t>communication</a:t>
            </a:r>
            <a:r>
              <a:rPr lang="pl-PL" sz="1400" dirty="0">
                <a:solidFill>
                  <a:srgbClr val="1A2E52"/>
                </a:solidFill>
              </a:rPr>
              <a:t> </a:t>
            </a:r>
            <a:r>
              <a:rPr lang="pl-PL" sz="1400" dirty="0" err="1">
                <a:solidFill>
                  <a:srgbClr val="1A2E52"/>
                </a:solidFill>
              </a:rPr>
              <a:t>problems</a:t>
            </a:r>
            <a:r>
              <a:rPr lang="pl-PL" sz="1400" dirty="0">
                <a:solidFill>
                  <a:srgbClr val="1A2E52"/>
                </a:solidFill>
              </a:rPr>
              <a:t>, </a:t>
            </a:r>
          </a:p>
          <a:p>
            <a:pPr>
              <a:buFont typeface="Arial" panose="020B0604020202020204" pitchFamily="34" charset="0"/>
              <a:buChar char="•"/>
            </a:pPr>
            <a:r>
              <a:rPr lang="pl-PL" sz="1400" dirty="0" err="1">
                <a:solidFill>
                  <a:srgbClr val="1A2E52"/>
                </a:solidFill>
              </a:rPr>
              <a:t>unstable</a:t>
            </a:r>
            <a:r>
              <a:rPr lang="pl-PL" sz="1400" dirty="0">
                <a:solidFill>
                  <a:srgbClr val="1A2E52"/>
                </a:solidFill>
              </a:rPr>
              <a:t> </a:t>
            </a:r>
            <a:r>
              <a:rPr lang="pl-PL" sz="1400" dirty="0" err="1">
                <a:solidFill>
                  <a:srgbClr val="1A2E52"/>
                </a:solidFill>
              </a:rPr>
              <a:t>signals</a:t>
            </a:r>
            <a:r>
              <a:rPr lang="pl-PL" sz="1400" dirty="0">
                <a:solidFill>
                  <a:srgbClr val="1A2E52"/>
                </a:solidFill>
              </a:rPr>
              <a:t>, </a:t>
            </a:r>
          </a:p>
          <a:p>
            <a:pPr>
              <a:buFont typeface="Arial" panose="020B0604020202020204" pitchFamily="34" charset="0"/>
              <a:buChar char="•"/>
            </a:pPr>
            <a:r>
              <a:rPr lang="pl-PL" sz="1400" dirty="0" err="1">
                <a:solidFill>
                  <a:srgbClr val="1A2E52"/>
                </a:solidFill>
              </a:rPr>
              <a:t>insufficient</a:t>
            </a:r>
            <a:r>
              <a:rPr lang="pl-PL" sz="1400" dirty="0">
                <a:solidFill>
                  <a:srgbClr val="1A2E52"/>
                </a:solidFill>
              </a:rPr>
              <a:t> </a:t>
            </a:r>
            <a:r>
              <a:rPr lang="pl-PL" sz="1400" dirty="0" err="1">
                <a:solidFill>
                  <a:srgbClr val="1A2E52"/>
                </a:solidFill>
              </a:rPr>
              <a:t>measurement</a:t>
            </a:r>
            <a:r>
              <a:rPr lang="pl-PL" sz="1400" dirty="0">
                <a:solidFill>
                  <a:srgbClr val="1A2E52"/>
                </a:solidFill>
              </a:rPr>
              <a:t> data, </a:t>
            </a:r>
          </a:p>
          <a:p>
            <a:pPr>
              <a:buFont typeface="Arial" panose="020B0604020202020204" pitchFamily="34" charset="0"/>
              <a:buChar char="•"/>
            </a:pPr>
            <a:r>
              <a:rPr lang="pl-PL" sz="1400" dirty="0" err="1">
                <a:solidFill>
                  <a:srgbClr val="1A2E52"/>
                </a:solidFill>
              </a:rPr>
              <a:t>time</a:t>
            </a:r>
            <a:r>
              <a:rPr lang="pl-PL" sz="1400" dirty="0">
                <a:solidFill>
                  <a:srgbClr val="1A2E52"/>
                </a:solidFill>
              </a:rPr>
              <a:t> management </a:t>
            </a:r>
            <a:r>
              <a:rPr lang="pl-PL" sz="1400" dirty="0" err="1">
                <a:solidFill>
                  <a:srgbClr val="1A2E52"/>
                </a:solidFill>
              </a:rPr>
              <a:t>issues</a:t>
            </a:r>
            <a:r>
              <a:rPr lang="pl-PL" sz="1400" dirty="0">
                <a:solidFill>
                  <a:srgbClr val="1A2E52"/>
                </a:solidFill>
              </a:rPr>
              <a:t>.</a:t>
            </a:r>
          </a:p>
        </p:txBody>
      </p:sp>
    </p:spTree>
    <p:extLst>
      <p:ext uri="{BB962C8B-B14F-4D97-AF65-F5344CB8AC3E}">
        <p14:creationId xmlns:p14="http://schemas.microsoft.com/office/powerpoint/2010/main" val="302334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B5074-9A02-1197-967A-C5BF6EBF9DB4}"/>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09EE2B8B-DB18-9AAB-AB90-FE490EB33C0B}"/>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9C32D2A7-26FD-AD70-0D55-3479CEF566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CD41F481-41AD-03EE-0BBA-97E95BBA00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976FB85B-4F08-7DAE-7DB0-08B98D8F34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AB6B58A3-7741-2624-552A-F47149E61782}"/>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4FEE1913-A09B-FFFC-6879-848395D9F1B3}"/>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447103EF-776B-6F0B-EDBA-57E5229949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80B69CEC-360E-660B-428F-EDF863EDFF49}"/>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9B46ACFE-DF4D-5D13-F984-FF6D0D2510AA}"/>
              </a:ext>
            </a:extLst>
          </p:cNvPr>
          <p:cNvSpPr txBox="1"/>
          <p:nvPr/>
        </p:nvSpPr>
        <p:spPr>
          <a:xfrm>
            <a:off x="577391" y="847567"/>
            <a:ext cx="8623169" cy="400110"/>
          </a:xfrm>
          <a:prstGeom prst="rect">
            <a:avLst/>
          </a:prstGeom>
          <a:noFill/>
        </p:spPr>
        <p:txBody>
          <a:bodyPr wrap="square">
            <a:spAutoFit/>
          </a:bodyPr>
          <a:lstStyle/>
          <a:p>
            <a:r>
              <a:rPr lang="en-US" sz="2000" b="1" dirty="0">
                <a:solidFill>
                  <a:srgbClr val="1A2E52"/>
                </a:solidFill>
                <a:latin typeface="Colber"/>
              </a:rPr>
              <a:t>Expected Deliverables</a:t>
            </a:r>
            <a:r>
              <a:rPr lang="pl-PL" sz="2000" b="1" dirty="0">
                <a:solidFill>
                  <a:srgbClr val="1A2E52"/>
                </a:solidFill>
                <a:latin typeface="Colber"/>
              </a:rPr>
              <a:t> </a:t>
            </a:r>
            <a:r>
              <a:rPr lang="pl-PL" sz="2000" b="1" dirty="0">
                <a:solidFill>
                  <a:srgbClr val="00B0F0"/>
                </a:solidFill>
              </a:rPr>
              <a:t>Time for </a:t>
            </a:r>
            <a:r>
              <a:rPr lang="pl-PL" sz="2000" b="1" dirty="0" err="1">
                <a:solidFill>
                  <a:srgbClr val="00B0F0"/>
                </a:solidFill>
              </a:rPr>
              <a:t>students</a:t>
            </a:r>
            <a:r>
              <a:rPr lang="pl-PL" sz="2000" b="1" dirty="0">
                <a:solidFill>
                  <a:srgbClr val="00B0F0"/>
                </a:solidFill>
              </a:rPr>
              <a:t>: </a:t>
            </a:r>
            <a:r>
              <a:rPr lang="pl-PL" sz="2000" b="1" dirty="0" err="1">
                <a:solidFill>
                  <a:srgbClr val="00B0F0"/>
                </a:solidFill>
              </a:rPr>
              <a:t>included</a:t>
            </a:r>
            <a:r>
              <a:rPr lang="pl-PL" sz="2000" b="1" dirty="0">
                <a:solidFill>
                  <a:srgbClr val="00B0F0"/>
                </a:solidFill>
              </a:rPr>
              <a:t> in 45 min </a:t>
            </a:r>
            <a:r>
              <a:rPr lang="pl-PL" sz="2000" b="1" dirty="0" err="1">
                <a:solidFill>
                  <a:srgbClr val="00B0F0"/>
                </a:solidFill>
              </a:rPr>
              <a:t>block</a:t>
            </a:r>
            <a:endParaRPr lang="pl-PL" sz="2000" b="1" dirty="0">
              <a:solidFill>
                <a:srgbClr val="00B0F0"/>
              </a:solidFill>
              <a:latin typeface="Colber"/>
            </a:endParaRPr>
          </a:p>
        </p:txBody>
      </p:sp>
      <p:sp>
        <p:nvSpPr>
          <p:cNvPr id="7" name="pole tekstowe 6">
            <a:extLst>
              <a:ext uri="{FF2B5EF4-FFF2-40B4-BE49-F238E27FC236}">
                <a16:creationId xmlns:a16="http://schemas.microsoft.com/office/drawing/2014/main" id="{50B49893-91A7-AD23-95D9-E7EE56043568}"/>
              </a:ext>
            </a:extLst>
          </p:cNvPr>
          <p:cNvSpPr txBox="1"/>
          <p:nvPr/>
        </p:nvSpPr>
        <p:spPr>
          <a:xfrm>
            <a:off x="813848" y="1213345"/>
            <a:ext cx="10800760" cy="6540252"/>
          </a:xfrm>
          <a:prstGeom prst="rect">
            <a:avLst/>
          </a:prstGeom>
          <a:noFill/>
        </p:spPr>
        <p:txBody>
          <a:bodyPr wrap="square">
            <a:spAutoFit/>
          </a:bodyPr>
          <a:lstStyle/>
          <a:p>
            <a:r>
              <a:rPr lang="pl-PL" sz="2000" b="1" dirty="0" err="1">
                <a:solidFill>
                  <a:srgbClr val="1A2E52"/>
                </a:solidFill>
              </a:rPr>
              <a:t>Our</a:t>
            </a:r>
            <a:r>
              <a:rPr lang="pl-PL" sz="2000" b="1" dirty="0">
                <a:solidFill>
                  <a:srgbClr val="1A2E52"/>
                </a:solidFill>
              </a:rPr>
              <a:t> team </a:t>
            </a:r>
            <a:r>
              <a:rPr lang="pl-PL" sz="2000" b="1" dirty="0" err="1">
                <a:solidFill>
                  <a:srgbClr val="1A2E52"/>
                </a:solidFill>
              </a:rPr>
              <a:t>plans</a:t>
            </a:r>
            <a:r>
              <a:rPr lang="pl-PL" sz="2000" b="1" dirty="0">
                <a:solidFill>
                  <a:srgbClr val="1A2E52"/>
                </a:solidFill>
              </a:rPr>
              <a:t> to </a:t>
            </a:r>
            <a:r>
              <a:rPr lang="pl-PL" sz="2000" b="1" dirty="0" err="1">
                <a:solidFill>
                  <a:srgbClr val="1A2E52"/>
                </a:solidFill>
              </a:rPr>
              <a:t>prepare</a:t>
            </a:r>
            <a:r>
              <a:rPr lang="pl-PL" sz="2000" b="1" dirty="0">
                <a:solidFill>
                  <a:srgbClr val="1A2E52"/>
                </a:solidFill>
              </a:rPr>
              <a:t>:</a:t>
            </a:r>
          </a:p>
          <a:p>
            <a:r>
              <a:rPr lang="pl-PL" sz="1400" dirty="0">
                <a:solidFill>
                  <a:srgbClr val="1A2E52"/>
                </a:solidFill>
              </a:rPr>
              <a:t> x </a:t>
            </a:r>
            <a:r>
              <a:rPr lang="pl-PL" sz="1400" dirty="0" err="1">
                <a:solidFill>
                  <a:srgbClr val="1A2E52"/>
                </a:solidFill>
              </a:rPr>
              <a:t>Working</a:t>
            </a:r>
            <a:r>
              <a:rPr lang="pl-PL" sz="1400" dirty="0">
                <a:solidFill>
                  <a:srgbClr val="1A2E52"/>
                </a:solidFill>
              </a:rPr>
              <a:t> </a:t>
            </a:r>
            <a:r>
              <a:rPr lang="pl-PL" sz="1400" dirty="0" err="1">
                <a:solidFill>
                  <a:srgbClr val="1A2E52"/>
                </a:solidFill>
              </a:rPr>
              <a:t>measurement</a:t>
            </a:r>
            <a:r>
              <a:rPr lang="pl-PL" sz="1400" dirty="0">
                <a:solidFill>
                  <a:srgbClr val="1A2E52"/>
                </a:solidFill>
              </a:rPr>
              <a:t> system</a:t>
            </a:r>
            <a:br>
              <a:rPr lang="pl-PL" sz="1400" dirty="0">
                <a:solidFill>
                  <a:srgbClr val="1A2E52"/>
                </a:solidFill>
              </a:rPr>
            </a:br>
            <a:r>
              <a:rPr lang="pl-PL" sz="1400" dirty="0">
                <a:solidFill>
                  <a:srgbClr val="1A2E52"/>
                </a:solidFill>
              </a:rPr>
              <a:t>☐ </a:t>
            </a:r>
            <a:r>
              <a:rPr lang="pl-PL" sz="1400" dirty="0" err="1">
                <a:solidFill>
                  <a:srgbClr val="1A2E52"/>
                </a:solidFill>
              </a:rPr>
              <a:t>LabVIEW</a:t>
            </a:r>
            <a:r>
              <a:rPr lang="pl-PL" sz="1400" dirty="0">
                <a:solidFill>
                  <a:srgbClr val="1A2E52"/>
                </a:solidFill>
              </a:rPr>
              <a:t> </a:t>
            </a:r>
            <a:r>
              <a:rPr lang="pl-PL" sz="1400" dirty="0" err="1">
                <a:solidFill>
                  <a:srgbClr val="1A2E52"/>
                </a:solidFill>
              </a:rPr>
              <a:t>application</a:t>
            </a:r>
            <a:endParaRPr lang="pl-PL" sz="1400" dirty="0">
              <a:solidFill>
                <a:srgbClr val="1A2E52"/>
              </a:solidFill>
            </a:endParaRPr>
          </a:p>
          <a:p>
            <a:r>
              <a:rPr lang="pl-PL" sz="1400" dirty="0">
                <a:solidFill>
                  <a:srgbClr val="1A2E52"/>
                </a:solidFill>
              </a:rPr>
              <a:t> x Web </a:t>
            </a:r>
            <a:r>
              <a:rPr lang="pl-PL" sz="1400" dirty="0" err="1">
                <a:solidFill>
                  <a:srgbClr val="1A2E52"/>
                </a:solidFill>
              </a:rPr>
              <a:t>application</a:t>
            </a:r>
            <a:r>
              <a:rPr lang="pl-PL" sz="1400" dirty="0">
                <a:solidFill>
                  <a:srgbClr val="1A2E52"/>
                </a:solidFill>
              </a:rPr>
              <a:t> </a:t>
            </a:r>
            <a:r>
              <a:rPr lang="pl-PL" sz="1400" dirty="0" err="1">
                <a:solidFill>
                  <a:srgbClr val="1A2E52"/>
                </a:solidFill>
              </a:rPr>
              <a:t>written</a:t>
            </a:r>
            <a:r>
              <a:rPr lang="pl-PL" sz="1400" dirty="0">
                <a:solidFill>
                  <a:srgbClr val="1A2E52"/>
                </a:solidFill>
              </a:rPr>
              <a:t> in C# + </a:t>
            </a:r>
            <a:r>
              <a:rPr lang="pl-PL" sz="1400" dirty="0" err="1">
                <a:solidFill>
                  <a:srgbClr val="1A2E52"/>
                </a:solidFill>
              </a:rPr>
              <a:t>React</a:t>
            </a:r>
            <a:br>
              <a:rPr lang="pl-PL" sz="1400" dirty="0">
                <a:solidFill>
                  <a:srgbClr val="1A2E52"/>
                </a:solidFill>
              </a:rPr>
            </a:br>
            <a:r>
              <a:rPr lang="pl-PL" sz="1400" dirty="0">
                <a:solidFill>
                  <a:srgbClr val="1A2E52"/>
                </a:solidFill>
              </a:rPr>
              <a:t> x </a:t>
            </a:r>
            <a:r>
              <a:rPr lang="pl-PL" sz="1400" dirty="0" err="1">
                <a:solidFill>
                  <a:srgbClr val="1A2E52"/>
                </a:solidFill>
              </a:rPr>
              <a:t>Experimental</a:t>
            </a:r>
            <a:r>
              <a:rPr lang="pl-PL" sz="1400" dirty="0">
                <a:solidFill>
                  <a:srgbClr val="1A2E52"/>
                </a:solidFill>
              </a:rPr>
              <a:t> </a:t>
            </a:r>
            <a:r>
              <a:rPr lang="pl-PL" sz="1400" dirty="0" err="1">
                <a:solidFill>
                  <a:srgbClr val="1A2E52"/>
                </a:solidFill>
              </a:rPr>
              <a:t>dataset</a:t>
            </a:r>
            <a:br>
              <a:rPr lang="pl-PL" sz="1400" dirty="0">
                <a:solidFill>
                  <a:srgbClr val="1A2E52"/>
                </a:solidFill>
              </a:rPr>
            </a:br>
            <a:r>
              <a:rPr lang="pl-PL" sz="1400" dirty="0">
                <a:solidFill>
                  <a:srgbClr val="1A2E52"/>
                </a:solidFill>
              </a:rPr>
              <a:t> x </a:t>
            </a:r>
            <a:r>
              <a:rPr lang="pl-PL" sz="1400" dirty="0" err="1">
                <a:solidFill>
                  <a:srgbClr val="1A2E52"/>
                </a:solidFill>
              </a:rPr>
              <a:t>Sustainability</a:t>
            </a:r>
            <a:r>
              <a:rPr lang="pl-PL" sz="1400" dirty="0">
                <a:solidFill>
                  <a:srgbClr val="1A2E52"/>
                </a:solidFill>
              </a:rPr>
              <a:t> </a:t>
            </a:r>
            <a:r>
              <a:rPr lang="pl-PL" sz="1400" dirty="0" err="1">
                <a:solidFill>
                  <a:srgbClr val="1A2E52"/>
                </a:solidFill>
              </a:rPr>
              <a:t>analysis</a:t>
            </a:r>
            <a:br>
              <a:rPr lang="pl-PL" sz="1400" dirty="0">
                <a:solidFill>
                  <a:srgbClr val="1A2E52"/>
                </a:solidFill>
              </a:rPr>
            </a:br>
            <a:r>
              <a:rPr lang="pl-PL" sz="1400" dirty="0">
                <a:solidFill>
                  <a:srgbClr val="1A2E52"/>
                </a:solidFill>
              </a:rPr>
              <a:t> x </a:t>
            </a:r>
            <a:r>
              <a:rPr lang="pl-PL" sz="1400" dirty="0" err="1">
                <a:solidFill>
                  <a:srgbClr val="1A2E52"/>
                </a:solidFill>
              </a:rPr>
              <a:t>Final</a:t>
            </a:r>
            <a:r>
              <a:rPr lang="pl-PL" sz="1400" dirty="0">
                <a:solidFill>
                  <a:srgbClr val="1A2E52"/>
                </a:solidFill>
              </a:rPr>
              <a:t> </a:t>
            </a:r>
            <a:r>
              <a:rPr lang="pl-PL" sz="1400" dirty="0" err="1">
                <a:solidFill>
                  <a:srgbClr val="1A2E52"/>
                </a:solidFill>
              </a:rPr>
              <a:t>presentation</a:t>
            </a:r>
            <a:br>
              <a:rPr lang="pl-PL" sz="1400" dirty="0">
                <a:solidFill>
                  <a:srgbClr val="1A2E52"/>
                </a:solidFill>
              </a:rPr>
            </a:br>
            <a:r>
              <a:rPr lang="pl-PL" sz="1400" dirty="0">
                <a:solidFill>
                  <a:srgbClr val="1A2E52"/>
                </a:solidFill>
              </a:rPr>
              <a:t> x Technical report</a:t>
            </a:r>
          </a:p>
          <a:p>
            <a:r>
              <a:rPr lang="pl-PL" sz="2000" b="1" dirty="0" err="1">
                <a:solidFill>
                  <a:srgbClr val="1A2E52"/>
                </a:solidFill>
              </a:rPr>
              <a:t>Milestones</a:t>
            </a:r>
            <a:r>
              <a:rPr lang="pl-PL" sz="2000" b="1" dirty="0">
                <a:solidFill>
                  <a:srgbClr val="1A2E52"/>
                </a:solidFill>
              </a:rPr>
              <a:t> and </a:t>
            </a:r>
            <a:r>
              <a:rPr lang="pl-PL" sz="2000" b="1" dirty="0" err="1">
                <a:solidFill>
                  <a:srgbClr val="1A2E52"/>
                </a:solidFill>
              </a:rPr>
              <a:t>Deliverables</a:t>
            </a:r>
            <a:endParaRPr lang="pl-PL" sz="2000" b="1" dirty="0">
              <a:solidFill>
                <a:srgbClr val="1A2E52"/>
              </a:solidFill>
            </a:endParaRPr>
          </a:p>
          <a:p>
            <a:r>
              <a:rPr lang="pl-PL" sz="1400" b="1" dirty="0" err="1">
                <a:solidFill>
                  <a:srgbClr val="1A2E52"/>
                </a:solidFill>
              </a:rPr>
              <a:t>Milestone</a:t>
            </a:r>
            <a:r>
              <a:rPr lang="pl-PL" sz="1400" b="1" dirty="0">
                <a:solidFill>
                  <a:srgbClr val="1A2E52"/>
                </a:solidFill>
              </a:rPr>
              <a:t> 1: </a:t>
            </a:r>
            <a:r>
              <a:rPr lang="pl-PL" sz="1400" dirty="0">
                <a:solidFill>
                  <a:srgbClr val="1A2E52"/>
                </a:solidFill>
              </a:rPr>
              <a:t>Deadline: </a:t>
            </a:r>
            <a:r>
              <a:rPr lang="pl-PL" sz="1400" dirty="0">
                <a:solidFill>
                  <a:srgbClr val="C00000"/>
                </a:solidFill>
              </a:rPr>
              <a:t>01.06.2026</a:t>
            </a:r>
            <a:endParaRPr lang="pl-PL" sz="1400" b="1" dirty="0">
              <a:solidFill>
                <a:srgbClr val="1A2E52"/>
              </a:solidFill>
            </a:endParaRPr>
          </a:p>
          <a:p>
            <a:r>
              <a:rPr lang="en-GB" sz="1400" dirty="0"/>
              <a:t>Complete C# backend integration with NI-DAQmx .NET libraries to successfully stream continuous acceleration data and verify software-threshold triggering. </a:t>
            </a:r>
            <a:endParaRPr lang="pl-PL" sz="1400" dirty="0"/>
          </a:p>
          <a:p>
            <a:r>
              <a:rPr lang="pl-PL" sz="1400" b="1" dirty="0" err="1">
                <a:solidFill>
                  <a:srgbClr val="1A2E52"/>
                </a:solidFill>
              </a:rPr>
              <a:t>Milestone</a:t>
            </a:r>
            <a:r>
              <a:rPr lang="pl-PL" sz="1400" b="1" dirty="0">
                <a:solidFill>
                  <a:srgbClr val="1A2E52"/>
                </a:solidFill>
              </a:rPr>
              <a:t> 2: </a:t>
            </a:r>
            <a:r>
              <a:rPr lang="pl-PL" sz="1400" dirty="0">
                <a:solidFill>
                  <a:srgbClr val="1A2E52"/>
                </a:solidFill>
              </a:rPr>
              <a:t>Deadline: </a:t>
            </a:r>
            <a:r>
              <a:rPr lang="pl-PL" sz="1400" dirty="0">
                <a:solidFill>
                  <a:srgbClr val="C00000"/>
                </a:solidFill>
              </a:rPr>
              <a:t>08.06.2026</a:t>
            </a:r>
          </a:p>
          <a:p>
            <a:r>
              <a:rPr lang="en-GB" sz="1400" dirty="0"/>
              <a:t>Implement file logging to TDMS and Excel formats, establish the SQLite metadata registry, and connect the Web Frontend to display real-time charts. </a:t>
            </a:r>
            <a:endParaRPr lang="pl-PL" sz="1400" dirty="0"/>
          </a:p>
          <a:p>
            <a:r>
              <a:rPr lang="pl-PL" sz="1400" b="1" dirty="0" err="1">
                <a:solidFill>
                  <a:srgbClr val="1A2E52"/>
                </a:solidFill>
              </a:rPr>
              <a:t>Milestone</a:t>
            </a:r>
            <a:r>
              <a:rPr lang="pl-PL" sz="1400" b="1" dirty="0">
                <a:solidFill>
                  <a:srgbClr val="1A2E52"/>
                </a:solidFill>
              </a:rPr>
              <a:t> 3:</a:t>
            </a:r>
            <a:r>
              <a:rPr lang="pl-PL" sz="1400" dirty="0">
                <a:solidFill>
                  <a:srgbClr val="1A2E52"/>
                </a:solidFill>
              </a:rPr>
              <a:t>Deadline: </a:t>
            </a:r>
            <a:r>
              <a:rPr lang="pl-PL" sz="1400" dirty="0">
                <a:solidFill>
                  <a:srgbClr val="C00000"/>
                </a:solidFill>
              </a:rPr>
              <a:t>25.06.2026</a:t>
            </a:r>
            <a:endParaRPr lang="pl-PL" sz="1400" b="1" dirty="0">
              <a:solidFill>
                <a:srgbClr val="1A2E52"/>
              </a:solidFill>
            </a:endParaRPr>
          </a:p>
          <a:p>
            <a:r>
              <a:rPr lang="en-GB" sz="1400" dirty="0"/>
              <a:t>Conduct full laboratory impact experiments across different structural beam scenarios, populate the database, and compile the final engineering report. </a:t>
            </a:r>
            <a:endParaRPr lang="pl-PL" sz="1400" dirty="0"/>
          </a:p>
          <a:p>
            <a:r>
              <a:rPr lang="pl-PL" sz="1300" b="1" dirty="0" err="1">
                <a:solidFill>
                  <a:srgbClr val="1A2E52"/>
                </a:solidFill>
              </a:rPr>
              <a:t>Expected</a:t>
            </a:r>
            <a:r>
              <a:rPr lang="pl-PL" sz="1300" b="1" dirty="0">
                <a:solidFill>
                  <a:srgbClr val="1A2E52"/>
                </a:solidFill>
              </a:rPr>
              <a:t> </a:t>
            </a:r>
            <a:r>
              <a:rPr lang="pl-PL" sz="1300" b="1" dirty="0" err="1">
                <a:solidFill>
                  <a:srgbClr val="1A2E52"/>
                </a:solidFill>
              </a:rPr>
              <a:t>project</a:t>
            </a:r>
            <a:r>
              <a:rPr lang="pl-PL" sz="1300" b="1" dirty="0">
                <a:solidFill>
                  <a:srgbClr val="1A2E52"/>
                </a:solidFill>
              </a:rPr>
              <a:t> </a:t>
            </a:r>
            <a:r>
              <a:rPr lang="pl-PL" sz="1300" b="1" dirty="0" err="1">
                <a:solidFill>
                  <a:srgbClr val="1A2E52"/>
                </a:solidFill>
              </a:rPr>
              <a:t>result</a:t>
            </a:r>
            <a:r>
              <a:rPr lang="pl-PL" sz="1300" b="1" dirty="0">
                <a:solidFill>
                  <a:srgbClr val="1A2E52"/>
                </a:solidFill>
              </a:rPr>
              <a:t>:</a:t>
            </a:r>
          </a:p>
          <a:p>
            <a:r>
              <a:rPr lang="en-GB" sz="1400" dirty="0"/>
              <a:t>A fully automated, high-precision vibration measurement system featuring a C# backend that captures transient impact responses via an IEPE accelerometer. The system successfully logs raw data to TDMS, structural configurations to Excel, and metadata to an SQLite registry, allowing an interactive web application to dynamically visualize structural resonance frequencies and damping trends.</a:t>
            </a:r>
            <a:endParaRPr lang="pl-PL" sz="1400" dirty="0">
              <a:solidFill>
                <a:srgbClr val="C00000"/>
              </a:solidFill>
            </a:endParaRPr>
          </a:p>
          <a:p>
            <a:endParaRPr lang="pl-PL" sz="2000" dirty="0">
              <a:solidFill>
                <a:srgbClr val="C00000"/>
              </a:solidFill>
            </a:endParaRPr>
          </a:p>
          <a:p>
            <a:endParaRPr lang="pl-PL" sz="2000" dirty="0">
              <a:solidFill>
                <a:srgbClr val="C00000"/>
              </a:solidFill>
            </a:endParaRPr>
          </a:p>
          <a:p>
            <a:endParaRPr lang="pl-PL" sz="2000" dirty="0">
              <a:solidFill>
                <a:srgbClr val="C00000"/>
              </a:solidFill>
            </a:endParaRPr>
          </a:p>
          <a:p>
            <a:endParaRPr lang="pl-PL" sz="2000" dirty="0">
              <a:solidFill>
                <a:srgbClr val="C00000"/>
              </a:solidFill>
            </a:endParaRPr>
          </a:p>
          <a:p>
            <a:endParaRPr lang="pl-PL" sz="2000" dirty="0">
              <a:solidFill>
                <a:srgbClr val="C00000"/>
              </a:solidFill>
            </a:endParaRPr>
          </a:p>
        </p:txBody>
      </p:sp>
    </p:spTree>
    <p:extLst>
      <p:ext uri="{BB962C8B-B14F-4D97-AF65-F5344CB8AC3E}">
        <p14:creationId xmlns:p14="http://schemas.microsoft.com/office/powerpoint/2010/main" val="1896973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EFBC-E353-F2A5-3ED8-AB65EF6BB9AB}"/>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72AAE715-844A-AC6E-3221-665EF378AF51}"/>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9C9E24D9-67EC-B5C5-A017-1471980E99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F8A3FDBF-0940-F209-F83D-3B4827C4F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546AE67A-AE2A-3E16-402E-8C0AE5D52B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6AFF9012-E69A-F121-A5C0-AB260FC8EC9B}"/>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1C261072-E826-0B81-951B-765BB8C6D1C7}"/>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5EBEC8EE-0882-1848-78D8-3825C2AC69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F97AE2A5-0303-C1F3-8789-DE17BE047C15}"/>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D43A704A-6873-11DD-EC09-DA61C8469BA2}"/>
              </a:ext>
            </a:extLst>
          </p:cNvPr>
          <p:cNvSpPr txBox="1"/>
          <p:nvPr/>
        </p:nvSpPr>
        <p:spPr>
          <a:xfrm>
            <a:off x="577392" y="847567"/>
            <a:ext cx="7482526" cy="400110"/>
          </a:xfrm>
          <a:prstGeom prst="rect">
            <a:avLst/>
          </a:prstGeom>
          <a:noFill/>
        </p:spPr>
        <p:txBody>
          <a:bodyPr wrap="square">
            <a:spAutoFit/>
          </a:bodyPr>
          <a:lstStyle/>
          <a:p>
            <a:r>
              <a:rPr lang="en-US" sz="2000" b="1" dirty="0">
                <a:solidFill>
                  <a:srgbClr val="1A2E52"/>
                </a:solidFill>
                <a:latin typeface="Colber"/>
              </a:rPr>
              <a:t>Questions / Consultation Needs</a:t>
            </a:r>
            <a:r>
              <a:rPr lang="pl-PL" sz="2000" b="1" dirty="0">
                <a:solidFill>
                  <a:srgbClr val="1A2E52"/>
                </a:solidFill>
                <a:latin typeface="Colber"/>
              </a:rPr>
              <a:t> </a:t>
            </a:r>
            <a:r>
              <a:rPr lang="pl-PL" sz="2000" b="1" dirty="0">
                <a:solidFill>
                  <a:srgbClr val="00B0F0"/>
                </a:solidFill>
              </a:rPr>
              <a:t>Time for </a:t>
            </a:r>
            <a:r>
              <a:rPr lang="pl-PL" sz="2000" b="1" dirty="0" err="1">
                <a:solidFill>
                  <a:srgbClr val="00B0F0"/>
                </a:solidFill>
              </a:rPr>
              <a:t>students</a:t>
            </a:r>
            <a:r>
              <a:rPr lang="pl-PL" sz="2000" b="1" dirty="0">
                <a:solidFill>
                  <a:srgbClr val="00B0F0"/>
                </a:solidFill>
              </a:rPr>
              <a:t>: 10 min</a:t>
            </a:r>
            <a:endParaRPr lang="pl-PL" sz="2000" b="1" dirty="0">
              <a:solidFill>
                <a:srgbClr val="00B0F0"/>
              </a:solidFill>
              <a:latin typeface="Colber"/>
            </a:endParaRPr>
          </a:p>
        </p:txBody>
      </p:sp>
      <p:sp>
        <p:nvSpPr>
          <p:cNvPr id="7" name="pole tekstowe 6">
            <a:extLst>
              <a:ext uri="{FF2B5EF4-FFF2-40B4-BE49-F238E27FC236}">
                <a16:creationId xmlns:a16="http://schemas.microsoft.com/office/drawing/2014/main" id="{D5BD1618-2444-1D50-A4A1-D85C4506C1FF}"/>
              </a:ext>
            </a:extLst>
          </p:cNvPr>
          <p:cNvSpPr txBox="1"/>
          <p:nvPr/>
        </p:nvSpPr>
        <p:spPr>
          <a:xfrm>
            <a:off x="813848" y="1213345"/>
            <a:ext cx="10800760" cy="5555367"/>
          </a:xfrm>
          <a:prstGeom prst="rect">
            <a:avLst/>
          </a:prstGeom>
          <a:noFill/>
        </p:spPr>
        <p:txBody>
          <a:bodyPr wrap="square" lIns="91440" tIns="45720" rIns="91440" bIns="45720" anchor="t">
            <a:spAutoFit/>
          </a:bodyPr>
          <a:lstStyle/>
          <a:p>
            <a:r>
              <a:rPr lang="pl-PL" sz="2000" b="1" dirty="0">
                <a:solidFill>
                  <a:srgbClr val="1A2E52"/>
                </a:solidFill>
              </a:rPr>
              <a:t>Technical </a:t>
            </a:r>
            <a:r>
              <a:rPr lang="pl-PL" sz="2000" b="1">
                <a:solidFill>
                  <a:srgbClr val="1A2E52"/>
                </a:solidFill>
              </a:rPr>
              <a:t>questions</a:t>
            </a:r>
            <a:r>
              <a:rPr lang="pl-PL" sz="2000" b="1" dirty="0">
                <a:solidFill>
                  <a:srgbClr val="1A2E52"/>
                </a:solidFill>
              </a:rPr>
              <a:t>:</a:t>
            </a:r>
          </a:p>
          <a:p>
            <a:r>
              <a:rPr lang="en-GB" sz="2000" dirty="0"/>
              <a:t>What is the optimal mathematical approach to calculate the damping ratio (</a:t>
            </a:r>
            <a:r>
              <a:rPr lang="en-GB" dirty="0"/>
              <a:t>$\zeta$</a:t>
            </a:r>
            <a:r>
              <a:rPr lang="en-GB" sz="2000" dirty="0"/>
              <a:t>) or decay rate directly from the extracted pre- and post-trigger time snapshot?</a:t>
            </a:r>
            <a:br>
              <a:rPr lang="pl-PL" sz="2000" dirty="0">
                <a:solidFill>
                  <a:srgbClr val="1A2E52"/>
                </a:solidFill>
              </a:rPr>
            </a:br>
            <a:endParaRPr lang="pl-PL" sz="2000" dirty="0">
              <a:solidFill>
                <a:srgbClr val="1A2E52"/>
              </a:solidFill>
            </a:endParaRPr>
          </a:p>
          <a:p>
            <a:r>
              <a:rPr lang="pl-PL" sz="2000" b="1">
                <a:solidFill>
                  <a:srgbClr val="1A2E52"/>
                </a:solidFill>
              </a:rPr>
              <a:t>Organizational</a:t>
            </a:r>
            <a:r>
              <a:rPr lang="pl-PL" sz="2000" b="1" dirty="0">
                <a:solidFill>
                  <a:srgbClr val="1A2E52"/>
                </a:solidFill>
              </a:rPr>
              <a:t> </a:t>
            </a:r>
            <a:r>
              <a:rPr lang="pl-PL" sz="2000" b="1">
                <a:solidFill>
                  <a:srgbClr val="1A2E52"/>
                </a:solidFill>
              </a:rPr>
              <a:t>questions</a:t>
            </a:r>
            <a:r>
              <a:rPr lang="pl-PL" sz="2000" b="1" dirty="0">
                <a:solidFill>
                  <a:srgbClr val="1A2E52"/>
                </a:solidFill>
              </a:rPr>
              <a:t>:</a:t>
            </a:r>
          </a:p>
          <a:p>
            <a:r>
              <a:rPr lang="en-GB" sz="2000" dirty="0"/>
              <a:t>How will our team split development tasks between the C# DAQ backend, Excel/SQLite data storage layers, and the web frontend app?</a:t>
            </a:r>
            <a:br>
              <a:rPr lang="pl-PL" sz="2000" dirty="0">
                <a:solidFill>
                  <a:srgbClr val="1A2E52"/>
                </a:solidFill>
              </a:rPr>
            </a:br>
            <a:endParaRPr lang="pl-PL" sz="2000" dirty="0">
              <a:solidFill>
                <a:srgbClr val="1A2E52"/>
              </a:solidFill>
            </a:endParaRPr>
          </a:p>
          <a:p>
            <a:r>
              <a:rPr lang="pl-PL" sz="2000" b="1">
                <a:solidFill>
                  <a:srgbClr val="1A2E52"/>
                </a:solidFill>
              </a:rPr>
              <a:t>Equipment</a:t>
            </a:r>
            <a:r>
              <a:rPr lang="pl-PL" sz="2000" b="1" dirty="0">
                <a:solidFill>
                  <a:srgbClr val="1A2E52"/>
                </a:solidFill>
              </a:rPr>
              <a:t>/</a:t>
            </a:r>
            <a:r>
              <a:rPr lang="pl-PL" sz="2000" b="1">
                <a:solidFill>
                  <a:srgbClr val="1A2E52"/>
                </a:solidFill>
              </a:rPr>
              <a:t>components</a:t>
            </a:r>
            <a:r>
              <a:rPr lang="pl-PL" sz="2000" b="1" dirty="0">
                <a:solidFill>
                  <a:srgbClr val="1A2E52"/>
                </a:solidFill>
              </a:rPr>
              <a:t> </a:t>
            </a:r>
            <a:r>
              <a:rPr lang="pl-PL" sz="2000" b="1">
                <a:solidFill>
                  <a:srgbClr val="1A2E52"/>
                </a:solidFill>
              </a:rPr>
              <a:t>needed</a:t>
            </a:r>
            <a:r>
              <a:rPr lang="pl-PL" sz="2000" b="1" dirty="0">
                <a:solidFill>
                  <a:srgbClr val="1A2E52"/>
                </a:solidFill>
              </a:rPr>
              <a:t>:</a:t>
            </a:r>
          </a:p>
          <a:p>
            <a:r>
              <a:rPr lang="en-GB" sz="1500" b="1" dirty="0"/>
              <a:t>Sensor:</a:t>
            </a:r>
            <a:r>
              <a:rPr lang="en-GB" sz="1500"/>
              <a:t> PCB Piezotronics Model 601A02 ICP® Accelerometer</a:t>
            </a:r>
            <a:endParaRPr lang="en-GB" sz="1500">
              <a:ea typeface="Calibri"/>
              <a:cs typeface="Calibri"/>
            </a:endParaRPr>
          </a:p>
          <a:p>
            <a:r>
              <a:rPr lang="en-GB" sz="1500" b="1" dirty="0"/>
              <a:t>DAQ Hardware:</a:t>
            </a:r>
            <a:r>
              <a:rPr lang="en-GB" sz="1500"/>
              <a:t> National Instruments NI-9232 IEPE module &amp; NI-9171 USB Chassis</a:t>
            </a:r>
            <a:endParaRPr lang="en-GB" sz="1500">
              <a:ea typeface="Calibri"/>
              <a:cs typeface="Calibri"/>
            </a:endParaRPr>
          </a:p>
          <a:p>
            <a:r>
              <a:rPr lang="en-GB" sz="1500" b="1" dirty="0"/>
              <a:t>Excitation:</a:t>
            </a:r>
            <a:r>
              <a:rPr lang="en-GB" sz="1500" dirty="0"/>
              <a:t> </a:t>
            </a:r>
            <a:r>
              <a:rPr lang="pl-PL" sz="1500" dirty="0"/>
              <a:t>Hammer </a:t>
            </a:r>
            <a:r>
              <a:rPr lang="pl-PL" sz="1500"/>
              <a:t>that</a:t>
            </a:r>
            <a:r>
              <a:rPr lang="pl-PL" sz="1500" dirty="0"/>
              <a:t> </a:t>
            </a:r>
            <a:r>
              <a:rPr lang="pl-PL" sz="1500"/>
              <a:t>will</a:t>
            </a:r>
            <a:r>
              <a:rPr lang="pl-PL" sz="1500" dirty="0"/>
              <a:t> </a:t>
            </a:r>
            <a:r>
              <a:rPr lang="pl-PL" sz="1500"/>
              <a:t>allow</a:t>
            </a:r>
            <a:r>
              <a:rPr lang="pl-PL" sz="1500" dirty="0"/>
              <a:t> </a:t>
            </a:r>
            <a:r>
              <a:rPr lang="pl-PL" sz="1500"/>
              <a:t>us</a:t>
            </a:r>
            <a:r>
              <a:rPr lang="pl-PL" sz="1500" dirty="0"/>
              <a:t> to </a:t>
            </a:r>
            <a:r>
              <a:rPr lang="pl-PL" sz="1500"/>
              <a:t>achieve</a:t>
            </a:r>
            <a:r>
              <a:rPr lang="pl-PL" sz="1500" dirty="0"/>
              <a:t> </a:t>
            </a:r>
            <a:r>
              <a:rPr lang="pl-PL" sz="1500"/>
              <a:t>short</a:t>
            </a:r>
            <a:r>
              <a:rPr lang="pl-PL" sz="1500" dirty="0"/>
              <a:t> </a:t>
            </a:r>
            <a:r>
              <a:rPr lang="pl-PL" sz="1500"/>
              <a:t>impact</a:t>
            </a:r>
            <a:r>
              <a:rPr lang="pl-PL" sz="1500" dirty="0"/>
              <a:t> </a:t>
            </a:r>
            <a:r>
              <a:rPr lang="pl-PL" sz="1500"/>
              <a:t>time</a:t>
            </a:r>
            <a:r>
              <a:rPr lang="pl-PL" sz="1500" dirty="0"/>
              <a:t>, and </a:t>
            </a:r>
            <a:r>
              <a:rPr lang="pl-PL" sz="1500"/>
              <a:t>roughly</a:t>
            </a:r>
            <a:r>
              <a:rPr lang="pl-PL" sz="1500" dirty="0"/>
              <a:t> </a:t>
            </a:r>
            <a:r>
              <a:rPr lang="pl-PL" sz="1500"/>
              <a:t>repeatable</a:t>
            </a:r>
            <a:r>
              <a:rPr lang="pl-PL" sz="1500" dirty="0"/>
              <a:t> </a:t>
            </a:r>
            <a:r>
              <a:rPr lang="pl-PL" sz="1500"/>
              <a:t>impact</a:t>
            </a:r>
            <a:r>
              <a:rPr lang="pl-PL" sz="1500" dirty="0"/>
              <a:t> </a:t>
            </a:r>
            <a:r>
              <a:rPr lang="pl-PL" sz="1500"/>
              <a:t>force</a:t>
            </a:r>
            <a:endParaRPr lang="en-GB" sz="1500"/>
          </a:p>
          <a:p>
            <a:r>
              <a:rPr lang="en-GB" sz="1500" b="1" dirty="0"/>
              <a:t>Structure:</a:t>
            </a:r>
            <a:r>
              <a:rPr lang="en-GB" sz="1500" dirty="0"/>
              <a:t> </a:t>
            </a:r>
            <a:r>
              <a:rPr lang="pl-PL" sz="1500" dirty="0"/>
              <a:t>CNC </a:t>
            </a:r>
            <a:r>
              <a:rPr lang="pl-PL" sz="1500"/>
              <a:t>machine</a:t>
            </a:r>
            <a:r>
              <a:rPr lang="pl-PL" sz="1500" dirty="0"/>
              <a:t>, with a </a:t>
            </a:r>
            <a:r>
              <a:rPr lang="pl-PL" sz="1500"/>
              <a:t>way</a:t>
            </a:r>
            <a:r>
              <a:rPr lang="pl-PL" sz="1500" dirty="0"/>
              <a:t> of </a:t>
            </a:r>
            <a:r>
              <a:rPr lang="pl-PL" sz="1500"/>
              <a:t>setting</a:t>
            </a:r>
            <a:r>
              <a:rPr lang="pl-PL" sz="1500" dirty="0"/>
              <a:t> </a:t>
            </a:r>
            <a:r>
              <a:rPr lang="pl-PL" sz="1500"/>
              <a:t>spindle</a:t>
            </a:r>
            <a:r>
              <a:rPr lang="pl-PL" sz="1500" dirty="0"/>
              <a:t> RPM </a:t>
            </a:r>
            <a:r>
              <a:rPr lang="pl-PL" sz="1500"/>
              <a:t>manually</a:t>
            </a:r>
            <a:endParaRPr lang="en-GB" sz="1500"/>
          </a:p>
          <a:p>
            <a:r>
              <a:rPr lang="en-GB" sz="1500" b="1" dirty="0"/>
              <a:t>Software Environments:</a:t>
            </a:r>
            <a:r>
              <a:rPr lang="en-GB" sz="1500" dirty="0"/>
              <a:t> PC/Laptop running Visual Studio (C# .NET), NI-DAQmx drivers, Excel, and an SQLite instance</a:t>
            </a:r>
          </a:p>
          <a:p>
            <a:endParaRPr lang="pl-PL" sz="2000" dirty="0">
              <a:solidFill>
                <a:srgbClr val="1A2E52"/>
              </a:solidFill>
            </a:endParaRPr>
          </a:p>
          <a:p>
            <a:endParaRPr lang="pl-PL" sz="2000" dirty="0">
              <a:solidFill>
                <a:srgbClr val="1A2E52"/>
              </a:solidFill>
            </a:endParaRPr>
          </a:p>
          <a:p>
            <a:endParaRPr lang="pl-PL" sz="2000" dirty="0">
              <a:solidFill>
                <a:srgbClr val="1A2E52"/>
              </a:solidFill>
            </a:endParaRPr>
          </a:p>
          <a:p>
            <a:endParaRPr lang="pl-PL" sz="2000" dirty="0">
              <a:solidFill>
                <a:srgbClr val="1A2E52"/>
              </a:solidFill>
            </a:endParaRPr>
          </a:p>
          <a:p>
            <a:endParaRPr lang="pl-PL" sz="2000" dirty="0">
              <a:solidFill>
                <a:srgbClr val="1A2E52"/>
              </a:solidFill>
            </a:endParaRPr>
          </a:p>
        </p:txBody>
      </p:sp>
    </p:spTree>
    <p:extLst>
      <p:ext uri="{BB962C8B-B14F-4D97-AF65-F5344CB8AC3E}">
        <p14:creationId xmlns:p14="http://schemas.microsoft.com/office/powerpoint/2010/main" val="4186797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ED08D-BAB0-A7C0-24BB-4E7C31B91CFF}"/>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B0C81247-0806-189B-4B00-A1C22A55029A}"/>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3D0A0DC7-826F-1732-26E3-F8F4579318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D9900670-337D-70F5-C03E-7E658E8F69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DB56BE07-14B6-7039-23FD-C5CE65FC5B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ED7578ED-46C7-0E11-69C5-ECF1DF1E6607}"/>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41D22EEA-9A7A-0CA9-849A-57AFFD6784AB}"/>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54714CDF-653A-604E-22F0-A5C3DC55C3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AD37B41A-C985-2984-E123-2E2A1C2581D2}"/>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6C13B673-463B-6EE1-E647-9FFEAD46CA78}"/>
              </a:ext>
            </a:extLst>
          </p:cNvPr>
          <p:cNvSpPr txBox="1"/>
          <p:nvPr/>
        </p:nvSpPr>
        <p:spPr>
          <a:xfrm>
            <a:off x="577392" y="847567"/>
            <a:ext cx="6094428" cy="400110"/>
          </a:xfrm>
          <a:prstGeom prst="rect">
            <a:avLst/>
          </a:prstGeom>
          <a:noFill/>
        </p:spPr>
        <p:txBody>
          <a:bodyPr wrap="square">
            <a:spAutoFit/>
          </a:bodyPr>
          <a:lstStyle/>
          <a:p>
            <a:r>
              <a:rPr lang="en-US" sz="2000" b="1" dirty="0">
                <a:solidFill>
                  <a:srgbClr val="1A2E52"/>
                </a:solidFill>
                <a:latin typeface="Colber"/>
              </a:rPr>
              <a:t>Meeting 1 Summary</a:t>
            </a:r>
            <a:r>
              <a:rPr lang="pl-PL" sz="2000" b="1" dirty="0">
                <a:solidFill>
                  <a:srgbClr val="1A2E52"/>
                </a:solidFill>
                <a:latin typeface="Colber"/>
              </a:rPr>
              <a:t> </a:t>
            </a:r>
            <a:r>
              <a:rPr lang="en-US" sz="2000" b="1" dirty="0">
                <a:solidFill>
                  <a:srgbClr val="00B0F0"/>
                </a:solidFill>
              </a:rPr>
              <a:t>Time for students: last 15 min</a:t>
            </a:r>
            <a:endParaRPr lang="pl-PL" sz="2000" b="1" dirty="0">
              <a:solidFill>
                <a:srgbClr val="1A2E52"/>
              </a:solidFill>
              <a:latin typeface="Colber"/>
            </a:endParaRPr>
          </a:p>
        </p:txBody>
      </p:sp>
      <p:sp>
        <p:nvSpPr>
          <p:cNvPr id="7" name="pole tekstowe 6">
            <a:extLst>
              <a:ext uri="{FF2B5EF4-FFF2-40B4-BE49-F238E27FC236}">
                <a16:creationId xmlns:a16="http://schemas.microsoft.com/office/drawing/2014/main" id="{0984B90B-0387-ED29-1FA5-16272678890C}"/>
              </a:ext>
            </a:extLst>
          </p:cNvPr>
          <p:cNvSpPr txBox="1"/>
          <p:nvPr/>
        </p:nvSpPr>
        <p:spPr>
          <a:xfrm>
            <a:off x="813848" y="1213345"/>
            <a:ext cx="10800760" cy="6740307"/>
          </a:xfrm>
          <a:prstGeom prst="rect">
            <a:avLst/>
          </a:prstGeom>
          <a:noFill/>
        </p:spPr>
        <p:txBody>
          <a:bodyPr wrap="square">
            <a:spAutoFit/>
          </a:bodyPr>
          <a:lstStyle/>
          <a:p>
            <a:r>
              <a:rPr lang="pl-PL" sz="2000" b="1" dirty="0" err="1">
                <a:solidFill>
                  <a:srgbClr val="1A2E52"/>
                </a:solidFill>
              </a:rPr>
              <a:t>Today</a:t>
            </a:r>
            <a:r>
              <a:rPr lang="pl-PL" sz="2000" b="1" dirty="0">
                <a:solidFill>
                  <a:srgbClr val="1A2E52"/>
                </a:solidFill>
              </a:rPr>
              <a:t> we </a:t>
            </a:r>
            <a:r>
              <a:rPr lang="pl-PL" sz="2000" b="1" dirty="0" err="1">
                <a:solidFill>
                  <a:srgbClr val="1A2E52"/>
                </a:solidFill>
              </a:rPr>
              <a:t>completed</a:t>
            </a:r>
            <a:r>
              <a:rPr lang="pl-PL" sz="2000" b="1" dirty="0">
                <a:solidFill>
                  <a:srgbClr val="1A2E52"/>
                </a:solidFill>
              </a:rPr>
              <a:t>:</a:t>
            </a:r>
          </a:p>
          <a:p>
            <a:r>
              <a:rPr lang="pl-PL" sz="1600" dirty="0">
                <a:solidFill>
                  <a:srgbClr val="1A2E52"/>
                </a:solidFill>
              </a:rPr>
              <a:t> x Team </a:t>
            </a:r>
            <a:r>
              <a:rPr lang="pl-PL" sz="1600" dirty="0" err="1">
                <a:solidFill>
                  <a:srgbClr val="1A2E52"/>
                </a:solidFill>
              </a:rPr>
              <a:t>formation</a:t>
            </a:r>
            <a:br>
              <a:rPr lang="pl-PL" sz="1600" dirty="0">
                <a:solidFill>
                  <a:srgbClr val="1A2E52"/>
                </a:solidFill>
              </a:rPr>
            </a:br>
            <a:r>
              <a:rPr lang="pl-PL" sz="1600" dirty="0">
                <a:solidFill>
                  <a:srgbClr val="1A2E52"/>
                </a:solidFill>
              </a:rPr>
              <a:t> x Problem </a:t>
            </a:r>
            <a:r>
              <a:rPr lang="pl-PL" sz="1600" dirty="0" err="1">
                <a:solidFill>
                  <a:srgbClr val="1A2E52"/>
                </a:solidFill>
              </a:rPr>
              <a:t>definition</a:t>
            </a:r>
            <a:br>
              <a:rPr lang="pl-PL" sz="1600" dirty="0">
                <a:solidFill>
                  <a:srgbClr val="1A2E52"/>
                </a:solidFill>
              </a:rPr>
            </a:br>
            <a:r>
              <a:rPr lang="pl-PL" sz="1600" dirty="0">
                <a:solidFill>
                  <a:srgbClr val="1A2E52"/>
                </a:solidFill>
              </a:rPr>
              <a:t> x </a:t>
            </a:r>
            <a:r>
              <a:rPr lang="pl-PL" sz="1600" dirty="0" err="1">
                <a:solidFill>
                  <a:srgbClr val="1A2E52"/>
                </a:solidFill>
              </a:rPr>
              <a:t>Initial</a:t>
            </a:r>
            <a:r>
              <a:rPr lang="pl-PL" sz="1600" dirty="0">
                <a:solidFill>
                  <a:srgbClr val="1A2E52"/>
                </a:solidFill>
              </a:rPr>
              <a:t> </a:t>
            </a:r>
            <a:r>
              <a:rPr lang="pl-PL" sz="1600" dirty="0" err="1">
                <a:solidFill>
                  <a:srgbClr val="1A2E52"/>
                </a:solidFill>
              </a:rPr>
              <a:t>concept</a:t>
            </a:r>
            <a:br>
              <a:rPr lang="pl-PL" sz="1600" dirty="0">
                <a:solidFill>
                  <a:srgbClr val="1A2E52"/>
                </a:solidFill>
              </a:rPr>
            </a:br>
            <a:r>
              <a:rPr lang="pl-PL" sz="1600" dirty="0">
                <a:solidFill>
                  <a:srgbClr val="1A2E52"/>
                </a:solidFill>
              </a:rPr>
              <a:t>☐ </a:t>
            </a:r>
            <a:r>
              <a:rPr lang="pl-PL" sz="1600" dirty="0" err="1">
                <a:solidFill>
                  <a:srgbClr val="1A2E52"/>
                </a:solidFill>
              </a:rPr>
              <a:t>Measurement</a:t>
            </a:r>
            <a:r>
              <a:rPr lang="pl-PL" sz="1600" dirty="0">
                <a:solidFill>
                  <a:srgbClr val="1A2E52"/>
                </a:solidFill>
              </a:rPr>
              <a:t> </a:t>
            </a:r>
            <a:r>
              <a:rPr lang="pl-PL" sz="1600" dirty="0" err="1">
                <a:solidFill>
                  <a:srgbClr val="1A2E52"/>
                </a:solidFill>
              </a:rPr>
              <a:t>planning</a:t>
            </a:r>
            <a:br>
              <a:rPr lang="pl-PL" sz="1600" dirty="0">
                <a:solidFill>
                  <a:srgbClr val="1A2E52"/>
                </a:solidFill>
              </a:rPr>
            </a:br>
            <a:r>
              <a:rPr lang="pl-PL" sz="1600" dirty="0">
                <a:solidFill>
                  <a:srgbClr val="1A2E52"/>
                </a:solidFill>
              </a:rPr>
              <a:t>☐ </a:t>
            </a:r>
            <a:r>
              <a:rPr lang="pl-PL" sz="1600" dirty="0" err="1">
                <a:solidFill>
                  <a:srgbClr val="1A2E52"/>
                </a:solidFill>
              </a:rPr>
              <a:t>Sustainability</a:t>
            </a:r>
            <a:r>
              <a:rPr lang="pl-PL" sz="1600" dirty="0">
                <a:solidFill>
                  <a:srgbClr val="1A2E52"/>
                </a:solidFill>
              </a:rPr>
              <a:t> </a:t>
            </a:r>
            <a:r>
              <a:rPr lang="pl-PL" sz="1600" dirty="0" err="1">
                <a:solidFill>
                  <a:srgbClr val="1A2E52"/>
                </a:solidFill>
              </a:rPr>
              <a:t>analysis</a:t>
            </a:r>
            <a:br>
              <a:rPr lang="pl-PL" sz="1600" dirty="0">
                <a:solidFill>
                  <a:srgbClr val="1A2E52"/>
                </a:solidFill>
              </a:rPr>
            </a:br>
            <a:r>
              <a:rPr lang="pl-PL" sz="1600" dirty="0">
                <a:solidFill>
                  <a:srgbClr val="1A2E52"/>
                </a:solidFill>
              </a:rPr>
              <a:t>☐ Project </a:t>
            </a:r>
            <a:r>
              <a:rPr lang="pl-PL" sz="1600" dirty="0" err="1">
                <a:solidFill>
                  <a:srgbClr val="1A2E52"/>
                </a:solidFill>
              </a:rPr>
              <a:t>planning</a:t>
            </a:r>
            <a:endParaRPr lang="pl-PL" sz="1600" dirty="0">
              <a:solidFill>
                <a:srgbClr val="1A2E52"/>
              </a:solidFill>
            </a:endParaRPr>
          </a:p>
          <a:p>
            <a:r>
              <a:rPr lang="pl-PL" sz="2000" b="1" dirty="0" err="1">
                <a:solidFill>
                  <a:srgbClr val="1A2E52"/>
                </a:solidFill>
              </a:rPr>
              <a:t>Next</a:t>
            </a:r>
            <a:r>
              <a:rPr lang="pl-PL" sz="2000" b="1" dirty="0">
                <a:solidFill>
                  <a:srgbClr val="1A2E52"/>
                </a:solidFill>
              </a:rPr>
              <a:t> step </a:t>
            </a:r>
            <a:r>
              <a:rPr lang="pl-PL" sz="2000" b="1" dirty="0" err="1">
                <a:solidFill>
                  <a:srgbClr val="1A2E52"/>
                </a:solidFill>
              </a:rPr>
              <a:t>before</a:t>
            </a:r>
            <a:r>
              <a:rPr lang="pl-PL" sz="2000" b="1" dirty="0">
                <a:solidFill>
                  <a:srgbClr val="1A2E52"/>
                </a:solidFill>
              </a:rPr>
              <a:t> Meeting 2:</a:t>
            </a:r>
            <a:endParaRPr lang="pl-PL" sz="2000" b="1" dirty="0">
              <a:solidFill>
                <a:srgbClr val="00B0F0"/>
              </a:solidFill>
            </a:endParaRPr>
          </a:p>
          <a:p>
            <a:r>
              <a:rPr lang="pl-PL" sz="1500" dirty="0"/>
              <a:t>B</a:t>
            </a:r>
            <a:r>
              <a:rPr lang="en-GB" sz="1500" dirty="0" err="1"/>
              <a:t>efore</a:t>
            </a:r>
            <a:r>
              <a:rPr lang="en-GB" sz="1500" dirty="0"/>
              <a:t> our next meeting, our team will configure the core C# background worker service to verify connection stability with the NI-DAQmx .NET drivers. We will map out the specific schema for the SQLite metadata database and the formatting structure for the Excel results reports. Additionally, we plan to draft a mock dataset representing a typical impact decay waveform to test our frontend chart visualization ahead of the physical laboratory assembly.</a:t>
            </a:r>
            <a:endParaRPr lang="pl-PL" sz="1500" b="1" dirty="0">
              <a:solidFill>
                <a:srgbClr val="1A2E52"/>
              </a:solidFill>
            </a:endParaRPr>
          </a:p>
          <a:p>
            <a:r>
              <a:rPr lang="pl-PL" sz="2000" b="1" dirty="0" err="1">
                <a:solidFill>
                  <a:srgbClr val="1A2E52"/>
                </a:solidFill>
              </a:rPr>
              <a:t>Our</a:t>
            </a:r>
            <a:r>
              <a:rPr lang="pl-PL" sz="2000" b="1" dirty="0">
                <a:solidFill>
                  <a:srgbClr val="1A2E52"/>
                </a:solidFill>
              </a:rPr>
              <a:t> team </a:t>
            </a:r>
            <a:r>
              <a:rPr lang="pl-PL" sz="2000" b="1" dirty="0" err="1">
                <a:solidFill>
                  <a:srgbClr val="1A2E52"/>
                </a:solidFill>
              </a:rPr>
              <a:t>will</a:t>
            </a:r>
            <a:r>
              <a:rPr lang="pl-PL" sz="2000" b="1" dirty="0">
                <a:solidFill>
                  <a:srgbClr val="1A2E52"/>
                </a:solidFill>
              </a:rPr>
              <a:t>:</a:t>
            </a:r>
          </a:p>
          <a:p>
            <a:r>
              <a:rPr lang="pl-PL" sz="1600" dirty="0">
                <a:solidFill>
                  <a:srgbClr val="1A2E52"/>
                </a:solidFill>
              </a:rPr>
              <a:t>x </a:t>
            </a:r>
            <a:r>
              <a:rPr lang="pl-PL" sz="1600" dirty="0" err="1">
                <a:solidFill>
                  <a:srgbClr val="1A2E52"/>
                </a:solidFill>
              </a:rPr>
              <a:t>prepare</a:t>
            </a:r>
            <a:r>
              <a:rPr lang="pl-PL" sz="1600" dirty="0">
                <a:solidFill>
                  <a:srgbClr val="1A2E52"/>
                </a:solidFill>
              </a:rPr>
              <a:t> </a:t>
            </a:r>
            <a:r>
              <a:rPr lang="pl-PL" sz="1600" dirty="0" err="1">
                <a:solidFill>
                  <a:srgbClr val="1A2E52"/>
                </a:solidFill>
              </a:rPr>
              <a:t>technical</a:t>
            </a:r>
            <a:r>
              <a:rPr lang="pl-PL" sz="1600" dirty="0">
                <a:solidFill>
                  <a:srgbClr val="1A2E52"/>
                </a:solidFill>
              </a:rPr>
              <a:t> </a:t>
            </a:r>
            <a:r>
              <a:rPr lang="pl-PL" sz="1600" dirty="0" err="1">
                <a:solidFill>
                  <a:srgbClr val="1A2E52"/>
                </a:solidFill>
              </a:rPr>
              <a:t>concept</a:t>
            </a:r>
            <a:br>
              <a:rPr lang="pl-PL" sz="1600" dirty="0">
                <a:solidFill>
                  <a:srgbClr val="1A2E52"/>
                </a:solidFill>
              </a:rPr>
            </a:br>
            <a:r>
              <a:rPr lang="pl-PL" sz="1600" dirty="0">
                <a:solidFill>
                  <a:srgbClr val="1A2E52"/>
                </a:solidFill>
              </a:rPr>
              <a:t>x </a:t>
            </a:r>
            <a:r>
              <a:rPr lang="pl-PL" sz="1600" dirty="0" err="1">
                <a:solidFill>
                  <a:srgbClr val="1A2E52"/>
                </a:solidFill>
              </a:rPr>
              <a:t>select</a:t>
            </a:r>
            <a:r>
              <a:rPr lang="pl-PL" sz="1600" dirty="0">
                <a:solidFill>
                  <a:srgbClr val="1A2E52"/>
                </a:solidFill>
              </a:rPr>
              <a:t> </a:t>
            </a:r>
            <a:r>
              <a:rPr lang="pl-PL" sz="1600" dirty="0" err="1">
                <a:solidFill>
                  <a:srgbClr val="1A2E52"/>
                </a:solidFill>
              </a:rPr>
              <a:t>sensors</a:t>
            </a:r>
            <a:br>
              <a:rPr lang="pl-PL" sz="1600" dirty="0">
                <a:solidFill>
                  <a:srgbClr val="1A2E52"/>
                </a:solidFill>
              </a:rPr>
            </a:br>
            <a:r>
              <a:rPr lang="pl-PL" sz="1600" dirty="0">
                <a:solidFill>
                  <a:srgbClr val="1A2E52"/>
                </a:solidFill>
              </a:rPr>
              <a:t>x design </a:t>
            </a:r>
            <a:r>
              <a:rPr lang="pl-PL" sz="1600" dirty="0" err="1">
                <a:solidFill>
                  <a:srgbClr val="1A2E52"/>
                </a:solidFill>
              </a:rPr>
              <a:t>measurement</a:t>
            </a:r>
            <a:r>
              <a:rPr lang="pl-PL" sz="1600" dirty="0">
                <a:solidFill>
                  <a:srgbClr val="1A2E52"/>
                </a:solidFill>
              </a:rPr>
              <a:t> setup</a:t>
            </a:r>
          </a:p>
          <a:p>
            <a:r>
              <a:rPr lang="pl-PL" sz="1600" dirty="0">
                <a:solidFill>
                  <a:srgbClr val="1A2E52"/>
                </a:solidFill>
              </a:rPr>
              <a:t>x </a:t>
            </a:r>
            <a:r>
              <a:rPr lang="pl-PL" sz="1600" dirty="0" err="1">
                <a:solidFill>
                  <a:srgbClr val="1A2E52"/>
                </a:solidFill>
              </a:rPr>
              <a:t>prepare</a:t>
            </a:r>
            <a:r>
              <a:rPr lang="pl-PL" sz="1600" dirty="0">
                <a:solidFill>
                  <a:srgbClr val="1A2E52"/>
                </a:solidFill>
              </a:rPr>
              <a:t> </a:t>
            </a:r>
            <a:r>
              <a:rPr lang="pl-PL" sz="1600" dirty="0" err="1">
                <a:solidFill>
                  <a:srgbClr val="1A2E52"/>
                </a:solidFill>
              </a:rPr>
              <a:t>initial</a:t>
            </a:r>
            <a:r>
              <a:rPr lang="pl-PL" sz="1600" dirty="0">
                <a:solidFill>
                  <a:srgbClr val="1A2E52"/>
                </a:solidFill>
              </a:rPr>
              <a:t> </a:t>
            </a:r>
            <a:r>
              <a:rPr lang="pl-PL" sz="1600" dirty="0" err="1">
                <a:solidFill>
                  <a:srgbClr val="1A2E52"/>
                </a:solidFill>
              </a:rPr>
              <a:t>measurement</a:t>
            </a:r>
            <a:r>
              <a:rPr lang="pl-PL" sz="1600" dirty="0">
                <a:solidFill>
                  <a:srgbClr val="1A2E52"/>
                </a:solidFill>
              </a:rPr>
              <a:t> </a:t>
            </a:r>
            <a:r>
              <a:rPr lang="pl-PL" sz="1600" dirty="0" err="1">
                <a:solidFill>
                  <a:srgbClr val="1A2E52"/>
                </a:solidFill>
              </a:rPr>
              <a:t>interface</a:t>
            </a:r>
            <a:r>
              <a:rPr lang="pl-PL" sz="1600" dirty="0">
                <a:solidFill>
                  <a:srgbClr val="1A2E52"/>
                </a:solidFill>
              </a:rPr>
              <a:t> in C#</a:t>
            </a:r>
            <a:br>
              <a:rPr lang="pl-PL" sz="1600" dirty="0">
                <a:solidFill>
                  <a:srgbClr val="1A2E52"/>
                </a:solidFill>
              </a:rPr>
            </a:br>
            <a:r>
              <a:rPr lang="pl-PL" sz="1600" dirty="0">
                <a:solidFill>
                  <a:srgbClr val="1A2E52"/>
                </a:solidFill>
              </a:rPr>
              <a:t>x </a:t>
            </a:r>
            <a:r>
              <a:rPr lang="pl-PL" sz="1600" dirty="0" err="1">
                <a:solidFill>
                  <a:srgbClr val="1A2E52"/>
                </a:solidFill>
              </a:rPr>
              <a:t>collect</a:t>
            </a:r>
            <a:r>
              <a:rPr lang="pl-PL" sz="1600" dirty="0">
                <a:solidFill>
                  <a:srgbClr val="1A2E52"/>
                </a:solidFill>
              </a:rPr>
              <a:t> </a:t>
            </a:r>
            <a:r>
              <a:rPr lang="pl-PL" sz="1600" dirty="0" err="1">
                <a:solidFill>
                  <a:srgbClr val="1A2E52"/>
                </a:solidFill>
              </a:rPr>
              <a:t>technical</a:t>
            </a:r>
            <a:r>
              <a:rPr lang="pl-PL" sz="1600" dirty="0">
                <a:solidFill>
                  <a:srgbClr val="1A2E52"/>
                </a:solidFill>
              </a:rPr>
              <a:t> </a:t>
            </a:r>
            <a:r>
              <a:rPr lang="pl-PL" sz="1600" dirty="0" err="1">
                <a:solidFill>
                  <a:srgbClr val="1A2E52"/>
                </a:solidFill>
              </a:rPr>
              <a:t>information</a:t>
            </a:r>
            <a:br>
              <a:rPr lang="pl-PL" sz="1600" dirty="0">
                <a:solidFill>
                  <a:srgbClr val="1A2E52"/>
                </a:solidFill>
              </a:rPr>
            </a:br>
            <a:r>
              <a:rPr lang="pl-PL" sz="1600" dirty="0">
                <a:solidFill>
                  <a:srgbClr val="1A2E52"/>
                </a:solidFill>
              </a:rPr>
              <a:t>x </a:t>
            </a:r>
            <a:r>
              <a:rPr lang="pl-PL" sz="1600" dirty="0" err="1">
                <a:solidFill>
                  <a:srgbClr val="1A2E52"/>
                </a:solidFill>
              </a:rPr>
              <a:t>prepare</a:t>
            </a:r>
            <a:r>
              <a:rPr lang="pl-PL" sz="1600" dirty="0">
                <a:solidFill>
                  <a:srgbClr val="1A2E52"/>
                </a:solidFill>
              </a:rPr>
              <a:t> </a:t>
            </a:r>
            <a:r>
              <a:rPr lang="pl-PL" sz="1600" dirty="0" err="1">
                <a:solidFill>
                  <a:srgbClr val="1A2E52"/>
                </a:solidFill>
              </a:rPr>
              <a:t>experimental</a:t>
            </a:r>
            <a:r>
              <a:rPr lang="pl-PL" sz="1600" dirty="0">
                <a:solidFill>
                  <a:srgbClr val="1A2E52"/>
                </a:solidFill>
              </a:rPr>
              <a:t> </a:t>
            </a:r>
            <a:r>
              <a:rPr lang="pl-PL" sz="1600" dirty="0" err="1">
                <a:solidFill>
                  <a:srgbClr val="1A2E52"/>
                </a:solidFill>
              </a:rPr>
              <a:t>procedure</a:t>
            </a:r>
            <a:endParaRPr lang="pl-PL" sz="1600" dirty="0">
              <a:solidFill>
                <a:srgbClr val="1A2E52"/>
              </a:solidFill>
            </a:endParaRPr>
          </a:p>
          <a:p>
            <a:endParaRPr lang="pl-PL" sz="2000" dirty="0">
              <a:solidFill>
                <a:srgbClr val="C00000"/>
              </a:solidFill>
            </a:endParaRPr>
          </a:p>
          <a:p>
            <a:endParaRPr lang="pl-PL" sz="2000" dirty="0">
              <a:solidFill>
                <a:srgbClr val="C00000"/>
              </a:solidFill>
            </a:endParaRPr>
          </a:p>
          <a:p>
            <a:endParaRPr lang="pl-PL" sz="2000" dirty="0">
              <a:solidFill>
                <a:srgbClr val="1A2E52"/>
              </a:solidFill>
            </a:endParaRPr>
          </a:p>
          <a:p>
            <a:endParaRPr lang="pl-PL" sz="2000" dirty="0">
              <a:solidFill>
                <a:srgbClr val="1A2E52"/>
              </a:solidFill>
            </a:endParaRPr>
          </a:p>
          <a:p>
            <a:endParaRPr lang="pl-PL" sz="2000" dirty="0">
              <a:solidFill>
                <a:srgbClr val="1A2E52"/>
              </a:solidFill>
            </a:endParaRPr>
          </a:p>
          <a:p>
            <a:endParaRPr lang="pl-PL" sz="2000" dirty="0">
              <a:solidFill>
                <a:srgbClr val="1A2E52"/>
              </a:solidFill>
            </a:endParaRPr>
          </a:p>
        </p:txBody>
      </p:sp>
    </p:spTree>
    <p:extLst>
      <p:ext uri="{BB962C8B-B14F-4D97-AF65-F5344CB8AC3E}">
        <p14:creationId xmlns:p14="http://schemas.microsoft.com/office/powerpoint/2010/main" val="1805640128"/>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236</TotalTime>
  <Words>2091</Words>
  <Application>Microsoft Office PowerPoint</Application>
  <PresentationFormat>Widescreen</PresentationFormat>
  <Paragraphs>197</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Angela Taboada</dc:creator>
  <cp:lastModifiedBy>Patryk Januś (pj317575)</cp:lastModifiedBy>
  <cp:revision>70</cp:revision>
  <cp:lastPrinted>2024-11-29T10:54:59Z</cp:lastPrinted>
  <dcterms:created xsi:type="dcterms:W3CDTF">2024-11-05T11:34:46Z</dcterms:created>
  <dcterms:modified xsi:type="dcterms:W3CDTF">2026-06-23T18:27:21Z</dcterms:modified>
</cp:coreProperties>
</file>