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80" r:id="rId4"/>
    <p:sldId id="306" r:id="rId5"/>
    <p:sldId id="307" r:id="rId6"/>
    <p:sldId id="309" r:id="rId7"/>
    <p:sldId id="316" r:id="rId8"/>
    <p:sldId id="310" r:id="rId9"/>
    <p:sldId id="314" r:id="rId10"/>
    <p:sldId id="318" r:id="rId11"/>
    <p:sldId id="315" r:id="rId12"/>
    <p:sldId id="319" r:id="rId13"/>
    <p:sldId id="311" r:id="rId14"/>
    <p:sldId id="312" r:id="rId15"/>
    <p:sldId id="313" r:id="rId16"/>
    <p:sldId id="305" r:id="rId17"/>
  </p:sldIdLst>
  <p:sldSz cx="12192000" cy="6858000"/>
  <p:notesSz cx="6797675" cy="99282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2E52"/>
    <a:srgbClr val="003C25"/>
    <a:srgbClr val="789A87"/>
    <a:srgbClr val="003399"/>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18C3FE-17E2-DCBC-81F5-5BB4BB145F3E}" v="4460" dt="2026-06-23T20:11:07.338"/>
  </p1510:revLst>
</p1510:revInfo>
</file>

<file path=ppt/tableStyles.xml><?xml version="1.0" encoding="utf-8"?>
<a:tblStyleLst xmlns:a="http://schemas.openxmlformats.org/drawingml/2006/main" def="{5C22544A-7EE6-4342-B048-85BDC9FD1C3A}">
  <a:tblStyle styleId="{3C2FFA5D-87B4-456A-9821-1D502468CF0F}" styleName="Styl z motywem 1 — Ak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Styl pośredni 2 — Ak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yl pośredni 1 — Ak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Styl jasny 2 — Ak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tryk Januś (pj317575)" userId="S::pj317575@student.polsl.pl::2e0068ae-d800-4b4d-bfb4-1c1af6e40c59" providerId="AD" clId="Web-{5218C3FE-17E2-DCBC-81F5-5BB4BB145F3E}"/>
    <pc:docChg chg="addSld delSld modSld sldOrd">
      <pc:chgData name="Patryk Januś (pj317575)" userId="S::pj317575@student.polsl.pl::2e0068ae-d800-4b4d-bfb4-1c1af6e40c59" providerId="AD" clId="Web-{5218C3FE-17E2-DCBC-81F5-5BB4BB145F3E}" dt="2026-06-23T20:11:06.135" v="2703" actId="20577"/>
      <pc:docMkLst>
        <pc:docMk/>
      </pc:docMkLst>
      <pc:sldChg chg="modSp">
        <pc:chgData name="Patryk Januś (pj317575)" userId="S::pj317575@student.polsl.pl::2e0068ae-d800-4b4d-bfb4-1c1af6e40c59" providerId="AD" clId="Web-{5218C3FE-17E2-DCBC-81F5-5BB4BB145F3E}" dt="2026-06-23T18:28:30.401" v="8" actId="20577"/>
        <pc:sldMkLst>
          <pc:docMk/>
          <pc:sldMk cId="1620291090" sldId="256"/>
        </pc:sldMkLst>
        <pc:spChg chg="mod">
          <ac:chgData name="Patryk Januś (pj317575)" userId="S::pj317575@student.polsl.pl::2e0068ae-d800-4b4d-bfb4-1c1af6e40c59" providerId="AD" clId="Web-{5218C3FE-17E2-DCBC-81F5-5BB4BB145F3E}" dt="2026-06-23T18:28:30.401" v="8" actId="20577"/>
          <ac:spMkLst>
            <pc:docMk/>
            <pc:sldMk cId="1620291090" sldId="256"/>
            <ac:spMk id="20" creationId="{079C4AC3-BC0A-4AAD-8E37-2965FED5A733}"/>
          </ac:spMkLst>
        </pc:spChg>
      </pc:sldChg>
      <pc:sldChg chg="modSp">
        <pc:chgData name="Patryk Januś (pj317575)" userId="S::pj317575@student.polsl.pl::2e0068ae-d800-4b4d-bfb4-1c1af6e40c59" providerId="AD" clId="Web-{5218C3FE-17E2-DCBC-81F5-5BB4BB145F3E}" dt="2026-06-23T18:28:58.355" v="15" actId="20577"/>
        <pc:sldMkLst>
          <pc:docMk/>
          <pc:sldMk cId="2725548179" sldId="257"/>
        </pc:sldMkLst>
        <pc:spChg chg="mod">
          <ac:chgData name="Patryk Januś (pj317575)" userId="S::pj317575@student.polsl.pl::2e0068ae-d800-4b4d-bfb4-1c1af6e40c59" providerId="AD" clId="Web-{5218C3FE-17E2-DCBC-81F5-5BB4BB145F3E}" dt="2026-06-23T18:28:58.355" v="15" actId="20577"/>
          <ac:spMkLst>
            <pc:docMk/>
            <pc:sldMk cId="2725548179" sldId="257"/>
            <ac:spMk id="7" creationId="{2D273141-746D-F239-E745-7C9BDB8BB704}"/>
          </ac:spMkLst>
        </pc:spChg>
      </pc:sldChg>
      <pc:sldChg chg="modSp">
        <pc:chgData name="Patryk Januś (pj317575)" userId="S::pj317575@student.polsl.pl::2e0068ae-d800-4b4d-bfb4-1c1af6e40c59" providerId="AD" clId="Web-{5218C3FE-17E2-DCBC-81F5-5BB4BB145F3E}" dt="2026-06-23T18:58:11.240" v="1014"/>
        <pc:sldMkLst>
          <pc:docMk/>
          <pc:sldMk cId="895000474" sldId="280"/>
        </pc:sldMkLst>
        <pc:graphicFrameChg chg="mod modGraphic">
          <ac:chgData name="Patryk Januś (pj317575)" userId="S::pj317575@student.polsl.pl::2e0068ae-d800-4b4d-bfb4-1c1af6e40c59" providerId="AD" clId="Web-{5218C3FE-17E2-DCBC-81F5-5BB4BB145F3E}" dt="2026-06-23T18:58:11.240" v="1014"/>
          <ac:graphicFrameMkLst>
            <pc:docMk/>
            <pc:sldMk cId="895000474" sldId="280"/>
            <ac:graphicFrameMk id="2" creationId="{EF41A930-3D38-A112-FC35-5235D75B8715}"/>
          </ac:graphicFrameMkLst>
        </pc:graphicFrameChg>
      </pc:sldChg>
      <pc:sldChg chg="delSp modSp">
        <pc:chgData name="Patryk Januś (pj317575)" userId="S::pj317575@student.polsl.pl::2e0068ae-d800-4b4d-bfb4-1c1af6e40c59" providerId="AD" clId="Web-{5218C3FE-17E2-DCBC-81F5-5BB4BB145F3E}" dt="2026-06-23T19:18:15.740" v="1379"/>
        <pc:sldMkLst>
          <pc:docMk/>
          <pc:sldMk cId="4097770234" sldId="305"/>
        </pc:sldMkLst>
        <pc:spChg chg="del mod">
          <ac:chgData name="Patryk Januś (pj317575)" userId="S::pj317575@student.polsl.pl::2e0068ae-d800-4b4d-bfb4-1c1af6e40c59" providerId="AD" clId="Web-{5218C3FE-17E2-DCBC-81F5-5BB4BB145F3E}" dt="2026-06-23T19:18:15.740" v="1379"/>
          <ac:spMkLst>
            <pc:docMk/>
            <pc:sldMk cId="4097770234" sldId="305"/>
            <ac:spMk id="22" creationId="{B40AF0B2-8140-AFF4-EABD-31A90690BD55}"/>
          </ac:spMkLst>
        </pc:spChg>
        <pc:graphicFrameChg chg="mod modGraphic">
          <ac:chgData name="Patryk Januś (pj317575)" userId="S::pj317575@student.polsl.pl::2e0068ae-d800-4b4d-bfb4-1c1af6e40c59" providerId="AD" clId="Web-{5218C3FE-17E2-DCBC-81F5-5BB4BB145F3E}" dt="2026-06-23T18:47:17.993" v="264"/>
          <ac:graphicFrameMkLst>
            <pc:docMk/>
            <pc:sldMk cId="4097770234" sldId="305"/>
            <ac:graphicFrameMk id="20" creationId="{FE371F01-E2E3-7FA1-A5C1-371CE5D6F0C4}"/>
          </ac:graphicFrameMkLst>
        </pc:graphicFrameChg>
      </pc:sldChg>
      <pc:sldChg chg="modSp">
        <pc:chgData name="Patryk Januś (pj317575)" userId="S::pj317575@student.polsl.pl::2e0068ae-d800-4b4d-bfb4-1c1af6e40c59" providerId="AD" clId="Web-{5218C3FE-17E2-DCBC-81F5-5BB4BB145F3E}" dt="2026-06-23T19:01:36.099" v="1148" actId="20577"/>
        <pc:sldMkLst>
          <pc:docMk/>
          <pc:sldMk cId="4238096984" sldId="306"/>
        </pc:sldMkLst>
        <pc:spChg chg="mod">
          <ac:chgData name="Patryk Januś (pj317575)" userId="S::pj317575@student.polsl.pl::2e0068ae-d800-4b4d-bfb4-1c1af6e40c59" providerId="AD" clId="Web-{5218C3FE-17E2-DCBC-81F5-5BB4BB145F3E}" dt="2026-06-23T19:01:36.099" v="1148" actId="20577"/>
          <ac:spMkLst>
            <pc:docMk/>
            <pc:sldMk cId="4238096984" sldId="306"/>
            <ac:spMk id="7" creationId="{2A0B89F4-E66F-8F99-8A02-8289EDB862CD}"/>
          </ac:spMkLst>
        </pc:spChg>
      </pc:sldChg>
      <pc:sldChg chg="modSp">
        <pc:chgData name="Patryk Januś (pj317575)" userId="S::pj317575@student.polsl.pl::2e0068ae-d800-4b4d-bfb4-1c1af6e40c59" providerId="AD" clId="Web-{5218C3FE-17E2-DCBC-81F5-5BB4BB145F3E}" dt="2026-06-23T19:01:59.802" v="1150"/>
        <pc:sldMkLst>
          <pc:docMk/>
          <pc:sldMk cId="3520700336" sldId="307"/>
        </pc:sldMkLst>
        <pc:graphicFrameChg chg="mod modGraphic">
          <ac:chgData name="Patryk Januś (pj317575)" userId="S::pj317575@student.polsl.pl::2e0068ae-d800-4b4d-bfb4-1c1af6e40c59" providerId="AD" clId="Web-{5218C3FE-17E2-DCBC-81F5-5BB4BB145F3E}" dt="2026-06-23T19:01:59.802" v="1150"/>
          <ac:graphicFrameMkLst>
            <pc:docMk/>
            <pc:sldMk cId="3520700336" sldId="307"/>
            <ac:graphicFrameMk id="2" creationId="{D2CE6623-668A-FA98-219A-38247C22B232}"/>
          </ac:graphicFrameMkLst>
        </pc:graphicFrameChg>
      </pc:sldChg>
      <pc:sldChg chg="modSp">
        <pc:chgData name="Patryk Januś (pj317575)" userId="S::pj317575@student.polsl.pl::2e0068ae-d800-4b4d-bfb4-1c1af6e40c59" providerId="AD" clId="Web-{5218C3FE-17E2-DCBC-81F5-5BB4BB145F3E}" dt="2026-06-23T19:09:30.866" v="1325" actId="20577"/>
        <pc:sldMkLst>
          <pc:docMk/>
          <pc:sldMk cId="1333158755" sldId="309"/>
        </pc:sldMkLst>
        <pc:spChg chg="mod">
          <ac:chgData name="Patryk Januś (pj317575)" userId="S::pj317575@student.polsl.pl::2e0068ae-d800-4b4d-bfb4-1c1af6e40c59" providerId="AD" clId="Web-{5218C3FE-17E2-DCBC-81F5-5BB4BB145F3E}" dt="2026-06-23T19:06:33.708" v="1274" actId="20577"/>
          <ac:spMkLst>
            <pc:docMk/>
            <pc:sldMk cId="1333158755" sldId="309"/>
            <ac:spMk id="7" creationId="{B53F06C6-917A-9E46-E6A3-5CCCB2DB587B}"/>
          </ac:spMkLst>
        </pc:spChg>
        <pc:spChg chg="mod">
          <ac:chgData name="Patryk Januś (pj317575)" userId="S::pj317575@student.polsl.pl::2e0068ae-d800-4b4d-bfb4-1c1af6e40c59" providerId="AD" clId="Web-{5218C3FE-17E2-DCBC-81F5-5BB4BB145F3E}" dt="2026-06-23T19:09:30.866" v="1325" actId="20577"/>
          <ac:spMkLst>
            <pc:docMk/>
            <pc:sldMk cId="1333158755" sldId="309"/>
            <ac:spMk id="8" creationId="{05FDB7FC-CDB9-31BF-B81B-1510C654A6B7}"/>
          </ac:spMkLst>
        </pc:spChg>
      </pc:sldChg>
      <pc:sldChg chg="addSp modSp">
        <pc:chgData name="Patryk Januś (pj317575)" userId="S::pj317575@student.polsl.pl::2e0068ae-d800-4b4d-bfb4-1c1af6e40c59" providerId="AD" clId="Web-{5218C3FE-17E2-DCBC-81F5-5BB4BB145F3E}" dt="2026-06-23T20:07:31.258" v="2686" actId="20577"/>
        <pc:sldMkLst>
          <pc:docMk/>
          <pc:sldMk cId="3887267450" sldId="310"/>
        </pc:sldMkLst>
        <pc:spChg chg="mod">
          <ac:chgData name="Patryk Januś (pj317575)" userId="S::pj317575@student.polsl.pl::2e0068ae-d800-4b4d-bfb4-1c1af6e40c59" providerId="AD" clId="Web-{5218C3FE-17E2-DCBC-81F5-5BB4BB145F3E}" dt="2026-06-23T19:49:57.573" v="2227" actId="14100"/>
          <ac:spMkLst>
            <pc:docMk/>
            <pc:sldMk cId="3887267450" sldId="310"/>
            <ac:spMk id="3" creationId="{36548F8E-12F5-B591-6230-0323EEC01A2A}"/>
          </ac:spMkLst>
        </pc:spChg>
        <pc:spChg chg="mod">
          <ac:chgData name="Patryk Januś (pj317575)" userId="S::pj317575@student.polsl.pl::2e0068ae-d800-4b4d-bfb4-1c1af6e40c59" providerId="AD" clId="Web-{5218C3FE-17E2-DCBC-81F5-5BB4BB145F3E}" dt="2026-06-23T20:07:31.258" v="2686" actId="20577"/>
          <ac:spMkLst>
            <pc:docMk/>
            <pc:sldMk cId="3887267450" sldId="310"/>
            <ac:spMk id="7" creationId="{1F88D6BF-ACAB-7A9C-260A-462EEA2F158C}"/>
          </ac:spMkLst>
        </pc:spChg>
        <pc:picChg chg="add mod">
          <ac:chgData name="Patryk Januś (pj317575)" userId="S::pj317575@student.polsl.pl::2e0068ae-d800-4b4d-bfb4-1c1af6e40c59" providerId="AD" clId="Web-{5218C3FE-17E2-DCBC-81F5-5BB4BB145F3E}" dt="2026-06-23T19:31:04.426" v="1392" actId="1076"/>
          <ac:picMkLst>
            <pc:docMk/>
            <pc:sldMk cId="3887267450" sldId="310"/>
            <ac:picMk id="2" creationId="{C0361CF2-214B-F9FF-9353-44C80A4194BE}"/>
          </ac:picMkLst>
        </pc:picChg>
      </pc:sldChg>
      <pc:sldChg chg="modSp">
        <pc:chgData name="Patryk Januś (pj317575)" userId="S::pj317575@student.polsl.pl::2e0068ae-d800-4b4d-bfb4-1c1af6e40c59" providerId="AD" clId="Web-{5218C3FE-17E2-DCBC-81F5-5BB4BB145F3E}" dt="2026-06-23T19:17:50.412" v="1376" actId="20577"/>
        <pc:sldMkLst>
          <pc:docMk/>
          <pc:sldMk cId="3665931447" sldId="311"/>
        </pc:sldMkLst>
        <pc:spChg chg="mod">
          <ac:chgData name="Patryk Januś (pj317575)" userId="S::pj317575@student.polsl.pl::2e0068ae-d800-4b4d-bfb4-1c1af6e40c59" providerId="AD" clId="Web-{5218C3FE-17E2-DCBC-81F5-5BB4BB145F3E}" dt="2026-06-23T19:17:50.412" v="1376" actId="20577"/>
          <ac:spMkLst>
            <pc:docMk/>
            <pc:sldMk cId="3665931447" sldId="311"/>
            <ac:spMk id="7" creationId="{6CFD8975-9F49-82C2-7DEC-211D95E48D86}"/>
          </ac:spMkLst>
        </pc:spChg>
      </pc:sldChg>
      <pc:sldChg chg="modSp">
        <pc:chgData name="Patryk Januś (pj317575)" userId="S::pj317575@student.polsl.pl::2e0068ae-d800-4b4d-bfb4-1c1af6e40c59" providerId="AD" clId="Web-{5218C3FE-17E2-DCBC-81F5-5BB4BB145F3E}" dt="2026-06-23T19:18:03.209" v="1377" actId="1076"/>
        <pc:sldMkLst>
          <pc:docMk/>
          <pc:sldMk cId="3257460148" sldId="313"/>
        </pc:sldMkLst>
        <pc:graphicFrameChg chg="mod">
          <ac:chgData name="Patryk Januś (pj317575)" userId="S::pj317575@student.polsl.pl::2e0068ae-d800-4b4d-bfb4-1c1af6e40c59" providerId="AD" clId="Web-{5218C3FE-17E2-DCBC-81F5-5BB4BB145F3E}" dt="2026-06-23T19:18:03.209" v="1377" actId="1076"/>
          <ac:graphicFrameMkLst>
            <pc:docMk/>
            <pc:sldMk cId="3257460148" sldId="313"/>
            <ac:graphicFrameMk id="22" creationId="{3F80E4A8-C6C3-675D-1990-912C36765A30}"/>
          </ac:graphicFrameMkLst>
        </pc:graphicFrameChg>
      </pc:sldChg>
      <pc:sldChg chg="addSp delSp modSp add">
        <pc:chgData name="Patryk Januś (pj317575)" userId="S::pj317575@student.polsl.pl::2e0068ae-d800-4b4d-bfb4-1c1af6e40c59" providerId="AD" clId="Web-{5218C3FE-17E2-DCBC-81F5-5BB4BB145F3E}" dt="2026-06-23T20:06:06.462" v="2685" actId="20577"/>
        <pc:sldMkLst>
          <pc:docMk/>
          <pc:sldMk cId="3977314645" sldId="314"/>
        </pc:sldMkLst>
        <pc:spChg chg="del mod">
          <ac:chgData name="Patryk Januś (pj317575)" userId="S::pj317575@student.polsl.pl::2e0068ae-d800-4b4d-bfb4-1c1af6e40c59" providerId="AD" clId="Web-{5218C3FE-17E2-DCBC-81F5-5BB4BB145F3E}" dt="2026-06-23T19:50:01.854" v="2229"/>
          <ac:spMkLst>
            <pc:docMk/>
            <pc:sldMk cId="3977314645" sldId="314"/>
            <ac:spMk id="3" creationId="{36548F8E-12F5-B591-6230-0323EEC01A2A}"/>
          </ac:spMkLst>
        </pc:spChg>
        <pc:spChg chg="mod">
          <ac:chgData name="Patryk Januś (pj317575)" userId="S::pj317575@student.polsl.pl::2e0068ae-d800-4b4d-bfb4-1c1af6e40c59" providerId="AD" clId="Web-{5218C3FE-17E2-DCBC-81F5-5BB4BB145F3E}" dt="2026-06-23T20:06:06.462" v="2685" actId="20577"/>
          <ac:spMkLst>
            <pc:docMk/>
            <pc:sldMk cId="3977314645" sldId="314"/>
            <ac:spMk id="7" creationId="{1F88D6BF-ACAB-7A9C-260A-462EEA2F158C}"/>
          </ac:spMkLst>
        </pc:spChg>
        <pc:spChg chg="add">
          <ac:chgData name="Patryk Januś (pj317575)" userId="S::pj317575@student.polsl.pl::2e0068ae-d800-4b4d-bfb4-1c1af6e40c59" providerId="AD" clId="Web-{5218C3FE-17E2-DCBC-81F5-5BB4BB145F3E}" dt="2026-06-23T19:50:02.838" v="2230"/>
          <ac:spMkLst>
            <pc:docMk/>
            <pc:sldMk cId="3977314645" sldId="314"/>
            <ac:spMk id="8" creationId="{BDF90C0C-3B9B-7BEC-57F9-3E0FD1321787}"/>
          </ac:spMkLst>
        </pc:spChg>
        <pc:picChg chg="add mod">
          <ac:chgData name="Patryk Januś (pj317575)" userId="S::pj317575@student.polsl.pl::2e0068ae-d800-4b4d-bfb4-1c1af6e40c59" providerId="AD" clId="Web-{5218C3FE-17E2-DCBC-81F5-5BB4BB145F3E}" dt="2026-06-23T19:34:29.007" v="1646" actId="1076"/>
          <ac:picMkLst>
            <pc:docMk/>
            <pc:sldMk cId="3977314645" sldId="314"/>
            <ac:picMk id="2" creationId="{647C988E-DF51-18CD-1889-6F5579918CC6}"/>
          </ac:picMkLst>
        </pc:picChg>
      </pc:sldChg>
      <pc:sldChg chg="addSp delSp modSp add replId">
        <pc:chgData name="Patryk Januś (pj317575)" userId="S::pj317575@student.polsl.pl::2e0068ae-d800-4b4d-bfb4-1c1af6e40c59" providerId="AD" clId="Web-{5218C3FE-17E2-DCBC-81F5-5BB4BB145F3E}" dt="2026-06-23T20:08:27.086" v="2688"/>
        <pc:sldMkLst>
          <pc:docMk/>
          <pc:sldMk cId="1256236015" sldId="315"/>
        </pc:sldMkLst>
        <pc:spChg chg="del mod">
          <ac:chgData name="Patryk Januś (pj317575)" userId="S::pj317575@student.polsl.pl::2e0068ae-d800-4b4d-bfb4-1c1af6e40c59" providerId="AD" clId="Web-{5218C3FE-17E2-DCBC-81F5-5BB4BB145F3E}" dt="2026-06-23T19:50:07.807" v="2232"/>
          <ac:spMkLst>
            <pc:docMk/>
            <pc:sldMk cId="1256236015" sldId="315"/>
            <ac:spMk id="3" creationId="{FDF716C5-7D1D-7CA0-D185-29AC113E5682}"/>
          </ac:spMkLst>
        </pc:spChg>
        <pc:spChg chg="mod">
          <ac:chgData name="Patryk Januś (pj317575)" userId="S::pj317575@student.polsl.pl::2e0068ae-d800-4b4d-bfb4-1c1af6e40c59" providerId="AD" clId="Web-{5218C3FE-17E2-DCBC-81F5-5BB4BB145F3E}" dt="2026-06-23T19:43:22.600" v="2134" actId="20577"/>
          <ac:spMkLst>
            <pc:docMk/>
            <pc:sldMk cId="1256236015" sldId="315"/>
            <ac:spMk id="7" creationId="{F00EFCCC-622B-E960-C477-3E59C7FDF72D}"/>
          </ac:spMkLst>
        </pc:spChg>
        <pc:spChg chg="add">
          <ac:chgData name="Patryk Januś (pj317575)" userId="S::pj317575@student.polsl.pl::2e0068ae-d800-4b4d-bfb4-1c1af6e40c59" providerId="AD" clId="Web-{5218C3FE-17E2-DCBC-81F5-5BB4BB145F3E}" dt="2026-06-23T19:50:08.682" v="2233"/>
          <ac:spMkLst>
            <pc:docMk/>
            <pc:sldMk cId="1256236015" sldId="315"/>
            <ac:spMk id="13" creationId="{66818ED0-B791-1A05-264E-B5116D66416A}"/>
          </ac:spMkLst>
        </pc:spChg>
        <pc:picChg chg="add del mod">
          <ac:chgData name="Patryk Januś (pj317575)" userId="S::pj317575@student.polsl.pl::2e0068ae-d800-4b4d-bfb4-1c1af6e40c59" providerId="AD" clId="Web-{5218C3FE-17E2-DCBC-81F5-5BB4BB145F3E}" dt="2026-06-23T19:40:38.131" v="1961"/>
          <ac:picMkLst>
            <pc:docMk/>
            <pc:sldMk cId="1256236015" sldId="315"/>
            <ac:picMk id="2" creationId="{314C2834-D5CD-E40E-0627-E64D0A716C9C}"/>
          </ac:picMkLst>
        </pc:picChg>
        <pc:picChg chg="add mod modCrop">
          <ac:chgData name="Patryk Januś (pj317575)" userId="S::pj317575@student.polsl.pl::2e0068ae-d800-4b4d-bfb4-1c1af6e40c59" providerId="AD" clId="Web-{5218C3FE-17E2-DCBC-81F5-5BB4BB145F3E}" dt="2026-06-23T20:08:27.086" v="2688"/>
          <ac:picMkLst>
            <pc:docMk/>
            <pc:sldMk cId="1256236015" sldId="315"/>
            <ac:picMk id="5" creationId="{ACE486E6-745A-64BF-18C9-7BEF06262BC8}"/>
          </ac:picMkLst>
        </pc:picChg>
      </pc:sldChg>
      <pc:sldChg chg="addSp modSp add ord replId">
        <pc:chgData name="Patryk Januś (pj317575)" userId="S::pj317575@student.polsl.pl::2e0068ae-d800-4b4d-bfb4-1c1af6e40c59" providerId="AD" clId="Web-{5218C3FE-17E2-DCBC-81F5-5BB4BB145F3E}" dt="2026-06-23T19:49:49.135" v="2223" actId="14100"/>
        <pc:sldMkLst>
          <pc:docMk/>
          <pc:sldMk cId="2610551282" sldId="316"/>
        </pc:sldMkLst>
        <pc:spChg chg="mod">
          <ac:chgData name="Patryk Januś (pj317575)" userId="S::pj317575@student.polsl.pl::2e0068ae-d800-4b4d-bfb4-1c1af6e40c59" providerId="AD" clId="Web-{5218C3FE-17E2-DCBC-81F5-5BB4BB145F3E}" dt="2026-06-23T19:49:49.135" v="2223" actId="14100"/>
          <ac:spMkLst>
            <pc:docMk/>
            <pc:sldMk cId="2610551282" sldId="316"/>
            <ac:spMk id="3" creationId="{B5D831C0-6EF4-E704-3C38-95B2314BE433}"/>
          </ac:spMkLst>
        </pc:spChg>
        <pc:spChg chg="mod">
          <ac:chgData name="Patryk Januś (pj317575)" userId="S::pj317575@student.polsl.pl::2e0068ae-d800-4b4d-bfb4-1c1af6e40c59" providerId="AD" clId="Web-{5218C3FE-17E2-DCBC-81F5-5BB4BB145F3E}" dt="2026-06-23T19:48:51.839" v="2210" actId="20577"/>
          <ac:spMkLst>
            <pc:docMk/>
            <pc:sldMk cId="2610551282" sldId="316"/>
            <ac:spMk id="7" creationId="{148407D5-AEB4-7D6E-E860-A82A739D6EBD}"/>
          </ac:spMkLst>
        </pc:spChg>
        <pc:picChg chg="add mod">
          <ac:chgData name="Patryk Januś (pj317575)" userId="S::pj317575@student.polsl.pl::2e0068ae-d800-4b4d-bfb4-1c1af6e40c59" providerId="AD" clId="Web-{5218C3FE-17E2-DCBC-81F5-5BB4BB145F3E}" dt="2026-06-23T19:46:44.776" v="2141" actId="1076"/>
          <ac:picMkLst>
            <pc:docMk/>
            <pc:sldMk cId="2610551282" sldId="316"/>
            <ac:picMk id="2" creationId="{E1958788-39F5-B8C5-1989-5C789E82974B}"/>
          </ac:picMkLst>
        </pc:picChg>
      </pc:sldChg>
      <pc:sldChg chg="modSp add del ord replId">
        <pc:chgData name="Patryk Januś (pj317575)" userId="S::pj317575@student.polsl.pl::2e0068ae-d800-4b4d-bfb4-1c1af6e40c59" providerId="AD" clId="Web-{5218C3FE-17E2-DCBC-81F5-5BB4BB145F3E}" dt="2026-06-23T20:02:44.931" v="2525"/>
        <pc:sldMkLst>
          <pc:docMk/>
          <pc:sldMk cId="245048523" sldId="317"/>
        </pc:sldMkLst>
        <pc:spChg chg="mod">
          <ac:chgData name="Patryk Januś (pj317575)" userId="S::pj317575@student.polsl.pl::2e0068ae-d800-4b4d-bfb4-1c1af6e40c59" providerId="AD" clId="Web-{5218C3FE-17E2-DCBC-81F5-5BB4BB145F3E}" dt="2026-06-23T19:54:44.744" v="2326" actId="20577"/>
          <ac:spMkLst>
            <pc:docMk/>
            <pc:sldMk cId="245048523" sldId="317"/>
            <ac:spMk id="7" creationId="{2E0165C1-E2D2-7856-D787-6401B0C29A61}"/>
          </ac:spMkLst>
        </pc:spChg>
      </pc:sldChg>
      <pc:sldChg chg="new del">
        <pc:chgData name="Patryk Januś (pj317575)" userId="S::pj317575@student.polsl.pl::2e0068ae-d800-4b4d-bfb4-1c1af6e40c59" providerId="AD" clId="Web-{5218C3FE-17E2-DCBC-81F5-5BB4BB145F3E}" dt="2026-06-23T19:50:33.213" v="2235"/>
        <pc:sldMkLst>
          <pc:docMk/>
          <pc:sldMk cId="2597294390" sldId="317"/>
        </pc:sldMkLst>
      </pc:sldChg>
      <pc:sldChg chg="addSp delSp modSp add ord replId">
        <pc:chgData name="Patryk Januś (pj317575)" userId="S::pj317575@student.polsl.pl::2e0068ae-d800-4b4d-bfb4-1c1af6e40c59" providerId="AD" clId="Web-{5218C3FE-17E2-DCBC-81F5-5BB4BB145F3E}" dt="2026-06-23T19:59:21.072" v="2524" actId="20577"/>
        <pc:sldMkLst>
          <pc:docMk/>
          <pc:sldMk cId="1322581170" sldId="318"/>
        </pc:sldMkLst>
        <pc:spChg chg="mod">
          <ac:chgData name="Patryk Januś (pj317575)" userId="S::pj317575@student.polsl.pl::2e0068ae-d800-4b4d-bfb4-1c1af6e40c59" providerId="AD" clId="Web-{5218C3FE-17E2-DCBC-81F5-5BB4BB145F3E}" dt="2026-06-23T19:59:21.072" v="2524" actId="20577"/>
          <ac:spMkLst>
            <pc:docMk/>
            <pc:sldMk cId="1322581170" sldId="318"/>
            <ac:spMk id="7" creationId="{9F73BA32-BD0C-7EDD-CA12-E5C02282BBB9}"/>
          </ac:spMkLst>
        </pc:spChg>
        <pc:picChg chg="add mod">
          <ac:chgData name="Patryk Januś (pj317575)" userId="S::pj317575@student.polsl.pl::2e0068ae-d800-4b4d-bfb4-1c1af6e40c59" providerId="AD" clId="Web-{5218C3FE-17E2-DCBC-81F5-5BB4BB145F3E}" dt="2026-06-23T19:56:01.963" v="2333" actId="1076"/>
          <ac:picMkLst>
            <pc:docMk/>
            <pc:sldMk cId="1322581170" sldId="318"/>
            <ac:picMk id="2" creationId="{B22757F1-CF66-4D96-F77A-12497E8D930D}"/>
          </ac:picMkLst>
        </pc:picChg>
        <pc:picChg chg="del">
          <ac:chgData name="Patryk Januś (pj317575)" userId="S::pj317575@student.polsl.pl::2e0068ae-d800-4b4d-bfb4-1c1af6e40c59" providerId="AD" clId="Web-{5218C3FE-17E2-DCBC-81F5-5BB4BB145F3E}" dt="2026-06-23T19:55:46.682" v="2329"/>
          <ac:picMkLst>
            <pc:docMk/>
            <pc:sldMk cId="1322581170" sldId="318"/>
            <ac:picMk id="5" creationId="{0A11FBBD-EC89-8330-5133-D735D02A93FB}"/>
          </ac:picMkLst>
        </pc:picChg>
      </pc:sldChg>
      <pc:sldChg chg="delSp modSp add replId">
        <pc:chgData name="Patryk Januś (pj317575)" userId="S::pj317575@student.polsl.pl::2e0068ae-d800-4b4d-bfb4-1c1af6e40c59" providerId="AD" clId="Web-{5218C3FE-17E2-DCBC-81F5-5BB4BB145F3E}" dt="2026-06-23T20:11:06.135" v="2703" actId="20577"/>
        <pc:sldMkLst>
          <pc:docMk/>
          <pc:sldMk cId="3083898377" sldId="319"/>
        </pc:sldMkLst>
        <pc:spChg chg="mod">
          <ac:chgData name="Patryk Januś (pj317575)" userId="S::pj317575@student.polsl.pl::2e0068ae-d800-4b4d-bfb4-1c1af6e40c59" providerId="AD" clId="Web-{5218C3FE-17E2-DCBC-81F5-5BB4BB145F3E}" dt="2026-06-23T20:10:58.385" v="2692" actId="20577"/>
          <ac:spMkLst>
            <pc:docMk/>
            <pc:sldMk cId="3083898377" sldId="319"/>
            <ac:spMk id="7" creationId="{D2D0BC09-1D36-FBBE-6ED3-FD6A009538E4}"/>
          </ac:spMkLst>
        </pc:spChg>
        <pc:spChg chg="mod">
          <ac:chgData name="Patryk Januś (pj317575)" userId="S::pj317575@student.polsl.pl::2e0068ae-d800-4b4d-bfb4-1c1af6e40c59" providerId="AD" clId="Web-{5218C3FE-17E2-DCBC-81F5-5BB4BB145F3E}" dt="2026-06-23T20:11:06.135" v="2703" actId="20577"/>
          <ac:spMkLst>
            <pc:docMk/>
            <pc:sldMk cId="3083898377" sldId="319"/>
            <ac:spMk id="13" creationId="{CBAC68A5-F5DD-8AFE-ED26-70CF81C5E23F}"/>
          </ac:spMkLst>
        </pc:spChg>
        <pc:picChg chg="del">
          <ac:chgData name="Patryk Januś (pj317575)" userId="S::pj317575@student.polsl.pl::2e0068ae-d800-4b4d-bfb4-1c1af6e40c59" providerId="AD" clId="Web-{5218C3FE-17E2-DCBC-81F5-5BB4BB145F3E}" dt="2026-06-23T20:10:54.072" v="2690"/>
          <ac:picMkLst>
            <pc:docMk/>
            <pc:sldMk cId="3083898377" sldId="319"/>
            <ac:picMk id="5" creationId="{2721A2F9-4A32-431E-FE03-DCDECAF9CE9B}"/>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318224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5668467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290828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Date Placeholder 4"/>
          <p:cNvSpPr>
            <a:spLocks noGrp="1"/>
          </p:cNvSpPr>
          <p:nvPr>
            <p:ph type="dt" sz="half" idx="10"/>
          </p:nvPr>
        </p:nvSpPr>
        <p:spPr/>
        <p:txBody>
          <a:bodyPr/>
          <a:lstStyle/>
          <a:p>
            <a:fld id="{098888EF-EEC0-4A4A-86BB-1BD6F5F3312D}" type="datetimeFigureOut">
              <a:rPr lang="es-ES" smtClean="0"/>
              <a:t>23/06/2026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3512858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Date Placeholder 6"/>
          <p:cNvSpPr>
            <a:spLocks noGrp="1"/>
          </p:cNvSpPr>
          <p:nvPr>
            <p:ph type="dt" sz="half" idx="10"/>
          </p:nvPr>
        </p:nvSpPr>
        <p:spPr/>
        <p:txBody>
          <a:bodyPr/>
          <a:lstStyle/>
          <a:p>
            <a:fld id="{098888EF-EEC0-4A4A-86BB-1BD6F5F3312D}" type="datetimeFigureOut">
              <a:rPr lang="es-ES" smtClean="0"/>
              <a:t>23/06/2026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24668713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Date Placeholder 2"/>
          <p:cNvSpPr>
            <a:spLocks noGrp="1"/>
          </p:cNvSpPr>
          <p:nvPr>
            <p:ph type="dt" sz="half" idx="10"/>
          </p:nvPr>
        </p:nvSpPr>
        <p:spPr/>
        <p:txBody>
          <a:bodyPr/>
          <a:lstStyle/>
          <a:p>
            <a:fld id="{098888EF-EEC0-4A4A-86BB-1BD6F5F3312D}" type="datetimeFigureOut">
              <a:rPr lang="es-ES" smtClean="0"/>
              <a:t>23/06/2026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4255286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8888EF-EEC0-4A4A-86BB-1BD6F5F3312D}" type="datetimeFigureOut">
              <a:rPr lang="es-ES" smtClean="0"/>
              <a:t>23/06/2026</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898275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098888EF-EEC0-4A4A-86BB-1BD6F5F3312D}" type="datetimeFigureOut">
              <a:rPr lang="es-ES" smtClean="0"/>
              <a:t>23/06/2026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4030210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Date Placeholder 4"/>
          <p:cNvSpPr>
            <a:spLocks noGrp="1"/>
          </p:cNvSpPr>
          <p:nvPr>
            <p:ph type="dt" sz="half" idx="10"/>
          </p:nvPr>
        </p:nvSpPr>
        <p:spPr/>
        <p:txBody>
          <a:bodyPr/>
          <a:lstStyle/>
          <a:p>
            <a:fld id="{098888EF-EEC0-4A4A-86BB-1BD6F5F3312D}" type="datetimeFigureOut">
              <a:rPr lang="es-ES" smtClean="0"/>
              <a:t>23/06/2026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1134038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a:p>
        </p:txBody>
      </p:sp>
      <p:sp>
        <p:nvSpPr>
          <p:cNvPr id="3" name="Vertical Text Placeholder 2"/>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804357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10"/>
          </p:nvPr>
        </p:nvSpPr>
        <p:spPr/>
        <p:txBody>
          <a:bodyPr/>
          <a:lstStyle/>
          <a:p>
            <a:fld id="{098888EF-EEC0-4A4A-86BB-1BD6F5F3312D}" type="datetimeFigureOut">
              <a:rPr lang="es-ES" smtClean="0"/>
              <a:t>23/06/2026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3A3F4CAA-2EC6-40D5-BAB1-93A4DB7A70C6}" type="slidenum">
              <a:rPr lang="es-ES" smtClean="0"/>
              <a:t>‹#›</a:t>
            </a:fld>
            <a:endParaRPr lang="es-ES"/>
          </a:p>
        </p:txBody>
      </p:sp>
    </p:spTree>
    <p:extLst>
      <p:ext uri="{BB962C8B-B14F-4D97-AF65-F5344CB8AC3E}">
        <p14:creationId xmlns:p14="http://schemas.microsoft.com/office/powerpoint/2010/main" val="1441309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8888EF-EEC0-4A4A-86BB-1BD6F5F3312D}" type="datetimeFigureOut">
              <a:rPr lang="es-ES" smtClean="0"/>
              <a:t>23/06/2026</a:t>
            </a:fld>
            <a:endParaRPr lang="es-E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3F4CAA-2EC6-40D5-BAB1-93A4DB7A70C6}" type="slidenum">
              <a:rPr lang="es-ES" smtClean="0"/>
              <a:t>‹#›</a:t>
            </a:fld>
            <a:endParaRPr lang="es-ES"/>
          </a:p>
        </p:txBody>
      </p:sp>
    </p:spTree>
    <p:extLst>
      <p:ext uri="{BB962C8B-B14F-4D97-AF65-F5344CB8AC3E}">
        <p14:creationId xmlns:p14="http://schemas.microsoft.com/office/powerpoint/2010/main" val="274968847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tiff"/><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CuadroTexto 13">
            <a:extLst>
              <a:ext uri="{FF2B5EF4-FFF2-40B4-BE49-F238E27FC236}">
                <a16:creationId xmlns:a16="http://schemas.microsoft.com/office/drawing/2014/main" id="{0547FAEC-1F1C-4BA8-BAB5-6B43C253FE10}"/>
              </a:ext>
            </a:extLst>
          </p:cNvPr>
          <p:cNvSpPr txBox="1"/>
          <p:nvPr/>
        </p:nvSpPr>
        <p:spPr>
          <a:xfrm>
            <a:off x="3824511" y="6232625"/>
            <a:ext cx="4542977" cy="430887"/>
          </a:xfrm>
          <a:prstGeom prst="rect">
            <a:avLst/>
          </a:prstGeom>
          <a:noFill/>
        </p:spPr>
        <p:txBody>
          <a:bodyPr wrap="square">
            <a:spAutoFit/>
          </a:bodyPr>
          <a:lstStyle/>
          <a:p>
            <a:pPr algn="ctr"/>
            <a:r>
              <a:rPr lang="en-US" sz="1100">
                <a:solidFill>
                  <a:srgbClr val="1A2E52"/>
                </a:solidFill>
                <a:latin typeface="Calibri" panose="020F0502020204030204" pitchFamily="34" charset="0"/>
                <a:ea typeface="DengXian" panose="02010600030101010101" pitchFamily="2" charset="-122"/>
                <a:cs typeface="Calibri" panose="020F0502020204030204" pitchFamily="34" charset="0"/>
              </a:rPr>
              <a:t>Erasmus+ Program 2024 Cooperation partnerships in higher education - 2024-1-ES01-KA220-HED-000246733</a:t>
            </a:r>
          </a:p>
        </p:txBody>
      </p:sp>
      <p:sp>
        <p:nvSpPr>
          <p:cNvPr id="15" name="Rectángulo 14">
            <a:extLst>
              <a:ext uri="{FF2B5EF4-FFF2-40B4-BE49-F238E27FC236}">
                <a16:creationId xmlns:a16="http://schemas.microsoft.com/office/drawing/2014/main" id="{CC58282A-7F55-4476-A3D8-EF5A714A842D}"/>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A6031BD6-2841-4504-B303-6AAF99EBB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sp>
        <p:nvSpPr>
          <p:cNvPr id="17" name="CuadroTexto 16">
            <a:extLst>
              <a:ext uri="{FF2B5EF4-FFF2-40B4-BE49-F238E27FC236}">
                <a16:creationId xmlns:a16="http://schemas.microsoft.com/office/drawing/2014/main" id="{A7FE82D3-10EB-4B4F-AF99-0C2E489363A2}"/>
              </a:ext>
            </a:extLst>
          </p:cNvPr>
          <p:cNvSpPr txBox="1"/>
          <p:nvPr/>
        </p:nvSpPr>
        <p:spPr>
          <a:xfrm>
            <a:off x="3302281" y="307795"/>
            <a:ext cx="3490104" cy="415498"/>
          </a:xfrm>
          <a:prstGeom prst="rect">
            <a:avLst/>
          </a:prstGeom>
          <a:noFill/>
        </p:spPr>
        <p:txBody>
          <a:bodyPr wrap="square">
            <a:spAutoFit/>
          </a:bodyPr>
          <a:lstStyle/>
          <a:p>
            <a:r>
              <a:rPr lang="en-US" sz="1050">
                <a:solidFill>
                  <a:srgbClr val="003C25"/>
                </a:solidFill>
                <a:latin typeface="Calibri" panose="020F0502020204030204" pitchFamily="34" charset="0"/>
                <a:ea typeface="DengXian" panose="02010600030101010101" pitchFamily="2" charset="-122"/>
                <a:cs typeface="Calibri" panose="020F0502020204030204" pitchFamily="34" charset="0"/>
              </a:rPr>
              <a:t>Student-centered learning for </a:t>
            </a:r>
            <a:r>
              <a:rPr lang="en-US" sz="1050" err="1">
                <a:solidFill>
                  <a:srgbClr val="003C25"/>
                </a:solidFill>
                <a:latin typeface="Calibri" panose="020F0502020204030204" pitchFamily="34" charset="0"/>
                <a:ea typeface="DengXian" panose="02010600030101010101" pitchFamily="2" charset="-122"/>
                <a:cs typeface="Calibri" panose="020F0502020204030204" pitchFamily="34" charset="0"/>
              </a:rPr>
              <a:t>ENVIronmental</a:t>
            </a:r>
            <a:r>
              <a:rPr lang="en-US" sz="1050">
                <a:solidFill>
                  <a:srgbClr val="003C25"/>
                </a:solidFill>
                <a:latin typeface="Calibri" panose="020F0502020204030204" pitchFamily="34" charset="0"/>
                <a:ea typeface="DengXian" panose="02010600030101010101" pitchFamily="2" charset="-122"/>
                <a:cs typeface="Calibri" panose="020F0502020204030204" pitchFamily="34" charset="0"/>
              </a:rPr>
              <a:t> sustainability at Higher Education Institutions</a:t>
            </a:r>
          </a:p>
        </p:txBody>
      </p:sp>
      <p:pic>
        <p:nvPicPr>
          <p:cNvPr id="18" name="Imagen 17">
            <a:extLst>
              <a:ext uri="{FF2B5EF4-FFF2-40B4-BE49-F238E27FC236}">
                <a16:creationId xmlns:a16="http://schemas.microsoft.com/office/drawing/2014/main" id="{D45A302E-9D4B-4AC5-A1F6-CB2B51D77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3913" y="4597477"/>
            <a:ext cx="1518678" cy="1518678"/>
          </a:xfrm>
          <a:prstGeom prst="rect">
            <a:avLst/>
          </a:prstGeom>
        </p:spPr>
      </p:pic>
      <p:sp>
        <p:nvSpPr>
          <p:cNvPr id="20" name="CuadroTexto 19">
            <a:extLst>
              <a:ext uri="{FF2B5EF4-FFF2-40B4-BE49-F238E27FC236}">
                <a16:creationId xmlns:a16="http://schemas.microsoft.com/office/drawing/2014/main" id="{079C4AC3-BC0A-4AAD-8E37-2965FED5A733}"/>
              </a:ext>
            </a:extLst>
          </p:cNvPr>
          <p:cNvSpPr txBox="1"/>
          <p:nvPr/>
        </p:nvSpPr>
        <p:spPr>
          <a:xfrm>
            <a:off x="783528" y="2354342"/>
            <a:ext cx="11324581" cy="3847207"/>
          </a:xfrm>
          <a:prstGeom prst="rect">
            <a:avLst/>
          </a:prstGeom>
          <a:noFill/>
        </p:spPr>
        <p:txBody>
          <a:bodyPr wrap="square" lIns="91440" tIns="45720" rIns="91440" bIns="45720" anchor="t">
            <a:spAutoFit/>
          </a:bodyPr>
          <a:lstStyle/>
          <a:p>
            <a:endParaRPr lang="en-US" sz="2000" b="1">
              <a:solidFill>
                <a:srgbClr val="1A2E52"/>
              </a:solidFill>
              <a:latin typeface="Corbel" panose="020B0503020204020204" pitchFamily="34" charset="0"/>
              <a:ea typeface="DengXian" panose="02010600030101010101" pitchFamily="2" charset="-122"/>
            </a:endParaRPr>
          </a:p>
          <a:p>
            <a:r>
              <a:rPr lang="pl-PL" sz="2000" b="1">
                <a:solidFill>
                  <a:srgbClr val="1A2E52"/>
                </a:solidFill>
                <a:latin typeface="Corbel"/>
                <a:ea typeface="DengXian"/>
              </a:rPr>
              <a:t>Measurement Systems and Sustainability</a:t>
            </a:r>
          </a:p>
          <a:p>
            <a:r>
              <a:rPr lang="pl-PL" sz="2400" b="1">
                <a:solidFill>
                  <a:srgbClr val="1A2E52"/>
                </a:solidFill>
                <a:latin typeface="Corbel"/>
                <a:ea typeface="DengXian"/>
              </a:rPr>
              <a:t>Project Title: </a:t>
            </a:r>
            <a:r>
              <a:rPr lang="pl-PL" b="1">
                <a:solidFill>
                  <a:srgbClr val="000000"/>
                </a:solidFill>
                <a:latin typeface="Calibri"/>
                <a:ea typeface="Calibri"/>
                <a:cs typeface="Calibri"/>
              </a:rPr>
              <a:t>Experimental identification of resonance frequency in a Mechanical structure</a:t>
            </a:r>
            <a:r>
              <a:rPr lang="en-GB">
                <a:solidFill>
                  <a:srgbClr val="000000"/>
                </a:solidFill>
                <a:latin typeface="Calibri"/>
                <a:ea typeface="Calibri"/>
                <a:cs typeface="Calibri"/>
              </a:rPr>
              <a:t> </a:t>
            </a:r>
            <a:endParaRPr lang="pl-PL">
              <a:solidFill>
                <a:srgbClr val="000000"/>
              </a:solidFill>
              <a:latin typeface="Calibri"/>
              <a:ea typeface="Calibri"/>
              <a:cs typeface="Calibri"/>
            </a:endParaRPr>
          </a:p>
          <a:p>
            <a:r>
              <a:rPr lang="pl-PL" sz="2000" b="1">
                <a:solidFill>
                  <a:srgbClr val="1A2E52"/>
                </a:solidFill>
                <a:latin typeface="Corbel"/>
                <a:ea typeface="DengXian"/>
              </a:rPr>
              <a:t>Meeting on June 18th.: </a:t>
            </a:r>
            <a:r>
              <a:rPr lang="en-US" sz="2000" b="1"/>
              <a:t>Final Measurements, Data Analysis and Project Optimization</a:t>
            </a:r>
            <a:endParaRPr lang="pl-PL" sz="2000" b="1"/>
          </a:p>
          <a:p>
            <a:r>
              <a:rPr lang="pl-PL" sz="2000" b="1">
                <a:solidFill>
                  <a:srgbClr val="1A2E52"/>
                </a:solidFill>
              </a:rPr>
              <a:t>Team name:</a:t>
            </a:r>
          </a:p>
          <a:p>
            <a:r>
              <a:rPr lang="pl-PL" sz="2000">
                <a:solidFill>
                  <a:srgbClr val="C00000"/>
                </a:solidFill>
              </a:rPr>
              <a:t>Vibe Finders</a:t>
            </a:r>
            <a:endParaRPr lang="pl-PL" sz="2000">
              <a:solidFill>
                <a:srgbClr val="000000"/>
              </a:solidFill>
            </a:endParaRPr>
          </a:p>
          <a:p>
            <a:r>
              <a:rPr lang="pl-PL" sz="2000" b="1">
                <a:solidFill>
                  <a:srgbClr val="1A2E52"/>
                </a:solidFill>
              </a:rPr>
              <a:t>Team members:</a:t>
            </a:r>
          </a:p>
          <a:p>
            <a:r>
              <a:rPr lang="pl-PL" sz="2000">
                <a:solidFill>
                  <a:srgbClr val="C00000"/>
                </a:solidFill>
              </a:rPr>
              <a:t>Patryk Januś</a:t>
            </a:r>
            <a:br>
              <a:rPr lang="pl-PL" sz="2000">
                <a:solidFill>
                  <a:srgbClr val="C00000"/>
                </a:solidFill>
              </a:rPr>
            </a:br>
            <a:r>
              <a:rPr lang="pl-PL" sz="2000">
                <a:solidFill>
                  <a:srgbClr val="C00000"/>
                </a:solidFill>
              </a:rPr>
              <a:t>Natalia Szymeczko</a:t>
            </a:r>
            <a:endParaRPr lang="en-US" sz="2000">
              <a:solidFill>
                <a:srgbClr val="000000"/>
              </a:solidFill>
              <a:ea typeface="Calibri"/>
              <a:cs typeface="Calibri"/>
            </a:endParaRPr>
          </a:p>
          <a:p>
            <a:r>
              <a:rPr lang="pl-PL" sz="2000">
                <a:solidFill>
                  <a:srgbClr val="C00000"/>
                </a:solidFill>
              </a:rPr>
              <a:t>Patryk Reiter</a:t>
            </a:r>
            <a:endParaRPr lang="pl-PL" sz="2000">
              <a:solidFill>
                <a:srgbClr val="000000"/>
              </a:solidFill>
              <a:ea typeface="Calibri"/>
              <a:cs typeface="Calibri"/>
            </a:endParaRPr>
          </a:p>
          <a:p>
            <a:r>
              <a:rPr lang="pl-PL" sz="2000">
                <a:solidFill>
                  <a:srgbClr val="C00000"/>
                </a:solidFill>
              </a:rPr>
              <a:t>Szymon Korzuch</a:t>
            </a:r>
            <a:endParaRPr lang="pl-PL"/>
          </a:p>
          <a:p>
            <a:endParaRPr lang="en-US" sz="2000" b="1">
              <a:solidFill>
                <a:srgbClr val="1A2E52"/>
              </a:solidFill>
              <a:latin typeface="Corbel" panose="020B0503020204020204" pitchFamily="34" charset="0"/>
              <a:ea typeface="DengXian" panose="02010600030101010101" pitchFamily="2" charset="-122"/>
            </a:endParaRPr>
          </a:p>
        </p:txBody>
      </p:sp>
      <p:pic>
        <p:nvPicPr>
          <p:cNvPr id="4" name="Imagen 3">
            <a:extLst>
              <a:ext uri="{FF2B5EF4-FFF2-40B4-BE49-F238E27FC236}">
                <a16:creationId xmlns:a16="http://schemas.microsoft.com/office/drawing/2014/main" id="{5CF7E5CA-EC58-43AB-920A-116472A63E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896DD946-1384-4E8E-AD96-EF8F69AEA8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pic>
        <p:nvPicPr>
          <p:cNvPr id="10" name="Imagen 9">
            <a:extLst>
              <a:ext uri="{FF2B5EF4-FFF2-40B4-BE49-F238E27FC236}">
                <a16:creationId xmlns:a16="http://schemas.microsoft.com/office/drawing/2014/main" id="{30EA1FE3-0A5F-4795-9232-BA23CD08AA68}"/>
              </a:ext>
            </a:extLst>
          </p:cNvPr>
          <p:cNvPicPr>
            <a:picLocks noChangeAspect="1"/>
          </p:cNvPicPr>
          <p:nvPr/>
        </p:nvPicPr>
        <p:blipFill rotWithShape="1">
          <a:blip r:embed="rId6">
            <a:extLst>
              <a:ext uri="{28A0092B-C50C-407E-A947-70E740481C1C}">
                <a14:useLocalDpi xmlns:a14="http://schemas.microsoft.com/office/drawing/2010/main" val="0"/>
              </a:ext>
            </a:extLst>
          </a:blip>
          <a:srcRect l="4409" t="1317" b="6939"/>
          <a:stretch/>
        </p:blipFill>
        <p:spPr>
          <a:xfrm>
            <a:off x="4194928" y="869346"/>
            <a:ext cx="3238460" cy="1748306"/>
          </a:xfrm>
          <a:prstGeom prst="rect">
            <a:avLst/>
          </a:prstGeom>
        </p:spPr>
      </p:pic>
      <p:grpSp>
        <p:nvGrpSpPr>
          <p:cNvPr id="13" name="Grupo 12">
            <a:extLst>
              <a:ext uri="{FF2B5EF4-FFF2-40B4-BE49-F238E27FC236}">
                <a16:creationId xmlns:a16="http://schemas.microsoft.com/office/drawing/2014/main" id="{8EFD7278-8FAA-4592-A2E8-D90A07AA6785}"/>
              </a:ext>
            </a:extLst>
          </p:cNvPr>
          <p:cNvGrpSpPr/>
          <p:nvPr/>
        </p:nvGrpSpPr>
        <p:grpSpPr>
          <a:xfrm>
            <a:off x="7559052" y="208375"/>
            <a:ext cx="4403539" cy="519267"/>
            <a:chOff x="7559052" y="208375"/>
            <a:chExt cx="4403539" cy="519267"/>
          </a:xfrm>
        </p:grpSpPr>
        <p:pic>
          <p:nvPicPr>
            <p:cNvPr id="21" name="Imagen 20">
              <a:extLst>
                <a:ext uri="{FF2B5EF4-FFF2-40B4-BE49-F238E27FC236}">
                  <a16:creationId xmlns:a16="http://schemas.microsoft.com/office/drawing/2014/main" id="{57C07A5A-8E18-4968-88FA-6479C9E6723E}"/>
                </a:ext>
              </a:extLst>
            </p:cNvPr>
            <p:cNvPicPr>
              <a:picLocks noChangeAspect="1"/>
            </p:cNvPicPr>
            <p:nvPr/>
          </p:nvPicPr>
          <p:blipFill rotWithShape="1">
            <a:blip r:embed="rId7"/>
            <a:srcRect l="31277"/>
            <a:stretch/>
          </p:blipFill>
          <p:spPr>
            <a:xfrm>
              <a:off x="8964728" y="208375"/>
              <a:ext cx="2997863" cy="514918"/>
            </a:xfrm>
            <a:prstGeom prst="rect">
              <a:avLst/>
            </a:prstGeom>
          </p:spPr>
        </p:pic>
        <p:pic>
          <p:nvPicPr>
            <p:cNvPr id="22" name="Imagen 21">
              <a:extLst>
                <a:ext uri="{FF2B5EF4-FFF2-40B4-BE49-F238E27FC236}">
                  <a16:creationId xmlns:a16="http://schemas.microsoft.com/office/drawing/2014/main" id="{4CB44C2D-8728-41CF-913B-00F55086CF8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23" name="Imagen 22">
              <a:extLst>
                <a:ext uri="{FF2B5EF4-FFF2-40B4-BE49-F238E27FC236}">
                  <a16:creationId xmlns:a16="http://schemas.microsoft.com/office/drawing/2014/main" id="{34E831AE-E779-441F-9DAA-C338FCD33B5F}"/>
                </a:ext>
              </a:extLst>
            </p:cNvPr>
            <p:cNvPicPr>
              <a:picLocks noChangeAspect="1"/>
            </p:cNvPicPr>
            <p:nvPr/>
          </p:nvPicPr>
          <p:blipFill rotWithShape="1">
            <a:blip r:embed="rId7"/>
            <a:srcRect r="78876"/>
            <a:stretch/>
          </p:blipFill>
          <p:spPr>
            <a:xfrm>
              <a:off x="7559052" y="212724"/>
              <a:ext cx="921462" cy="514918"/>
            </a:xfrm>
            <a:prstGeom prst="rect">
              <a:avLst/>
            </a:prstGeom>
          </p:spPr>
        </p:pic>
      </p:grpSp>
    </p:spTree>
    <p:extLst>
      <p:ext uri="{BB962C8B-B14F-4D97-AF65-F5344CB8AC3E}">
        <p14:creationId xmlns:p14="http://schemas.microsoft.com/office/powerpoint/2010/main" val="1620291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ángulo 14">
            <a:extLst>
              <a:ext uri="{FF2B5EF4-FFF2-40B4-BE49-F238E27FC236}">
                <a16:creationId xmlns:a16="http://schemas.microsoft.com/office/drawing/2014/main" id="{CC58282A-7F55-4476-A3D8-EF5A714A842D}"/>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A6031BD6-2841-4504-B303-6AAF99EBB7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5CF7E5CA-EC58-43AB-920A-116472A63E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896DD946-1384-4E8E-AD96-EF8F69AEA8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47BF0A58-AD79-4C00-96A2-FC49219CA7B1}"/>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FF319F47-19DA-4234-9DC3-38E73C297C73}"/>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87F8F341-9F39-48E8-9186-C7787AF4A03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F0314F4A-BDB5-47F1-B731-E59274A72312}"/>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A40ADF1E-D1E4-95C2-6505-22CEC483387B}"/>
              </a:ext>
            </a:extLst>
          </p:cNvPr>
          <p:cNvSpPr txBox="1"/>
          <p:nvPr/>
        </p:nvSpPr>
        <p:spPr>
          <a:xfrm>
            <a:off x="577392" y="932410"/>
            <a:ext cx="6094428" cy="400110"/>
          </a:xfrm>
          <a:prstGeom prst="rect">
            <a:avLst/>
          </a:prstGeom>
          <a:noFill/>
        </p:spPr>
        <p:txBody>
          <a:bodyPr wrap="square">
            <a:spAutoFit/>
          </a:bodyPr>
          <a:lstStyle/>
          <a:p>
            <a:r>
              <a:rPr lang="en-US" sz="2000" b="1">
                <a:solidFill>
                  <a:srgbClr val="1A2E52"/>
                </a:solidFill>
                <a:latin typeface="Colber"/>
              </a:rPr>
              <a:t>Progress Review</a:t>
            </a:r>
            <a:r>
              <a:rPr lang="pl-PL" sz="2000" b="1">
                <a:solidFill>
                  <a:srgbClr val="1A2E52"/>
                </a:solidFill>
                <a:latin typeface="Colber"/>
              </a:rPr>
              <a:t> (Time: 10 min)</a:t>
            </a:r>
          </a:p>
        </p:txBody>
      </p:sp>
      <p:sp>
        <p:nvSpPr>
          <p:cNvPr id="7" name="pole tekstowe 6">
            <a:extLst>
              <a:ext uri="{FF2B5EF4-FFF2-40B4-BE49-F238E27FC236}">
                <a16:creationId xmlns:a16="http://schemas.microsoft.com/office/drawing/2014/main" id="{2D273141-746D-F239-E745-7C9BDB8BB704}"/>
              </a:ext>
            </a:extLst>
          </p:cNvPr>
          <p:cNvSpPr txBox="1"/>
          <p:nvPr/>
        </p:nvSpPr>
        <p:spPr>
          <a:xfrm>
            <a:off x="982745" y="1617580"/>
            <a:ext cx="10800760" cy="3233001"/>
          </a:xfrm>
          <a:prstGeom prst="rect">
            <a:avLst/>
          </a:prstGeom>
          <a:noFill/>
        </p:spPr>
        <p:txBody>
          <a:bodyPr wrap="square" lIns="91440" tIns="45720" rIns="91440" bIns="45720" anchor="t">
            <a:spAutoFit/>
          </a:bodyPr>
          <a:lstStyle/>
          <a:p>
            <a:r>
              <a:rPr lang="pl-PL" b="1">
                <a:solidFill>
                  <a:srgbClr val="1A2E52"/>
                </a:solidFill>
                <a:latin typeface="Colber"/>
              </a:rPr>
              <a:t>What has been completed before Meeting 3?</a:t>
            </a:r>
          </a:p>
          <a:p>
            <a:pPr>
              <a:lnSpc>
                <a:spcPct val="150000"/>
              </a:lnSpc>
            </a:pPr>
            <a:r>
              <a:rPr lang="en-GB">
                <a:solidFill>
                  <a:srgbClr val="1A2E52"/>
                </a:solidFill>
              </a:rPr>
              <a:t>x</a:t>
            </a:r>
            <a:r>
              <a:rPr lang="pl-PL">
                <a:solidFill>
                  <a:srgbClr val="1A2E52"/>
                </a:solidFill>
              </a:rPr>
              <a:t> Working prototype ready</a:t>
            </a:r>
            <a:br>
              <a:rPr lang="pl-PL">
                <a:solidFill>
                  <a:srgbClr val="1A2E52"/>
                </a:solidFill>
              </a:rPr>
            </a:br>
            <a:r>
              <a:rPr lang="en-GB">
                <a:solidFill>
                  <a:srgbClr val="1A2E52"/>
                </a:solidFill>
              </a:rPr>
              <a:t>x</a:t>
            </a:r>
            <a:r>
              <a:rPr lang="pl-PL">
                <a:solidFill>
                  <a:srgbClr val="1A2E52"/>
                </a:solidFill>
              </a:rPr>
              <a:t> Prototype partially working</a:t>
            </a:r>
            <a:br>
              <a:rPr lang="pl-PL">
                <a:solidFill>
                  <a:srgbClr val="1A2E52"/>
                </a:solidFill>
              </a:rPr>
            </a:br>
            <a:r>
              <a:rPr lang="en-GB">
                <a:solidFill>
                  <a:srgbClr val="1A2E52"/>
                </a:solidFill>
              </a:rPr>
              <a:t>x</a:t>
            </a:r>
            <a:r>
              <a:rPr lang="pl-PL">
                <a:solidFill>
                  <a:srgbClr val="1A2E52"/>
                </a:solidFill>
              </a:rPr>
              <a:t> DAQ configured</a:t>
            </a:r>
            <a:br>
              <a:rPr lang="pl-PL">
                <a:solidFill>
                  <a:srgbClr val="1A2E52"/>
                </a:solidFill>
              </a:rPr>
            </a:br>
            <a:r>
              <a:rPr lang="en-GB">
                <a:solidFill>
                  <a:srgbClr val="1A2E52"/>
                </a:solidFill>
              </a:rPr>
              <a:t>x</a:t>
            </a:r>
            <a:r>
              <a:rPr lang="pl-PL">
                <a:solidFill>
                  <a:srgbClr val="1A2E52"/>
                </a:solidFill>
              </a:rPr>
              <a:t> Acquisition Software ready</a:t>
            </a:r>
            <a:br>
              <a:rPr lang="pl-PL">
                <a:solidFill>
                  <a:srgbClr val="1A2E52"/>
                </a:solidFill>
              </a:rPr>
            </a:br>
            <a:r>
              <a:rPr lang="en-GB">
                <a:solidFill>
                  <a:srgbClr val="1A2E52"/>
                </a:solidFill>
              </a:rPr>
              <a:t>x</a:t>
            </a:r>
            <a:r>
              <a:rPr lang="pl-PL">
                <a:solidFill>
                  <a:srgbClr val="1A2E52"/>
                </a:solidFill>
              </a:rPr>
              <a:t> Sensors calibrated</a:t>
            </a:r>
            <a:br>
              <a:rPr lang="pl-PL">
                <a:solidFill>
                  <a:srgbClr val="1A2E52"/>
                </a:solidFill>
              </a:rPr>
            </a:br>
            <a:r>
              <a:rPr lang="en-GB">
                <a:solidFill>
                  <a:srgbClr val="1A2E52"/>
                </a:solidFill>
              </a:rPr>
              <a:t>x</a:t>
            </a:r>
            <a:r>
              <a:rPr lang="pl-PL">
                <a:solidFill>
                  <a:srgbClr val="1A2E52"/>
                </a:solidFill>
              </a:rPr>
              <a:t> Preliminary measurements completed</a:t>
            </a:r>
            <a:br>
              <a:rPr lang="pl-PL">
                <a:solidFill>
                  <a:srgbClr val="1A2E52"/>
                </a:solidFill>
              </a:rPr>
            </a:br>
            <a:r>
              <a:rPr lang="pl-PL">
                <a:solidFill>
                  <a:srgbClr val="1A2E52"/>
                </a:solidFill>
              </a:rPr>
              <a:t>☐ Problems still to solve: __________________</a:t>
            </a:r>
          </a:p>
        </p:txBody>
      </p:sp>
    </p:spTree>
    <p:extLst>
      <p:ext uri="{BB962C8B-B14F-4D97-AF65-F5344CB8AC3E}">
        <p14:creationId xmlns:p14="http://schemas.microsoft.com/office/powerpoint/2010/main" val="2725548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0D2FB-24C5-EE99-E12F-3D5D4BC4E719}"/>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F852FB3C-C946-8AA6-1CA4-1FBDB16362C3}"/>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41EE53D9-C469-AACE-8A1E-9A0EFDFC25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6ED06204-9E8A-B59C-6648-BCEC09EE1E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24D6F608-03CA-22AC-16F8-C742523DCD5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44BE9B08-ADA9-6A04-5A2C-73D0B0D7B642}"/>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81949162-CCA6-5F45-80E0-15074C341B4B}"/>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82B82A00-7DBE-1379-30A1-36A418E068E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7C7C7471-E8F5-CE71-3B77-FF58DBCC8EF2}"/>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04149A52-7158-4FD7-F7D1-377599F4E5EF}"/>
              </a:ext>
            </a:extLst>
          </p:cNvPr>
          <p:cNvSpPr txBox="1"/>
          <p:nvPr/>
        </p:nvSpPr>
        <p:spPr>
          <a:xfrm>
            <a:off x="577392" y="932410"/>
            <a:ext cx="6094428" cy="400110"/>
          </a:xfrm>
          <a:prstGeom prst="rect">
            <a:avLst/>
          </a:prstGeom>
          <a:noFill/>
        </p:spPr>
        <p:txBody>
          <a:bodyPr wrap="square">
            <a:spAutoFit/>
          </a:bodyPr>
          <a:lstStyle/>
          <a:p>
            <a:r>
              <a:rPr lang="pl-PL" sz="2000" b="1" err="1">
                <a:solidFill>
                  <a:srgbClr val="1A2E52"/>
                </a:solidFill>
                <a:latin typeface="Colber"/>
              </a:rPr>
              <a:t>Final</a:t>
            </a:r>
            <a:r>
              <a:rPr lang="pl-PL" sz="2000" b="1">
                <a:solidFill>
                  <a:srgbClr val="1A2E52"/>
                </a:solidFill>
                <a:latin typeface="Colber"/>
              </a:rPr>
              <a:t> </a:t>
            </a:r>
            <a:r>
              <a:rPr lang="en-US" sz="2000" b="1">
                <a:solidFill>
                  <a:srgbClr val="1A2E52"/>
                </a:solidFill>
                <a:latin typeface="Colber"/>
              </a:rPr>
              <a:t>Measurement Planning</a:t>
            </a:r>
            <a:r>
              <a:rPr lang="pl-PL" sz="2000" b="1">
                <a:solidFill>
                  <a:srgbClr val="1A2E52"/>
                </a:solidFill>
                <a:latin typeface="Colber"/>
              </a:rPr>
              <a:t> (</a:t>
            </a:r>
            <a:r>
              <a:rPr lang="en-US" sz="2000" b="1">
                <a:solidFill>
                  <a:srgbClr val="1A2E52"/>
                </a:solidFill>
                <a:latin typeface="Colber"/>
              </a:rPr>
              <a:t>Time: </a:t>
            </a:r>
            <a:r>
              <a:rPr lang="pl-PL" sz="2000" b="1">
                <a:solidFill>
                  <a:srgbClr val="1A2E52"/>
                </a:solidFill>
                <a:latin typeface="Colber"/>
              </a:rPr>
              <a:t>20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E0B25F33-86E9-9C0C-9B3E-9B70760D6305}"/>
              </a:ext>
            </a:extLst>
          </p:cNvPr>
          <p:cNvSpPr txBox="1"/>
          <p:nvPr/>
        </p:nvSpPr>
        <p:spPr>
          <a:xfrm>
            <a:off x="695620" y="1222508"/>
            <a:ext cx="10800760" cy="707886"/>
          </a:xfrm>
          <a:prstGeom prst="rect">
            <a:avLst/>
          </a:prstGeom>
          <a:noFill/>
        </p:spPr>
        <p:txBody>
          <a:bodyPr wrap="square">
            <a:spAutoFit/>
          </a:bodyPr>
          <a:lstStyle/>
          <a:p>
            <a:r>
              <a:rPr lang="en-US" sz="2000" b="1">
                <a:solidFill>
                  <a:srgbClr val="1A2E52"/>
                </a:solidFill>
              </a:rPr>
              <a:t>Is the system ready for final measurements?</a:t>
            </a:r>
            <a:endParaRPr lang="pl-PL" sz="2000" b="1">
              <a:solidFill>
                <a:srgbClr val="1A2E52"/>
              </a:solidFill>
            </a:endParaRPr>
          </a:p>
          <a:p>
            <a:endParaRPr lang="pl-PL" sz="2000">
              <a:solidFill>
                <a:srgbClr val="C00000"/>
              </a:solidFill>
            </a:endParaRPr>
          </a:p>
        </p:txBody>
      </p:sp>
      <p:graphicFrame>
        <p:nvGraphicFramePr>
          <p:cNvPr id="2" name="Tabela 1">
            <a:extLst>
              <a:ext uri="{FF2B5EF4-FFF2-40B4-BE49-F238E27FC236}">
                <a16:creationId xmlns:a16="http://schemas.microsoft.com/office/drawing/2014/main" id="{EF41A930-3D38-A112-FC35-5235D75B8715}"/>
              </a:ext>
            </a:extLst>
          </p:cNvPr>
          <p:cNvGraphicFramePr>
            <a:graphicFrameLocks noGrp="1"/>
          </p:cNvGraphicFramePr>
          <p:nvPr>
            <p:extLst>
              <p:ext uri="{D42A27DB-BD31-4B8C-83A1-F6EECF244321}">
                <p14:modId xmlns:p14="http://schemas.microsoft.com/office/powerpoint/2010/main" val="3457775442"/>
              </p:ext>
            </p:extLst>
          </p:nvPr>
        </p:nvGraphicFramePr>
        <p:xfrm>
          <a:off x="828414" y="1801230"/>
          <a:ext cx="10515600" cy="3383280"/>
        </p:xfrm>
        <a:graphic>
          <a:graphicData uri="http://schemas.openxmlformats.org/drawingml/2006/table">
            <a:tbl>
              <a:tblPr firstRow="1" firstCol="1" bandRow="1" bandCol="1">
                <a:tableStyleId>{B301B821-A1FF-4177-AEE7-76D212191A09}</a:tableStyleId>
              </a:tblPr>
              <a:tblGrid>
                <a:gridCol w="2951734">
                  <a:extLst>
                    <a:ext uri="{9D8B030D-6E8A-4147-A177-3AD203B41FA5}">
                      <a16:colId xmlns:a16="http://schemas.microsoft.com/office/drawing/2014/main" val="3193281789"/>
                    </a:ext>
                  </a:extLst>
                </a:gridCol>
                <a:gridCol w="1970203">
                  <a:extLst>
                    <a:ext uri="{9D8B030D-6E8A-4147-A177-3AD203B41FA5}">
                      <a16:colId xmlns:a16="http://schemas.microsoft.com/office/drawing/2014/main" val="2560525857"/>
                    </a:ext>
                  </a:extLst>
                </a:gridCol>
                <a:gridCol w="5593663">
                  <a:extLst>
                    <a:ext uri="{9D8B030D-6E8A-4147-A177-3AD203B41FA5}">
                      <a16:colId xmlns:a16="http://schemas.microsoft.com/office/drawing/2014/main" val="2562358675"/>
                    </a:ext>
                  </a:extLst>
                </a:gridCol>
              </a:tblGrid>
              <a:tr h="0">
                <a:tc>
                  <a:txBody>
                    <a:bodyPr/>
                    <a:lstStyle/>
                    <a:p>
                      <a:pPr>
                        <a:buNone/>
                      </a:pPr>
                      <a:r>
                        <a:rPr lang="pl-PL"/>
                        <a:t>Element</a:t>
                      </a:r>
                    </a:p>
                  </a:txBody>
                  <a:tcPr anchor="ctr"/>
                </a:tc>
                <a:tc>
                  <a:txBody>
                    <a:bodyPr/>
                    <a:lstStyle/>
                    <a:p>
                      <a:pPr>
                        <a:buNone/>
                      </a:pPr>
                      <a:r>
                        <a:rPr lang="pl-PL"/>
                        <a:t>Status</a:t>
                      </a:r>
                    </a:p>
                  </a:txBody>
                  <a:tcPr anchor="ctr"/>
                </a:tc>
                <a:tc>
                  <a:txBody>
                    <a:bodyPr/>
                    <a:lstStyle/>
                    <a:p>
                      <a:pPr>
                        <a:buNone/>
                      </a:pPr>
                      <a:r>
                        <a:rPr lang="pl-PL"/>
                        <a:t>Comments</a:t>
                      </a:r>
                    </a:p>
                  </a:txBody>
                  <a:tcPr anchor="ctr"/>
                </a:tc>
                <a:extLst>
                  <a:ext uri="{0D108BD9-81ED-4DB2-BD59-A6C34878D82A}">
                    <a16:rowId xmlns:a16="http://schemas.microsoft.com/office/drawing/2014/main" val="2840790949"/>
                  </a:ext>
                </a:extLst>
              </a:tr>
              <a:tr h="0">
                <a:tc>
                  <a:txBody>
                    <a:bodyPr/>
                    <a:lstStyle/>
                    <a:p>
                      <a:pPr>
                        <a:buNone/>
                      </a:pPr>
                      <a:r>
                        <a:rPr lang="pl-PL"/>
                        <a:t>Sensors</a:t>
                      </a:r>
                    </a:p>
                  </a:txBody>
                  <a:tcPr anchor="ctr"/>
                </a:tc>
                <a:tc>
                  <a:txBody>
                    <a:bodyPr/>
                    <a:lstStyle/>
                    <a:p>
                      <a:pPr>
                        <a:buNone/>
                      </a:pPr>
                      <a:r>
                        <a:rPr lang="en-GB"/>
                        <a:t> x</a:t>
                      </a:r>
                      <a:r>
                        <a:rPr lang="pl-PL"/>
                        <a:t> OK / ☐ Problem</a:t>
                      </a:r>
                    </a:p>
                  </a:txBody>
                  <a:tcPr anchor="ctr"/>
                </a:tc>
                <a:tc>
                  <a:txBody>
                    <a:bodyPr/>
                    <a:lstStyle/>
                    <a:p>
                      <a:pPr>
                        <a:buNone/>
                      </a:pPr>
                      <a:endParaRPr lang="pl-PL"/>
                    </a:p>
                  </a:txBody>
                  <a:tcPr anchor="ctr"/>
                </a:tc>
                <a:extLst>
                  <a:ext uri="{0D108BD9-81ED-4DB2-BD59-A6C34878D82A}">
                    <a16:rowId xmlns:a16="http://schemas.microsoft.com/office/drawing/2014/main" val="3528321476"/>
                  </a:ext>
                </a:extLst>
              </a:tr>
              <a:tr h="0">
                <a:tc>
                  <a:txBody>
                    <a:bodyPr/>
                    <a:lstStyle/>
                    <a:p>
                      <a:pPr>
                        <a:buNone/>
                      </a:pPr>
                      <a:r>
                        <a:rPr lang="pl-PL"/>
                        <a:t>DAQ connection</a:t>
                      </a:r>
                    </a:p>
                  </a:txBody>
                  <a:tcPr anchor="ctr"/>
                </a:tc>
                <a:tc>
                  <a:txBody>
                    <a:bodyPr/>
                    <a:lstStyle/>
                    <a:p>
                      <a:pPr>
                        <a:buNone/>
                      </a:pPr>
                      <a:r>
                        <a:rPr lang="en-GB"/>
                        <a:t> x</a:t>
                      </a:r>
                      <a:r>
                        <a:rPr lang="pl-PL"/>
                        <a:t> OK / ☐ Problem</a:t>
                      </a:r>
                    </a:p>
                  </a:txBody>
                  <a:tcPr anchor="ctr"/>
                </a:tc>
                <a:tc>
                  <a:txBody>
                    <a:bodyPr/>
                    <a:lstStyle/>
                    <a:p>
                      <a:pPr>
                        <a:buNone/>
                      </a:pPr>
                      <a:endParaRPr lang="pl-PL"/>
                    </a:p>
                  </a:txBody>
                  <a:tcPr anchor="ctr"/>
                </a:tc>
                <a:extLst>
                  <a:ext uri="{0D108BD9-81ED-4DB2-BD59-A6C34878D82A}">
                    <a16:rowId xmlns:a16="http://schemas.microsoft.com/office/drawing/2014/main" val="3266000904"/>
                  </a:ext>
                </a:extLst>
              </a:tr>
              <a:tr h="0">
                <a:tc>
                  <a:txBody>
                    <a:bodyPr/>
                    <a:lstStyle/>
                    <a:p>
                      <a:pPr>
                        <a:buNone/>
                      </a:pPr>
                      <a:r>
                        <a:rPr lang="en-GB"/>
                        <a:t>Acquisition</a:t>
                      </a:r>
                      <a:r>
                        <a:rPr lang="pl-PL"/>
                        <a:t> application</a:t>
                      </a:r>
                    </a:p>
                  </a:txBody>
                  <a:tcPr anchor="ctr"/>
                </a:tc>
                <a:tc>
                  <a:txBody>
                    <a:bodyPr/>
                    <a:lstStyle/>
                    <a:p>
                      <a:pPr>
                        <a:buNone/>
                      </a:pPr>
                      <a:r>
                        <a:rPr lang="en-GB"/>
                        <a:t> x</a:t>
                      </a:r>
                      <a:r>
                        <a:rPr lang="pl-PL"/>
                        <a:t> OK / ☐ Problem</a:t>
                      </a:r>
                    </a:p>
                  </a:txBody>
                  <a:tcPr anchor="ctr"/>
                </a:tc>
                <a:tc>
                  <a:txBody>
                    <a:bodyPr/>
                    <a:lstStyle/>
                    <a:p>
                      <a:pPr>
                        <a:buNone/>
                      </a:pPr>
                      <a:endParaRPr lang="pl-PL"/>
                    </a:p>
                  </a:txBody>
                  <a:tcPr anchor="ctr"/>
                </a:tc>
                <a:extLst>
                  <a:ext uri="{0D108BD9-81ED-4DB2-BD59-A6C34878D82A}">
                    <a16:rowId xmlns:a16="http://schemas.microsoft.com/office/drawing/2014/main" val="1331967576"/>
                  </a:ext>
                </a:extLst>
              </a:tr>
              <a:tr h="0">
                <a:tc>
                  <a:txBody>
                    <a:bodyPr/>
                    <a:lstStyle/>
                    <a:p>
                      <a:pPr>
                        <a:buNone/>
                      </a:pPr>
                      <a:r>
                        <a:rPr lang="pl-PL"/>
                        <a:t>Data logging</a:t>
                      </a:r>
                    </a:p>
                  </a:txBody>
                  <a:tcPr anchor="ctr"/>
                </a:tc>
                <a:tc>
                  <a:txBody>
                    <a:bodyPr/>
                    <a:lstStyle/>
                    <a:p>
                      <a:pPr>
                        <a:buNone/>
                      </a:pPr>
                      <a:r>
                        <a:rPr lang="en-GB"/>
                        <a:t> x</a:t>
                      </a:r>
                      <a:r>
                        <a:rPr lang="pl-PL"/>
                        <a:t> OK / ☐ Problem</a:t>
                      </a:r>
                    </a:p>
                  </a:txBody>
                  <a:tcPr anchor="ctr"/>
                </a:tc>
                <a:tc>
                  <a:txBody>
                    <a:bodyPr/>
                    <a:lstStyle/>
                    <a:p>
                      <a:pPr>
                        <a:buNone/>
                      </a:pPr>
                      <a:endParaRPr lang="pl-PL"/>
                    </a:p>
                  </a:txBody>
                  <a:tcPr anchor="ctr"/>
                </a:tc>
                <a:extLst>
                  <a:ext uri="{0D108BD9-81ED-4DB2-BD59-A6C34878D82A}">
                    <a16:rowId xmlns:a16="http://schemas.microsoft.com/office/drawing/2014/main" val="3648891166"/>
                  </a:ext>
                </a:extLst>
              </a:tr>
              <a:tr h="0">
                <a:tc>
                  <a:txBody>
                    <a:bodyPr/>
                    <a:lstStyle/>
                    <a:p>
                      <a:pPr>
                        <a:buNone/>
                      </a:pPr>
                      <a:r>
                        <a:rPr lang="pl-PL"/>
                        <a:t>Power supply / connections</a:t>
                      </a:r>
                    </a:p>
                  </a:txBody>
                  <a:tcPr anchor="ctr"/>
                </a:tc>
                <a:tc>
                  <a:txBody>
                    <a:bodyPr/>
                    <a:lstStyle/>
                    <a:p>
                      <a:pPr>
                        <a:buNone/>
                      </a:pPr>
                      <a:r>
                        <a:rPr lang="en-GB"/>
                        <a:t> </a:t>
                      </a:r>
                      <a:r>
                        <a:rPr lang="pl-PL" sz="1800" b="0" i="0" u="none" strike="noStrike" noProof="0">
                          <a:solidFill>
                            <a:srgbClr val="000000"/>
                          </a:solidFill>
                          <a:latin typeface="Calibri"/>
                          <a:ea typeface="Calibri"/>
                          <a:cs typeface="Calibri"/>
                        </a:rPr>
                        <a:t>☐</a:t>
                      </a:r>
                      <a:r>
                        <a:rPr lang="pl-PL"/>
                        <a:t> OK / x Problem</a:t>
                      </a:r>
                    </a:p>
                  </a:txBody>
                  <a:tcPr anchor="ctr"/>
                </a:tc>
                <a:tc>
                  <a:txBody>
                    <a:bodyPr/>
                    <a:lstStyle/>
                    <a:p>
                      <a:pPr>
                        <a:buNone/>
                      </a:pPr>
                      <a:r>
                        <a:rPr lang="pl-PL"/>
                        <a:t>Sometimes the connection with CNC machine gets lost especially during spindle spin-up, likely due to EMI </a:t>
                      </a:r>
                      <a:r>
                        <a:rPr lang="pl-PL" sz="1800" b="0" i="0" u="none" strike="noStrike" noProof="0">
                          <a:latin typeface="Calibri"/>
                          <a:ea typeface="Calibri"/>
                          <a:cs typeface="Calibri"/>
                        </a:rPr>
                        <a:t>interferences</a:t>
                      </a:r>
                      <a:r>
                        <a:rPr lang="pl-PL"/>
                        <a:t>. After exchanging the cable for a different one we did not encounter this problem anymore</a:t>
                      </a:r>
                    </a:p>
                  </a:txBody>
                  <a:tcPr anchor="ctr"/>
                </a:tc>
                <a:extLst>
                  <a:ext uri="{0D108BD9-81ED-4DB2-BD59-A6C34878D82A}">
                    <a16:rowId xmlns:a16="http://schemas.microsoft.com/office/drawing/2014/main" val="2066471317"/>
                  </a:ext>
                </a:extLst>
              </a:tr>
              <a:tr h="0">
                <a:tc>
                  <a:txBody>
                    <a:bodyPr/>
                    <a:lstStyle/>
                    <a:p>
                      <a:pPr>
                        <a:buNone/>
                      </a:pPr>
                      <a:r>
                        <a:rPr lang="pl-PL"/>
                        <a:t>Experimental setup</a:t>
                      </a:r>
                    </a:p>
                  </a:txBody>
                  <a:tcPr anchor="ctr"/>
                </a:tc>
                <a:tc>
                  <a:txBody>
                    <a:bodyPr/>
                    <a:lstStyle/>
                    <a:p>
                      <a:pPr>
                        <a:buNone/>
                      </a:pPr>
                      <a:r>
                        <a:rPr lang="en-GB"/>
                        <a:t> x</a:t>
                      </a:r>
                      <a:r>
                        <a:rPr lang="pl-PL"/>
                        <a:t> OK / ☐ Problem</a:t>
                      </a:r>
                    </a:p>
                  </a:txBody>
                  <a:tcPr anchor="ctr"/>
                </a:tc>
                <a:tc>
                  <a:txBody>
                    <a:bodyPr/>
                    <a:lstStyle/>
                    <a:p>
                      <a:pPr>
                        <a:buNone/>
                      </a:pPr>
                      <a:endParaRPr lang="pl-PL"/>
                    </a:p>
                  </a:txBody>
                  <a:tcPr anchor="ctr"/>
                </a:tc>
                <a:extLst>
                  <a:ext uri="{0D108BD9-81ED-4DB2-BD59-A6C34878D82A}">
                    <a16:rowId xmlns:a16="http://schemas.microsoft.com/office/drawing/2014/main" val="2756496313"/>
                  </a:ext>
                </a:extLst>
              </a:tr>
            </a:tbl>
          </a:graphicData>
        </a:graphic>
      </p:graphicFrame>
    </p:spTree>
    <p:extLst>
      <p:ext uri="{BB962C8B-B14F-4D97-AF65-F5344CB8AC3E}">
        <p14:creationId xmlns:p14="http://schemas.microsoft.com/office/powerpoint/2010/main" val="895000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BF844-E230-B53E-A66A-AEDC47E7F617}"/>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E69BBAD0-A3C0-6E7C-1C0B-A48296ADE17E}"/>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8E42DE5F-694D-120A-C5DF-0664DEA3B2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8108230B-002C-26AB-69D6-1A8191F307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76CDF0F7-9F92-DCC4-C7BB-5233BECB7A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B38E70B5-F31C-AF3F-65D2-BE5BF61CB56F}"/>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544058AE-A2DF-D4D1-7AD3-8827FA396A68}"/>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E6E87645-D376-DEAE-7C55-D423682871F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B08BF581-D616-E5C6-84AC-02FF4B29BAE5}"/>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B6441712-8AF2-610D-9E8A-B2C8CD0283FE}"/>
              </a:ext>
            </a:extLst>
          </p:cNvPr>
          <p:cNvSpPr txBox="1"/>
          <p:nvPr/>
        </p:nvSpPr>
        <p:spPr>
          <a:xfrm>
            <a:off x="577392" y="932410"/>
            <a:ext cx="6094428" cy="400110"/>
          </a:xfrm>
          <a:prstGeom prst="rect">
            <a:avLst/>
          </a:prstGeom>
          <a:noFill/>
        </p:spPr>
        <p:txBody>
          <a:bodyPr wrap="square">
            <a:spAutoFit/>
          </a:bodyPr>
          <a:lstStyle/>
          <a:p>
            <a:r>
              <a:rPr lang="pl-PL" sz="2000" b="1" err="1">
                <a:solidFill>
                  <a:srgbClr val="1A2E52"/>
                </a:solidFill>
                <a:latin typeface="Colber"/>
              </a:rPr>
              <a:t>Final</a:t>
            </a:r>
            <a:r>
              <a:rPr lang="pl-PL" sz="2000" b="1">
                <a:solidFill>
                  <a:srgbClr val="1A2E52"/>
                </a:solidFill>
                <a:latin typeface="Colber"/>
              </a:rPr>
              <a:t> </a:t>
            </a:r>
            <a:r>
              <a:rPr lang="en-US" sz="2000" b="1">
                <a:solidFill>
                  <a:srgbClr val="1A2E52"/>
                </a:solidFill>
                <a:latin typeface="Colber"/>
              </a:rPr>
              <a:t>Measurement Planning</a:t>
            </a:r>
            <a:r>
              <a:rPr lang="pl-PL" sz="2000" b="1">
                <a:solidFill>
                  <a:srgbClr val="1A2E52"/>
                </a:solidFill>
                <a:latin typeface="Colber"/>
              </a:rPr>
              <a:t> (</a:t>
            </a:r>
            <a:r>
              <a:rPr lang="en-US" sz="2000" b="1">
                <a:solidFill>
                  <a:srgbClr val="1A2E52"/>
                </a:solidFill>
                <a:latin typeface="Colber"/>
              </a:rPr>
              <a:t>Time: </a:t>
            </a:r>
            <a:r>
              <a:rPr lang="pl-PL" sz="2000" b="1" err="1">
                <a:solidFill>
                  <a:srgbClr val="1A2E52"/>
                </a:solidFill>
                <a:latin typeface="Colber"/>
              </a:rPr>
              <a:t>included</a:t>
            </a:r>
            <a:r>
              <a:rPr lang="pl-PL" sz="2000" b="1">
                <a:solidFill>
                  <a:srgbClr val="1A2E52"/>
                </a:solidFill>
                <a:latin typeface="Colber"/>
              </a:rPr>
              <a:t> in 20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2A0B89F4-E66F-8F99-8A02-8289EDB862CD}"/>
              </a:ext>
            </a:extLst>
          </p:cNvPr>
          <p:cNvSpPr txBox="1"/>
          <p:nvPr/>
        </p:nvSpPr>
        <p:spPr>
          <a:xfrm>
            <a:off x="580601" y="1581942"/>
            <a:ext cx="10800760" cy="4708981"/>
          </a:xfrm>
          <a:prstGeom prst="rect">
            <a:avLst/>
          </a:prstGeom>
          <a:noFill/>
        </p:spPr>
        <p:txBody>
          <a:bodyPr wrap="square" lIns="91440" tIns="45720" rIns="91440" bIns="45720" anchor="t">
            <a:spAutoFit/>
          </a:bodyPr>
          <a:lstStyle/>
          <a:p>
            <a:r>
              <a:rPr lang="en-US" sz="2000" b="1">
                <a:solidFill>
                  <a:srgbClr val="1A2E52"/>
                </a:solidFill>
              </a:rPr>
              <a:t>Measurement objective:</a:t>
            </a:r>
            <a:endParaRPr lang="pl-PL" sz="2000" b="1">
              <a:solidFill>
                <a:srgbClr val="1A2E52"/>
              </a:solidFill>
            </a:endParaRPr>
          </a:p>
          <a:p>
            <a:r>
              <a:rPr lang="en-US" sz="2000">
                <a:ea typeface="+mn-lt"/>
                <a:cs typeface="+mn-lt"/>
              </a:rPr>
              <a:t>To empirically identify the natural/resonance frequencies and damping behavior of a CNC machine structure across different table configurations, and to evaluate how these structural characteristics influence vibration levels during active operational conditions.</a:t>
            </a:r>
            <a:endParaRPr lang="pl-PL"/>
          </a:p>
          <a:p>
            <a:endParaRPr lang="pl-PL" sz="2000">
              <a:solidFill>
                <a:srgbClr val="C00000"/>
              </a:solidFill>
            </a:endParaRPr>
          </a:p>
          <a:p>
            <a:r>
              <a:rPr lang="pl-PL" sz="2000" b="1">
                <a:solidFill>
                  <a:srgbClr val="1A2E52"/>
                </a:solidFill>
              </a:rPr>
              <a:t>Test scenarios:</a:t>
            </a:r>
          </a:p>
          <a:p>
            <a:r>
              <a:rPr lang="pl-PL" sz="2000">
                <a:ea typeface="+mn-lt"/>
                <a:cs typeface="+mn-lt"/>
              </a:rPr>
              <a:t>1. Hammer Impact Test: Impact the machine bed across different table positions (Front, Center, Back) to find natural frequencies and damping ratios.</a:t>
            </a:r>
            <a:endParaRPr lang="pl-PL">
              <a:ea typeface="+mn-lt"/>
              <a:cs typeface="+mn-lt"/>
            </a:endParaRPr>
          </a:p>
          <a:p>
            <a:endParaRPr lang="pl-PL" sz="2000"/>
          </a:p>
          <a:p>
            <a:r>
              <a:rPr lang="pl-PL" sz="2000"/>
              <a:t>2. </a:t>
            </a:r>
            <a:r>
              <a:rPr lang="pl-PL" sz="2000">
                <a:ea typeface="+mn-lt"/>
                <a:cs typeface="+mn-lt"/>
              </a:rPr>
              <a:t>Spindle Operational Test : Run the spindle at designated operational speeds to observe steady-state vibration and resonance amplification. In this experiment we wanted to select the spindle speed, such so we can observe what happens when the vibrations caused by the spindle allign with the dominant structural modes.</a:t>
            </a:r>
            <a:endParaRPr lang="pl-PL" sz="2000">
              <a:solidFill>
                <a:srgbClr val="000000"/>
              </a:solidFill>
              <a:ea typeface="Calibri"/>
              <a:cs typeface="Calibri"/>
            </a:endParaRPr>
          </a:p>
          <a:p>
            <a:endParaRPr lang="pl-PL" sz="2000">
              <a:solidFill>
                <a:srgbClr val="C00000"/>
              </a:solidFill>
              <a:ea typeface="Calibri"/>
              <a:cs typeface="Calibri"/>
            </a:endParaRPr>
          </a:p>
          <a:p>
            <a:endParaRPr lang="pl-PL" sz="2000">
              <a:solidFill>
                <a:srgbClr val="C00000"/>
              </a:solidFill>
            </a:endParaRPr>
          </a:p>
        </p:txBody>
      </p:sp>
    </p:spTree>
    <p:extLst>
      <p:ext uri="{BB962C8B-B14F-4D97-AF65-F5344CB8AC3E}">
        <p14:creationId xmlns:p14="http://schemas.microsoft.com/office/powerpoint/2010/main" val="42380969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5DB00D-1E67-D0F9-DE15-84B31EC80976}"/>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1DE39A20-3055-A951-A5B1-07589145D764}"/>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0055D173-7B00-6A57-E90C-A7B5D19563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4DB31410-086A-06B0-553C-48D86FF864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10A070BD-FE38-91C7-98C5-ED320D757F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053BD0B3-6DC2-4D50-5599-975D81306C16}"/>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41CB7028-0546-80E7-77AD-4AAB05F8079D}"/>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8F2ADD6E-5B73-B2BC-8A73-C35CEE4B9E6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CD6445D9-84ED-7964-BB77-415A4457FF5A}"/>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05FB765C-FCB8-1ED2-7243-5BAD9264CDB8}"/>
              </a:ext>
            </a:extLst>
          </p:cNvPr>
          <p:cNvSpPr txBox="1"/>
          <p:nvPr/>
        </p:nvSpPr>
        <p:spPr>
          <a:xfrm>
            <a:off x="577392" y="932410"/>
            <a:ext cx="6094428" cy="400110"/>
          </a:xfrm>
          <a:prstGeom prst="rect">
            <a:avLst/>
          </a:prstGeom>
          <a:noFill/>
        </p:spPr>
        <p:txBody>
          <a:bodyPr wrap="square">
            <a:spAutoFit/>
          </a:bodyPr>
          <a:lstStyle/>
          <a:p>
            <a:r>
              <a:rPr lang="pl-PL" sz="2000" b="1" err="1">
                <a:solidFill>
                  <a:srgbClr val="1A2E52"/>
                </a:solidFill>
                <a:latin typeface="Colber"/>
              </a:rPr>
              <a:t>Laboratory</a:t>
            </a:r>
            <a:r>
              <a:rPr lang="pl-PL" sz="2000" b="1">
                <a:solidFill>
                  <a:srgbClr val="1A2E52"/>
                </a:solidFill>
                <a:latin typeface="Colber"/>
              </a:rPr>
              <a:t> </a:t>
            </a:r>
            <a:r>
              <a:rPr lang="pl-PL" sz="2000" b="1" err="1">
                <a:solidFill>
                  <a:srgbClr val="1A2E52"/>
                </a:solidFill>
                <a:latin typeface="Colber"/>
              </a:rPr>
              <a:t>Measurements</a:t>
            </a:r>
            <a:r>
              <a:rPr lang="pl-PL" sz="2000" b="1">
                <a:solidFill>
                  <a:srgbClr val="1A2E52"/>
                </a:solidFill>
                <a:latin typeface="Colber"/>
              </a:rPr>
              <a:t> (</a:t>
            </a:r>
            <a:r>
              <a:rPr lang="en-US" sz="2000" b="1">
                <a:solidFill>
                  <a:srgbClr val="1A2E52"/>
                </a:solidFill>
                <a:latin typeface="Colber"/>
              </a:rPr>
              <a:t>Time: </a:t>
            </a:r>
            <a:r>
              <a:rPr lang="pl-PL" sz="2000" b="1">
                <a:solidFill>
                  <a:srgbClr val="1A2E52"/>
                </a:solidFill>
                <a:latin typeface="Colber"/>
              </a:rPr>
              <a:t>60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07454BCE-A92A-9FDF-35E3-74C21686739F}"/>
              </a:ext>
            </a:extLst>
          </p:cNvPr>
          <p:cNvSpPr txBox="1"/>
          <p:nvPr/>
        </p:nvSpPr>
        <p:spPr>
          <a:xfrm>
            <a:off x="695620" y="1222508"/>
            <a:ext cx="10800760" cy="707886"/>
          </a:xfrm>
          <a:prstGeom prst="rect">
            <a:avLst/>
          </a:prstGeom>
          <a:noFill/>
        </p:spPr>
        <p:txBody>
          <a:bodyPr wrap="square">
            <a:spAutoFit/>
          </a:bodyPr>
          <a:lstStyle/>
          <a:p>
            <a:r>
              <a:rPr lang="en-US" sz="2000" b="1">
                <a:solidFill>
                  <a:srgbClr val="1A2E52"/>
                </a:solidFill>
              </a:rPr>
              <a:t>Measurement Log</a:t>
            </a:r>
            <a:endParaRPr lang="pl-PL" sz="2000" b="1">
              <a:solidFill>
                <a:srgbClr val="1A2E52"/>
              </a:solidFill>
            </a:endParaRPr>
          </a:p>
          <a:p>
            <a:endParaRPr lang="pl-PL" sz="2000">
              <a:solidFill>
                <a:srgbClr val="C00000"/>
              </a:solidFill>
            </a:endParaRPr>
          </a:p>
        </p:txBody>
      </p:sp>
      <p:graphicFrame>
        <p:nvGraphicFramePr>
          <p:cNvPr id="2" name="Tabela 1">
            <a:extLst>
              <a:ext uri="{FF2B5EF4-FFF2-40B4-BE49-F238E27FC236}">
                <a16:creationId xmlns:a16="http://schemas.microsoft.com/office/drawing/2014/main" id="{D2CE6623-668A-FA98-219A-38247C22B232}"/>
              </a:ext>
            </a:extLst>
          </p:cNvPr>
          <p:cNvGraphicFramePr>
            <a:graphicFrameLocks noGrp="1"/>
          </p:cNvGraphicFramePr>
          <p:nvPr>
            <p:extLst>
              <p:ext uri="{D42A27DB-BD31-4B8C-83A1-F6EECF244321}">
                <p14:modId xmlns:p14="http://schemas.microsoft.com/office/powerpoint/2010/main" val="2199173290"/>
              </p:ext>
            </p:extLst>
          </p:nvPr>
        </p:nvGraphicFramePr>
        <p:xfrm>
          <a:off x="829642" y="1691058"/>
          <a:ext cx="10515587" cy="4389120"/>
        </p:xfrm>
        <a:graphic>
          <a:graphicData uri="http://schemas.openxmlformats.org/drawingml/2006/table">
            <a:tbl>
              <a:tblPr firstRow="1" firstCol="1" bandRow="1" bandCol="1">
                <a:tableStyleId>{B301B821-A1FF-4177-AEE7-76D212191A09}</a:tableStyleId>
              </a:tblPr>
              <a:tblGrid>
                <a:gridCol w="841852">
                  <a:extLst>
                    <a:ext uri="{9D8B030D-6E8A-4147-A177-3AD203B41FA5}">
                      <a16:colId xmlns:a16="http://schemas.microsoft.com/office/drawing/2014/main" val="2347294713"/>
                    </a:ext>
                  </a:extLst>
                </a:gridCol>
                <a:gridCol w="3692140">
                  <a:extLst>
                    <a:ext uri="{9D8B030D-6E8A-4147-A177-3AD203B41FA5}">
                      <a16:colId xmlns:a16="http://schemas.microsoft.com/office/drawing/2014/main" val="3937638648"/>
                    </a:ext>
                  </a:extLst>
                </a:gridCol>
                <a:gridCol w="2513541">
                  <a:extLst>
                    <a:ext uri="{9D8B030D-6E8A-4147-A177-3AD203B41FA5}">
                      <a16:colId xmlns:a16="http://schemas.microsoft.com/office/drawing/2014/main" val="3163895025"/>
                    </a:ext>
                  </a:extLst>
                </a:gridCol>
                <a:gridCol w="3468054">
                  <a:extLst>
                    <a:ext uri="{9D8B030D-6E8A-4147-A177-3AD203B41FA5}">
                      <a16:colId xmlns:a16="http://schemas.microsoft.com/office/drawing/2014/main" val="2087086330"/>
                    </a:ext>
                  </a:extLst>
                </a:gridCol>
              </a:tblGrid>
              <a:tr h="0">
                <a:tc>
                  <a:txBody>
                    <a:bodyPr/>
                    <a:lstStyle/>
                    <a:p>
                      <a:pPr>
                        <a:buNone/>
                      </a:pPr>
                      <a:r>
                        <a:rPr lang="pl-PL"/>
                        <a:t>Series</a:t>
                      </a:r>
                    </a:p>
                  </a:txBody>
                  <a:tcPr anchor="ctr"/>
                </a:tc>
                <a:tc>
                  <a:txBody>
                    <a:bodyPr/>
                    <a:lstStyle/>
                    <a:p>
                      <a:pPr>
                        <a:buNone/>
                      </a:pPr>
                      <a:r>
                        <a:rPr lang="pl-PL"/>
                        <a:t>Test conditions</a:t>
                      </a:r>
                    </a:p>
                  </a:txBody>
                  <a:tcPr anchor="ctr"/>
                </a:tc>
                <a:tc>
                  <a:txBody>
                    <a:bodyPr/>
                    <a:lstStyle/>
                    <a:p>
                      <a:pPr>
                        <a:buNone/>
                      </a:pPr>
                      <a:r>
                        <a:rPr lang="pl-PL"/>
                        <a:t>File name</a:t>
                      </a:r>
                    </a:p>
                  </a:txBody>
                  <a:tcPr anchor="ctr"/>
                </a:tc>
                <a:tc>
                  <a:txBody>
                    <a:bodyPr/>
                    <a:lstStyle/>
                    <a:p>
                      <a:pPr>
                        <a:buNone/>
                      </a:pPr>
                      <a:r>
                        <a:rPr lang="pl-PL"/>
                        <a:t>Comments</a:t>
                      </a:r>
                    </a:p>
                  </a:txBody>
                  <a:tcPr anchor="ctr"/>
                </a:tc>
                <a:extLst>
                  <a:ext uri="{0D108BD9-81ED-4DB2-BD59-A6C34878D82A}">
                    <a16:rowId xmlns:a16="http://schemas.microsoft.com/office/drawing/2014/main" val="1912085092"/>
                  </a:ext>
                </a:extLst>
              </a:tr>
              <a:tr h="0">
                <a:tc>
                  <a:txBody>
                    <a:bodyPr/>
                    <a:lstStyle/>
                    <a:p>
                      <a:pPr>
                        <a:buNone/>
                      </a:pPr>
                      <a:r>
                        <a:rPr lang="pl-PL"/>
                        <a:t>1</a:t>
                      </a:r>
                    </a:p>
                  </a:txBody>
                  <a:tcPr anchor="ctr"/>
                </a:tc>
                <a:tc>
                  <a:txBody>
                    <a:bodyPr/>
                    <a:lstStyle/>
                    <a:p>
                      <a:pPr>
                        <a:buNone/>
                      </a:pPr>
                      <a:r>
                        <a:rPr lang="pl-PL"/>
                        <a:t>Hammer impact – bed in the back</a:t>
                      </a:r>
                    </a:p>
                  </a:txBody>
                  <a:tcPr anchor="ctr"/>
                </a:tc>
                <a:tc>
                  <a:txBody>
                    <a:bodyPr/>
                    <a:lstStyle/>
                    <a:p>
                      <a:pPr>
                        <a:buNone/>
                      </a:pPr>
                      <a:endParaRPr lang="pl-PL"/>
                    </a:p>
                  </a:txBody>
                  <a:tcPr anchor="ctr"/>
                </a:tc>
                <a:tc rowSpan="3">
                  <a:txBody>
                    <a:bodyPr/>
                    <a:lstStyle/>
                    <a:p>
                      <a:pPr>
                        <a:buNone/>
                      </a:pPr>
                      <a:r>
                        <a:rPr lang="pl-PL"/>
                        <a:t>For each hammer impact we repeated the measurement 3 times to verify the repeatability of the experiment</a:t>
                      </a:r>
                    </a:p>
                  </a:txBody>
                  <a:tcPr anchor="ctr"/>
                </a:tc>
                <a:extLst>
                  <a:ext uri="{0D108BD9-81ED-4DB2-BD59-A6C34878D82A}">
                    <a16:rowId xmlns:a16="http://schemas.microsoft.com/office/drawing/2014/main" val="2171469605"/>
                  </a:ext>
                </a:extLst>
              </a:tr>
              <a:tr h="0">
                <a:tc>
                  <a:txBody>
                    <a:bodyPr/>
                    <a:lstStyle/>
                    <a:p>
                      <a:pPr>
                        <a:buNone/>
                      </a:pPr>
                      <a:r>
                        <a:rPr lang="pl-PL"/>
                        <a:t>2</a:t>
                      </a:r>
                    </a:p>
                  </a:txBody>
                  <a:tcPr anchor="ctr"/>
                </a:tc>
                <a:tc>
                  <a:txBody>
                    <a:bodyPr/>
                    <a:lstStyle/>
                    <a:p>
                      <a:pPr lvl="0" algn="l">
                        <a:lnSpc>
                          <a:spcPct val="100000"/>
                        </a:lnSpc>
                        <a:spcBef>
                          <a:spcPts val="0"/>
                        </a:spcBef>
                        <a:spcAft>
                          <a:spcPts val="0"/>
                        </a:spcAft>
                        <a:buNone/>
                      </a:pPr>
                      <a:r>
                        <a:rPr lang="pl-PL" sz="1800" b="0" i="0" u="none" strike="noStrike" noProof="0">
                          <a:solidFill>
                            <a:srgbClr val="000000"/>
                          </a:solidFill>
                          <a:latin typeface="Calibri"/>
                          <a:ea typeface="Calibri"/>
                          <a:cs typeface="Calibri"/>
                        </a:rPr>
                        <a:t>Hammer impact – bed in the center</a:t>
                      </a:r>
                    </a:p>
                  </a:txBody>
                  <a:tcPr anchor="ctr"/>
                </a:tc>
                <a:tc>
                  <a:txBody>
                    <a:bodyPr/>
                    <a:lstStyle/>
                    <a:p>
                      <a:pPr>
                        <a:buNone/>
                      </a:pPr>
                      <a:endParaRPr lang="pl-PL"/>
                    </a:p>
                  </a:txBody>
                  <a:tcPr anchor="ctr"/>
                </a:tc>
                <a:tc vMerge="1">
                  <a:txBody>
                    <a:bodyPr/>
                    <a:lstStyle/>
                    <a:p>
                      <a:endParaRPr lang="en-US"/>
                    </a:p>
                  </a:txBody>
                  <a:tcPr anchor="ctr"/>
                </a:tc>
                <a:extLst>
                  <a:ext uri="{0D108BD9-81ED-4DB2-BD59-A6C34878D82A}">
                    <a16:rowId xmlns:a16="http://schemas.microsoft.com/office/drawing/2014/main" val="3676689618"/>
                  </a:ext>
                </a:extLst>
              </a:tr>
              <a:tr h="0">
                <a:tc>
                  <a:txBody>
                    <a:bodyPr/>
                    <a:lstStyle/>
                    <a:p>
                      <a:pPr>
                        <a:buNone/>
                      </a:pPr>
                      <a:r>
                        <a:rPr lang="pl-PL"/>
                        <a:t>3</a:t>
                      </a:r>
                    </a:p>
                  </a:txBody>
                  <a:tcPr anchor="ctr"/>
                </a:tc>
                <a:tc>
                  <a:txBody>
                    <a:bodyPr/>
                    <a:lstStyle/>
                    <a:p>
                      <a:pPr lvl="0" algn="l">
                        <a:lnSpc>
                          <a:spcPct val="100000"/>
                        </a:lnSpc>
                        <a:spcBef>
                          <a:spcPts val="0"/>
                        </a:spcBef>
                        <a:spcAft>
                          <a:spcPts val="0"/>
                        </a:spcAft>
                        <a:buNone/>
                      </a:pPr>
                      <a:r>
                        <a:rPr lang="pl-PL" sz="1800" b="0" i="0" u="none" strike="noStrike" noProof="0">
                          <a:solidFill>
                            <a:srgbClr val="000000"/>
                          </a:solidFill>
                          <a:latin typeface="Calibri"/>
                          <a:ea typeface="Calibri"/>
                          <a:cs typeface="Calibri"/>
                        </a:rPr>
                        <a:t>Hammer impact – bed in the front</a:t>
                      </a:r>
                    </a:p>
                  </a:txBody>
                  <a:tcPr anchor="ctr"/>
                </a:tc>
                <a:tc>
                  <a:txBody>
                    <a:bodyPr/>
                    <a:lstStyle/>
                    <a:p>
                      <a:pPr>
                        <a:buNone/>
                      </a:pPr>
                      <a:endParaRPr lang="pl-PL"/>
                    </a:p>
                  </a:txBody>
                  <a:tcPr anchor="ctr"/>
                </a:tc>
                <a:tc vMerge="1">
                  <a:txBody>
                    <a:bodyPr/>
                    <a:lstStyle/>
                    <a:p>
                      <a:endParaRPr lang="en-US"/>
                    </a:p>
                  </a:txBody>
                  <a:tcPr anchor="ctr"/>
                </a:tc>
                <a:extLst>
                  <a:ext uri="{0D108BD9-81ED-4DB2-BD59-A6C34878D82A}">
                    <a16:rowId xmlns:a16="http://schemas.microsoft.com/office/drawing/2014/main" val="3116470126"/>
                  </a:ext>
                </a:extLst>
              </a:tr>
              <a:tr h="124273">
                <a:tc>
                  <a:txBody>
                    <a:bodyPr/>
                    <a:lstStyle/>
                    <a:p>
                      <a:pPr>
                        <a:buNone/>
                      </a:pPr>
                      <a:r>
                        <a:rPr lang="pl-PL"/>
                        <a:t>4</a:t>
                      </a:r>
                    </a:p>
                  </a:txBody>
                  <a:tcPr anchor="ctr"/>
                </a:tc>
                <a:tc>
                  <a:txBody>
                    <a:bodyPr/>
                    <a:lstStyle/>
                    <a:p>
                      <a:pPr lvl="0" algn="l">
                        <a:lnSpc>
                          <a:spcPct val="100000"/>
                        </a:lnSpc>
                        <a:spcBef>
                          <a:spcPts val="0"/>
                        </a:spcBef>
                        <a:spcAft>
                          <a:spcPts val="0"/>
                        </a:spcAft>
                        <a:buNone/>
                      </a:pPr>
                      <a:r>
                        <a:rPr lang="pl-PL" sz="1800" b="0" i="0" u="none" strike="noStrike" noProof="0">
                          <a:solidFill>
                            <a:srgbClr val="000000"/>
                          </a:solidFill>
                          <a:latin typeface="Calibri"/>
                          <a:ea typeface="Calibri"/>
                          <a:cs typeface="Calibri"/>
                        </a:rPr>
                        <a:t>Spindle Response – bed in the back</a:t>
                      </a:r>
                    </a:p>
                  </a:txBody>
                  <a:tcPr anchor="ctr"/>
                </a:tc>
                <a:tc>
                  <a:txBody>
                    <a:bodyPr/>
                    <a:lstStyle/>
                    <a:p>
                      <a:pPr>
                        <a:buNone/>
                      </a:pPr>
                      <a:endParaRPr lang="pl-PL"/>
                    </a:p>
                  </a:txBody>
                  <a:tcPr anchor="ctr"/>
                </a:tc>
                <a:tc>
                  <a:txBody>
                    <a:bodyPr/>
                    <a:lstStyle/>
                    <a:p>
                      <a:pPr>
                        <a:buNone/>
                      </a:pPr>
                      <a:r>
                        <a:rPr lang="pl-PL"/>
                        <a:t>The actual spindle RPM (set to 12500RPM) did not allign well with structural modes determined during hammer impact testing, therefore for the next measurements we lowered it</a:t>
                      </a:r>
                    </a:p>
                  </a:txBody>
                  <a:tcPr anchor="ctr"/>
                </a:tc>
                <a:extLst>
                  <a:ext uri="{0D108BD9-81ED-4DB2-BD59-A6C34878D82A}">
                    <a16:rowId xmlns:a16="http://schemas.microsoft.com/office/drawing/2014/main" val="1054823947"/>
                  </a:ext>
                </a:extLst>
              </a:tr>
              <a:tr h="124273">
                <a:tc>
                  <a:txBody>
                    <a:bodyPr/>
                    <a:lstStyle/>
                    <a:p>
                      <a:pPr lvl="0">
                        <a:buNone/>
                      </a:pPr>
                      <a:r>
                        <a:rPr lang="pl-PL"/>
                        <a:t>5</a:t>
                      </a:r>
                    </a:p>
                  </a:txBody>
                  <a:tcPr anchor="ctr"/>
                </a:tc>
                <a:tc>
                  <a:txBody>
                    <a:bodyPr/>
                    <a:lstStyle/>
                    <a:p>
                      <a:pPr lvl="0" algn="l">
                        <a:lnSpc>
                          <a:spcPct val="100000"/>
                        </a:lnSpc>
                        <a:spcBef>
                          <a:spcPts val="0"/>
                        </a:spcBef>
                        <a:spcAft>
                          <a:spcPts val="0"/>
                        </a:spcAft>
                        <a:buNone/>
                      </a:pPr>
                      <a:r>
                        <a:rPr lang="pl-PL" sz="1800" b="0" i="0" u="none" strike="noStrike" noProof="0">
                          <a:solidFill>
                            <a:srgbClr val="000000"/>
                          </a:solidFill>
                          <a:latin typeface="Calibri"/>
                          <a:ea typeface="Calibri"/>
                          <a:cs typeface="Calibri"/>
                        </a:rPr>
                        <a:t>Spindle Response – bed in the back</a:t>
                      </a:r>
                    </a:p>
                  </a:txBody>
                  <a:tcPr anchor="ctr"/>
                </a:tc>
                <a:tc>
                  <a:txBody>
                    <a:bodyPr/>
                    <a:lstStyle/>
                    <a:p>
                      <a:pPr lvl="0">
                        <a:buNone/>
                      </a:pPr>
                      <a:endParaRPr lang="pl-PL"/>
                    </a:p>
                  </a:txBody>
                  <a:tcPr anchor="ctr"/>
                </a:tc>
                <a:tc>
                  <a:txBody>
                    <a:bodyPr/>
                    <a:lstStyle/>
                    <a:p>
                      <a:pPr lvl="0">
                        <a:buNone/>
                      </a:pPr>
                      <a:r>
                        <a:rPr lang="pl-PL" sz="1800" b="0" i="0" u="none" strike="noStrike" noProof="0">
                          <a:solidFill>
                            <a:srgbClr val="000000"/>
                          </a:solidFill>
                          <a:latin typeface="Calibri"/>
                          <a:ea typeface="Calibri"/>
                          <a:cs typeface="Calibri"/>
                        </a:rPr>
                        <a:t>spindle </a:t>
                      </a:r>
                      <a:r>
                        <a:rPr lang="pl-PL"/>
                        <a:t>RPM set to 7500</a:t>
                      </a:r>
                    </a:p>
                  </a:txBody>
                  <a:tcPr anchor="ctr"/>
                </a:tc>
                <a:extLst>
                  <a:ext uri="{0D108BD9-81ED-4DB2-BD59-A6C34878D82A}">
                    <a16:rowId xmlns:a16="http://schemas.microsoft.com/office/drawing/2014/main" val="2503904485"/>
                  </a:ext>
                </a:extLst>
              </a:tr>
              <a:tr h="124273">
                <a:tc>
                  <a:txBody>
                    <a:bodyPr/>
                    <a:lstStyle/>
                    <a:p>
                      <a:pPr lvl="0">
                        <a:buNone/>
                      </a:pPr>
                      <a:r>
                        <a:rPr lang="pl-PL"/>
                        <a:t>6</a:t>
                      </a:r>
                    </a:p>
                  </a:txBody>
                  <a:tcPr anchor="ctr"/>
                </a:tc>
                <a:tc>
                  <a:txBody>
                    <a:bodyPr/>
                    <a:lstStyle/>
                    <a:p>
                      <a:pPr lvl="0" algn="l">
                        <a:lnSpc>
                          <a:spcPct val="100000"/>
                        </a:lnSpc>
                        <a:spcBef>
                          <a:spcPts val="0"/>
                        </a:spcBef>
                        <a:spcAft>
                          <a:spcPts val="0"/>
                        </a:spcAft>
                        <a:buNone/>
                      </a:pPr>
                      <a:r>
                        <a:rPr lang="pl-PL" sz="1800" b="0" i="0" u="none" strike="noStrike" noProof="0">
                          <a:solidFill>
                            <a:srgbClr val="000000"/>
                          </a:solidFill>
                          <a:latin typeface="Calibri"/>
                          <a:ea typeface="Calibri"/>
                          <a:cs typeface="Calibri"/>
                        </a:rPr>
                        <a:t>Spindle Response – bed in the center</a:t>
                      </a:r>
                    </a:p>
                  </a:txBody>
                  <a:tcPr anchor="ctr"/>
                </a:tc>
                <a:tc>
                  <a:txBody>
                    <a:bodyPr/>
                    <a:lstStyle/>
                    <a:p>
                      <a:pPr lvl="0">
                        <a:buNone/>
                      </a:pPr>
                      <a:endParaRPr lang="pl-PL"/>
                    </a:p>
                  </a:txBody>
                  <a:tcPr anchor="ctr"/>
                </a:tc>
                <a:tc>
                  <a:txBody>
                    <a:bodyPr/>
                    <a:lstStyle/>
                    <a:p>
                      <a:pPr lvl="0">
                        <a:buNone/>
                      </a:pPr>
                      <a:r>
                        <a:rPr lang="pl-PL" sz="1800" b="0" i="0" u="none" strike="noStrike" noProof="0">
                          <a:solidFill>
                            <a:srgbClr val="000000"/>
                          </a:solidFill>
                          <a:latin typeface="Calibri"/>
                          <a:ea typeface="Calibri"/>
                          <a:cs typeface="Calibri"/>
                        </a:rPr>
                        <a:t>spindle RPM set to 7500</a:t>
                      </a:r>
                      <a:endParaRPr lang="en-US"/>
                    </a:p>
                  </a:txBody>
                  <a:tcPr anchor="ctr"/>
                </a:tc>
                <a:extLst>
                  <a:ext uri="{0D108BD9-81ED-4DB2-BD59-A6C34878D82A}">
                    <a16:rowId xmlns:a16="http://schemas.microsoft.com/office/drawing/2014/main" val="3490563812"/>
                  </a:ext>
                </a:extLst>
              </a:tr>
              <a:tr h="124273">
                <a:tc>
                  <a:txBody>
                    <a:bodyPr/>
                    <a:lstStyle/>
                    <a:p>
                      <a:pPr lvl="0">
                        <a:buNone/>
                      </a:pPr>
                      <a:r>
                        <a:rPr lang="pl-PL"/>
                        <a:t>7</a:t>
                      </a:r>
                    </a:p>
                  </a:txBody>
                  <a:tcPr anchor="ctr"/>
                </a:tc>
                <a:tc>
                  <a:txBody>
                    <a:bodyPr/>
                    <a:lstStyle/>
                    <a:p>
                      <a:pPr lvl="0" algn="l">
                        <a:lnSpc>
                          <a:spcPct val="100000"/>
                        </a:lnSpc>
                        <a:spcBef>
                          <a:spcPts val="0"/>
                        </a:spcBef>
                        <a:spcAft>
                          <a:spcPts val="0"/>
                        </a:spcAft>
                        <a:buNone/>
                      </a:pPr>
                      <a:r>
                        <a:rPr lang="pl-PL" sz="1800" b="0" i="0" u="none" strike="noStrike" noProof="0">
                          <a:solidFill>
                            <a:srgbClr val="000000"/>
                          </a:solidFill>
                          <a:latin typeface="Calibri"/>
                          <a:ea typeface="Calibri"/>
                          <a:cs typeface="Calibri"/>
                        </a:rPr>
                        <a:t>Spindle Response – bed in the front</a:t>
                      </a:r>
                      <a:endParaRPr lang="en-US"/>
                    </a:p>
                  </a:txBody>
                  <a:tcPr anchor="ctr"/>
                </a:tc>
                <a:tc>
                  <a:txBody>
                    <a:bodyPr/>
                    <a:lstStyle/>
                    <a:p>
                      <a:pPr lvl="0">
                        <a:buNone/>
                      </a:pPr>
                      <a:endParaRPr lang="pl-PL"/>
                    </a:p>
                  </a:txBody>
                  <a:tcPr anchor="ctr"/>
                </a:tc>
                <a:tc>
                  <a:txBody>
                    <a:bodyPr/>
                    <a:lstStyle/>
                    <a:p>
                      <a:pPr lvl="0">
                        <a:buNone/>
                      </a:pPr>
                      <a:r>
                        <a:rPr lang="pl-PL" sz="1800" b="0" i="0" u="none" strike="noStrike" noProof="0">
                          <a:solidFill>
                            <a:srgbClr val="000000"/>
                          </a:solidFill>
                          <a:latin typeface="Calibri"/>
                          <a:ea typeface="Calibri"/>
                          <a:cs typeface="Calibri"/>
                        </a:rPr>
                        <a:t>spindle RPM set to 7500</a:t>
                      </a:r>
                      <a:endParaRPr lang="en-US"/>
                    </a:p>
                  </a:txBody>
                  <a:tcPr anchor="ctr"/>
                </a:tc>
                <a:extLst>
                  <a:ext uri="{0D108BD9-81ED-4DB2-BD59-A6C34878D82A}">
                    <a16:rowId xmlns:a16="http://schemas.microsoft.com/office/drawing/2014/main" val="2165802039"/>
                  </a:ext>
                </a:extLst>
              </a:tr>
            </a:tbl>
          </a:graphicData>
        </a:graphic>
      </p:graphicFrame>
    </p:spTree>
    <p:extLst>
      <p:ext uri="{BB962C8B-B14F-4D97-AF65-F5344CB8AC3E}">
        <p14:creationId xmlns:p14="http://schemas.microsoft.com/office/powerpoint/2010/main" val="3520700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5F6DE-CC80-5903-0C2C-C7A99BCA2C17}"/>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1CA81405-CC25-0B9F-1621-77E13883DFCE}"/>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2D0B1609-C33A-401D-E8B9-5B1D27A7F1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6D7B15A5-229C-7D2F-038A-36EC54EA11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AD799394-C4EB-7B03-0316-DC90982A6C0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5BB541E7-0E9C-1CE9-86B3-BFFB1E58DE6D}"/>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5F254037-177D-9AB1-BA8A-C08E655C5E8A}"/>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9D4B37B9-344E-03E9-E5C1-AF7B809F929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68058294-5DD4-8D52-53AA-4FA71DED7FB2}"/>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47A0159C-5F86-524C-3C72-945D8E31B7E8}"/>
              </a:ext>
            </a:extLst>
          </p:cNvPr>
          <p:cNvSpPr txBox="1"/>
          <p:nvPr/>
        </p:nvSpPr>
        <p:spPr>
          <a:xfrm>
            <a:off x="577392" y="932410"/>
            <a:ext cx="6094428" cy="400110"/>
          </a:xfrm>
          <a:prstGeom prst="rect">
            <a:avLst/>
          </a:prstGeom>
          <a:noFill/>
        </p:spPr>
        <p:txBody>
          <a:bodyPr wrap="square">
            <a:spAutoFit/>
          </a:bodyPr>
          <a:lstStyle/>
          <a:p>
            <a:r>
              <a:rPr lang="pl-PL" sz="2000" b="1">
                <a:solidFill>
                  <a:srgbClr val="1A2E52"/>
                </a:solidFill>
                <a:latin typeface="Colber"/>
              </a:rPr>
              <a:t>Data </a:t>
            </a:r>
            <a:r>
              <a:rPr lang="pl-PL" sz="2000" b="1" err="1">
                <a:solidFill>
                  <a:srgbClr val="1A2E52"/>
                </a:solidFill>
                <a:latin typeface="Colber"/>
              </a:rPr>
              <a:t>Quality</a:t>
            </a:r>
            <a:r>
              <a:rPr lang="pl-PL" sz="2000" b="1">
                <a:solidFill>
                  <a:srgbClr val="1A2E52"/>
                </a:solidFill>
                <a:latin typeface="Colber"/>
              </a:rPr>
              <a:t> </a:t>
            </a:r>
            <a:r>
              <a:rPr lang="pl-PL" sz="2000" b="1" err="1">
                <a:solidFill>
                  <a:srgbClr val="1A2E52"/>
                </a:solidFill>
                <a:latin typeface="Colber"/>
              </a:rPr>
              <a:t>Assessment</a:t>
            </a:r>
            <a:r>
              <a:rPr lang="pl-PL" sz="2000" b="1">
                <a:solidFill>
                  <a:srgbClr val="1A2E52"/>
                </a:solidFill>
                <a:latin typeface="Colber"/>
              </a:rPr>
              <a:t> (</a:t>
            </a:r>
            <a:r>
              <a:rPr lang="en-US" sz="2000" b="1">
                <a:solidFill>
                  <a:srgbClr val="1A2E52"/>
                </a:solidFill>
                <a:latin typeface="Colber"/>
              </a:rPr>
              <a:t>Time: </a:t>
            </a:r>
            <a:r>
              <a:rPr lang="pl-PL" sz="2000" b="1">
                <a:solidFill>
                  <a:srgbClr val="1A2E52"/>
                </a:solidFill>
                <a:latin typeface="Colber"/>
              </a:rPr>
              <a:t>20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B53F06C6-917A-9E46-E6A3-5CCCB2DB587B}"/>
              </a:ext>
            </a:extLst>
          </p:cNvPr>
          <p:cNvSpPr txBox="1"/>
          <p:nvPr/>
        </p:nvSpPr>
        <p:spPr>
          <a:xfrm>
            <a:off x="577477" y="1335555"/>
            <a:ext cx="5604904" cy="5016758"/>
          </a:xfrm>
          <a:prstGeom prst="rect">
            <a:avLst/>
          </a:prstGeom>
          <a:noFill/>
        </p:spPr>
        <p:txBody>
          <a:bodyPr wrap="square" lIns="91440" tIns="45720" rIns="91440" bIns="45720" anchor="t">
            <a:spAutoFit/>
          </a:bodyPr>
          <a:lstStyle/>
          <a:p>
            <a:r>
              <a:rPr lang="pl-PL" sz="2000" b="1" err="1">
                <a:solidFill>
                  <a:srgbClr val="1A2E52"/>
                </a:solidFill>
              </a:rPr>
              <a:t>Signal</a:t>
            </a:r>
            <a:r>
              <a:rPr lang="pl-PL" sz="2000" b="1">
                <a:solidFill>
                  <a:srgbClr val="1A2E52"/>
                </a:solidFill>
              </a:rPr>
              <a:t> </a:t>
            </a:r>
            <a:r>
              <a:rPr lang="pl-PL" sz="2000" b="1" err="1">
                <a:solidFill>
                  <a:srgbClr val="1A2E52"/>
                </a:solidFill>
              </a:rPr>
              <a:t>quality</a:t>
            </a:r>
            <a:r>
              <a:rPr lang="pl-PL" sz="2000" b="1">
                <a:solidFill>
                  <a:srgbClr val="1A2E52"/>
                </a:solidFill>
              </a:rPr>
              <a:t>:</a:t>
            </a:r>
          </a:p>
          <a:p>
            <a:r>
              <a:rPr lang="pl-PL" sz="2000">
                <a:solidFill>
                  <a:srgbClr val="1A2E52"/>
                </a:solidFill>
              </a:rPr>
              <a:t>x </a:t>
            </a:r>
            <a:r>
              <a:rPr lang="pl-PL" sz="2000" err="1">
                <a:solidFill>
                  <a:srgbClr val="1A2E52"/>
                </a:solidFill>
              </a:rPr>
              <a:t>Excellent</a:t>
            </a:r>
            <a:br>
              <a:rPr lang="pl-PL" sz="2000">
                <a:solidFill>
                  <a:srgbClr val="1A2E52"/>
                </a:solidFill>
              </a:rPr>
            </a:br>
            <a:r>
              <a:rPr lang="pl-PL" sz="2000">
                <a:solidFill>
                  <a:srgbClr val="1A2E52"/>
                </a:solidFill>
              </a:rPr>
              <a:t>☐ Good</a:t>
            </a:r>
            <a:br>
              <a:rPr lang="pl-PL" sz="2000">
                <a:solidFill>
                  <a:srgbClr val="1A2E52"/>
                </a:solidFill>
              </a:rPr>
            </a:br>
            <a:r>
              <a:rPr lang="pl-PL" sz="2000">
                <a:solidFill>
                  <a:srgbClr val="1A2E52"/>
                </a:solidFill>
              </a:rPr>
              <a:t>☐ </a:t>
            </a:r>
            <a:r>
              <a:rPr lang="pl-PL" sz="2000" err="1">
                <a:solidFill>
                  <a:srgbClr val="1A2E52"/>
                </a:solidFill>
              </a:rPr>
              <a:t>Acceptable</a:t>
            </a:r>
            <a:br>
              <a:rPr lang="pl-PL" sz="2000">
                <a:solidFill>
                  <a:srgbClr val="1A2E52"/>
                </a:solidFill>
              </a:rPr>
            </a:br>
            <a:r>
              <a:rPr lang="pl-PL" sz="2000">
                <a:solidFill>
                  <a:srgbClr val="1A2E52"/>
                </a:solidFill>
              </a:rPr>
              <a:t>☐ </a:t>
            </a:r>
            <a:r>
              <a:rPr lang="pl-PL" sz="2000" err="1">
                <a:solidFill>
                  <a:srgbClr val="1A2E52"/>
                </a:solidFill>
              </a:rPr>
              <a:t>Poor</a:t>
            </a:r>
            <a:r>
              <a:rPr lang="pl-PL" sz="2000">
                <a:solidFill>
                  <a:srgbClr val="1A2E52"/>
                </a:solidFill>
              </a:rPr>
              <a:t> — </a:t>
            </a:r>
            <a:r>
              <a:rPr lang="pl-PL" sz="2000" err="1">
                <a:solidFill>
                  <a:srgbClr val="1A2E52"/>
                </a:solidFill>
              </a:rPr>
              <a:t>measurements</a:t>
            </a:r>
            <a:r>
              <a:rPr lang="pl-PL" sz="2000">
                <a:solidFill>
                  <a:srgbClr val="1A2E52"/>
                </a:solidFill>
              </a:rPr>
              <a:t> </a:t>
            </a:r>
            <a:r>
              <a:rPr lang="pl-PL" sz="2000" err="1">
                <a:solidFill>
                  <a:srgbClr val="1A2E52"/>
                </a:solidFill>
              </a:rPr>
              <a:t>must</a:t>
            </a:r>
            <a:r>
              <a:rPr lang="pl-PL" sz="2000">
                <a:solidFill>
                  <a:srgbClr val="1A2E52"/>
                </a:solidFill>
              </a:rPr>
              <a:t> be repeated</a:t>
            </a:r>
          </a:p>
          <a:p>
            <a:r>
              <a:rPr lang="pl-PL" sz="2000" b="1" err="1">
                <a:solidFill>
                  <a:srgbClr val="1A2E52"/>
                </a:solidFill>
              </a:rPr>
              <a:t>Possible</a:t>
            </a:r>
            <a:r>
              <a:rPr lang="pl-PL" sz="2000" b="1">
                <a:solidFill>
                  <a:srgbClr val="1A2E52"/>
                </a:solidFill>
              </a:rPr>
              <a:t> </a:t>
            </a:r>
            <a:r>
              <a:rPr lang="pl-PL" sz="2000" b="1" err="1">
                <a:solidFill>
                  <a:srgbClr val="1A2E52"/>
                </a:solidFill>
              </a:rPr>
              <a:t>sources</a:t>
            </a:r>
            <a:r>
              <a:rPr lang="pl-PL" sz="2000" b="1">
                <a:solidFill>
                  <a:srgbClr val="1A2E52"/>
                </a:solidFill>
              </a:rPr>
              <a:t> of </a:t>
            </a:r>
            <a:r>
              <a:rPr lang="pl-PL" sz="2000" b="1" err="1">
                <a:solidFill>
                  <a:srgbClr val="1A2E52"/>
                </a:solidFill>
              </a:rPr>
              <a:t>errors</a:t>
            </a:r>
            <a:r>
              <a:rPr lang="pl-PL" sz="2000" b="1">
                <a:solidFill>
                  <a:srgbClr val="1A2E52"/>
                </a:solidFill>
              </a:rPr>
              <a:t>:</a:t>
            </a:r>
          </a:p>
          <a:p>
            <a:r>
              <a:rPr lang="pl-PL" sz="2000">
                <a:solidFill>
                  <a:srgbClr val="1A2E52"/>
                </a:solidFill>
              </a:rPr>
              <a:t>☐ Sensor </a:t>
            </a:r>
            <a:r>
              <a:rPr lang="pl-PL" sz="2000" err="1">
                <a:solidFill>
                  <a:srgbClr val="1A2E52"/>
                </a:solidFill>
              </a:rPr>
              <a:t>accuracy</a:t>
            </a:r>
            <a:br>
              <a:rPr lang="pl-PL" sz="2000">
                <a:solidFill>
                  <a:srgbClr val="1A2E52"/>
                </a:solidFill>
              </a:rPr>
            </a:br>
            <a:r>
              <a:rPr lang="pl-PL" sz="2000">
                <a:solidFill>
                  <a:srgbClr val="1A2E52"/>
                </a:solidFill>
              </a:rPr>
              <a:t>☐ </a:t>
            </a:r>
            <a:r>
              <a:rPr lang="pl-PL" sz="2000" err="1">
                <a:solidFill>
                  <a:srgbClr val="1A2E52"/>
                </a:solidFill>
              </a:rPr>
              <a:t>Calibration</a:t>
            </a:r>
            <a:r>
              <a:rPr lang="pl-PL" sz="2000">
                <a:solidFill>
                  <a:srgbClr val="1A2E52"/>
                </a:solidFill>
              </a:rPr>
              <a:t> error</a:t>
            </a:r>
            <a:br>
              <a:rPr lang="pl-PL" sz="2000">
                <a:solidFill>
                  <a:srgbClr val="1A2E52"/>
                </a:solidFill>
              </a:rPr>
            </a:br>
            <a:r>
              <a:rPr lang="pl-PL" sz="2000">
                <a:solidFill>
                  <a:srgbClr val="1A2E52"/>
                </a:solidFill>
              </a:rPr>
              <a:t>☐ </a:t>
            </a:r>
            <a:r>
              <a:rPr lang="pl-PL" sz="2000" err="1">
                <a:solidFill>
                  <a:srgbClr val="1A2E52"/>
                </a:solidFill>
              </a:rPr>
              <a:t>Noise</a:t>
            </a:r>
            <a:br>
              <a:rPr lang="pl-PL" sz="2000">
                <a:solidFill>
                  <a:srgbClr val="1A2E52"/>
                </a:solidFill>
              </a:rPr>
            </a:br>
            <a:r>
              <a:rPr lang="pl-PL" sz="2000">
                <a:solidFill>
                  <a:srgbClr val="1A2E52"/>
                </a:solidFill>
              </a:rPr>
              <a:t>☐ DAQ </a:t>
            </a:r>
            <a:r>
              <a:rPr lang="pl-PL" sz="2000" err="1">
                <a:solidFill>
                  <a:srgbClr val="1A2E52"/>
                </a:solidFill>
              </a:rPr>
              <a:t>limitations</a:t>
            </a:r>
            <a:br>
              <a:rPr lang="pl-PL" sz="2000">
                <a:solidFill>
                  <a:srgbClr val="1A2E52"/>
                </a:solidFill>
              </a:rPr>
            </a:br>
            <a:r>
              <a:rPr lang="pl-PL" sz="2000">
                <a:solidFill>
                  <a:srgbClr val="1A2E52"/>
                </a:solidFill>
              </a:rPr>
              <a:t>☐ </a:t>
            </a:r>
            <a:r>
              <a:rPr lang="pl-PL" sz="2000" err="1">
                <a:solidFill>
                  <a:srgbClr val="1A2E52"/>
                </a:solidFill>
              </a:rPr>
              <a:t>Experimental</a:t>
            </a:r>
            <a:r>
              <a:rPr lang="pl-PL" sz="2000">
                <a:solidFill>
                  <a:srgbClr val="1A2E52"/>
                </a:solidFill>
              </a:rPr>
              <a:t> setup</a:t>
            </a:r>
            <a:br>
              <a:rPr lang="pl-PL" sz="2000">
                <a:solidFill>
                  <a:srgbClr val="1A2E52"/>
                </a:solidFill>
              </a:rPr>
            </a:br>
            <a:r>
              <a:rPr lang="pl-PL" sz="2000">
                <a:solidFill>
                  <a:srgbClr val="1A2E52"/>
                </a:solidFill>
              </a:rPr>
              <a:t> x Human error – impossible to apply the same excitation strength each time for impact testing</a:t>
            </a:r>
            <a:br>
              <a:rPr lang="pl-PL" sz="2000">
                <a:solidFill>
                  <a:srgbClr val="1A2E52"/>
                </a:solidFill>
              </a:rPr>
            </a:br>
            <a:r>
              <a:rPr lang="pl-PL" sz="2000">
                <a:solidFill>
                  <a:srgbClr val="1A2E52"/>
                </a:solidFill>
              </a:rPr>
              <a:t> x Other: spindle RPM differing slightly from set values</a:t>
            </a:r>
            <a:endParaRPr lang="pl-PL" sz="2000">
              <a:solidFill>
                <a:srgbClr val="1A2E52"/>
              </a:solidFill>
              <a:ea typeface="Calibri"/>
              <a:cs typeface="Calibri"/>
            </a:endParaRPr>
          </a:p>
          <a:p>
            <a:endParaRPr lang="pl-PL" sz="2000">
              <a:solidFill>
                <a:srgbClr val="C00000"/>
              </a:solidFill>
            </a:endParaRPr>
          </a:p>
        </p:txBody>
      </p:sp>
      <p:sp>
        <p:nvSpPr>
          <p:cNvPr id="8" name="pole tekstowe 7">
            <a:extLst>
              <a:ext uri="{FF2B5EF4-FFF2-40B4-BE49-F238E27FC236}">
                <a16:creationId xmlns:a16="http://schemas.microsoft.com/office/drawing/2014/main" id="{05FDB7FC-CDB9-31BF-B81B-1510C654A6B7}"/>
              </a:ext>
            </a:extLst>
          </p:cNvPr>
          <p:cNvSpPr txBox="1"/>
          <p:nvPr/>
        </p:nvSpPr>
        <p:spPr>
          <a:xfrm>
            <a:off x="6083356" y="1135795"/>
            <a:ext cx="5612162" cy="4708981"/>
          </a:xfrm>
          <a:prstGeom prst="rect">
            <a:avLst/>
          </a:prstGeom>
          <a:noFill/>
        </p:spPr>
        <p:txBody>
          <a:bodyPr wrap="square" lIns="91440" tIns="45720" rIns="91440" bIns="45720" anchor="t">
            <a:spAutoFit/>
          </a:bodyPr>
          <a:lstStyle/>
          <a:p>
            <a:br>
              <a:rPr lang="pl-PL" sz="2000"/>
            </a:br>
            <a:endParaRPr lang="pl-PL" sz="2000"/>
          </a:p>
          <a:p>
            <a:r>
              <a:rPr lang="pl-PL" sz="2000" b="1" err="1">
                <a:solidFill>
                  <a:srgbClr val="1A2E52"/>
                </a:solidFill>
              </a:rPr>
              <a:t>Are</a:t>
            </a:r>
            <a:r>
              <a:rPr lang="pl-PL" sz="2000" b="1">
                <a:solidFill>
                  <a:srgbClr val="1A2E52"/>
                </a:solidFill>
              </a:rPr>
              <a:t> the </a:t>
            </a:r>
            <a:r>
              <a:rPr lang="pl-PL" sz="2000" b="1" err="1">
                <a:solidFill>
                  <a:srgbClr val="1A2E52"/>
                </a:solidFill>
              </a:rPr>
              <a:t>results</a:t>
            </a:r>
            <a:r>
              <a:rPr lang="pl-PL" sz="2000" b="1">
                <a:solidFill>
                  <a:srgbClr val="1A2E52"/>
                </a:solidFill>
              </a:rPr>
              <a:t> </a:t>
            </a:r>
            <a:r>
              <a:rPr lang="pl-PL" sz="2000" b="1" err="1">
                <a:solidFill>
                  <a:srgbClr val="1A2E52"/>
                </a:solidFill>
              </a:rPr>
              <a:t>reliable</a:t>
            </a:r>
            <a:r>
              <a:rPr lang="pl-PL" sz="2000" b="1">
                <a:solidFill>
                  <a:srgbClr val="1A2E52"/>
                </a:solidFill>
              </a:rPr>
              <a:t> </a:t>
            </a:r>
            <a:r>
              <a:rPr lang="pl-PL" sz="2000" b="1" err="1">
                <a:solidFill>
                  <a:srgbClr val="1A2E52"/>
                </a:solidFill>
              </a:rPr>
              <a:t>enough</a:t>
            </a:r>
            <a:r>
              <a:rPr lang="pl-PL" sz="2000" b="1">
                <a:solidFill>
                  <a:srgbClr val="1A2E52"/>
                </a:solidFill>
              </a:rPr>
              <a:t> for the </a:t>
            </a:r>
            <a:r>
              <a:rPr lang="pl-PL" sz="2000" b="1" err="1">
                <a:solidFill>
                  <a:srgbClr val="1A2E52"/>
                </a:solidFill>
              </a:rPr>
              <a:t>final</a:t>
            </a:r>
            <a:r>
              <a:rPr lang="pl-PL" sz="2000" b="1">
                <a:solidFill>
                  <a:srgbClr val="1A2E52"/>
                </a:solidFill>
              </a:rPr>
              <a:t> report?</a:t>
            </a:r>
          </a:p>
          <a:p>
            <a:r>
              <a:rPr lang="pl-PL" sz="2000">
                <a:solidFill>
                  <a:srgbClr val="1A2E52"/>
                </a:solidFill>
              </a:rPr>
              <a:t> x Yes</a:t>
            </a:r>
            <a:br>
              <a:rPr lang="pl-PL" sz="2000">
                <a:solidFill>
                  <a:srgbClr val="1A2E52"/>
                </a:solidFill>
              </a:rPr>
            </a:br>
            <a:r>
              <a:rPr lang="pl-PL" sz="2000">
                <a:solidFill>
                  <a:srgbClr val="1A2E52"/>
                </a:solidFill>
              </a:rPr>
              <a:t>☐ </a:t>
            </a:r>
            <a:r>
              <a:rPr lang="pl-PL" sz="2000" err="1">
                <a:solidFill>
                  <a:srgbClr val="1A2E52"/>
                </a:solidFill>
              </a:rPr>
              <a:t>Partially</a:t>
            </a:r>
            <a:br>
              <a:rPr lang="pl-PL" sz="2000">
                <a:solidFill>
                  <a:srgbClr val="1A2E52"/>
                </a:solidFill>
              </a:rPr>
            </a:br>
            <a:r>
              <a:rPr lang="pl-PL" sz="2000">
                <a:solidFill>
                  <a:srgbClr val="1A2E52"/>
                </a:solidFill>
              </a:rPr>
              <a:t>☐ No — </a:t>
            </a:r>
            <a:r>
              <a:rPr lang="pl-PL" sz="2000" err="1">
                <a:solidFill>
                  <a:srgbClr val="1A2E52"/>
                </a:solidFill>
              </a:rPr>
              <a:t>additional</a:t>
            </a:r>
            <a:r>
              <a:rPr lang="pl-PL" sz="2000">
                <a:solidFill>
                  <a:srgbClr val="1A2E52"/>
                </a:solidFill>
              </a:rPr>
              <a:t> </a:t>
            </a:r>
            <a:r>
              <a:rPr lang="pl-PL" sz="2000" err="1">
                <a:solidFill>
                  <a:srgbClr val="1A2E52"/>
                </a:solidFill>
              </a:rPr>
              <a:t>measurements</a:t>
            </a:r>
            <a:r>
              <a:rPr lang="pl-PL" sz="2000">
                <a:solidFill>
                  <a:srgbClr val="1A2E52"/>
                </a:solidFill>
              </a:rPr>
              <a:t> </a:t>
            </a:r>
            <a:r>
              <a:rPr lang="pl-PL" sz="2000" err="1">
                <a:solidFill>
                  <a:srgbClr val="1A2E52"/>
                </a:solidFill>
              </a:rPr>
              <a:t>are</a:t>
            </a:r>
            <a:r>
              <a:rPr lang="pl-PL" sz="2000">
                <a:solidFill>
                  <a:srgbClr val="1A2E52"/>
                </a:solidFill>
              </a:rPr>
              <a:t> </a:t>
            </a:r>
            <a:r>
              <a:rPr lang="pl-PL" sz="2000" err="1">
                <a:solidFill>
                  <a:srgbClr val="1A2E52"/>
                </a:solidFill>
              </a:rPr>
              <a:t>needed</a:t>
            </a:r>
            <a:endParaRPr lang="pl-PL" sz="2000">
              <a:solidFill>
                <a:srgbClr val="1A2E52"/>
              </a:solidFill>
            </a:endParaRPr>
          </a:p>
          <a:p>
            <a:endParaRPr lang="pl-PL" sz="2000">
              <a:solidFill>
                <a:srgbClr val="1A2E52"/>
              </a:solidFill>
            </a:endParaRPr>
          </a:p>
          <a:p>
            <a:r>
              <a:rPr lang="pl-PL" sz="2000" b="1" err="1">
                <a:solidFill>
                  <a:srgbClr val="1A2E52"/>
                </a:solidFill>
              </a:rPr>
              <a:t>Justification</a:t>
            </a:r>
            <a:r>
              <a:rPr lang="pl-PL" sz="2000" b="1">
                <a:solidFill>
                  <a:srgbClr val="1A2E52"/>
                </a:solidFill>
              </a:rPr>
              <a:t>:</a:t>
            </a:r>
          </a:p>
          <a:p>
            <a:r>
              <a:rPr lang="pl-PL" sz="2000">
                <a:ea typeface="+mn-lt"/>
                <a:cs typeface="+mn-lt"/>
              </a:rPr>
              <a:t>Signal integrity was successfully maintained via low-impedance ICP/IEPE sensors, raw waveforms were cleanly captured without signal anomalies or clipping. Regression quality metrics (R^2) for the modal decay estimation were very high – for the dominant modes ranging between 0.978 and 0.994</a:t>
            </a:r>
            <a:endParaRPr lang="pl-PL">
              <a:ea typeface="+mn-lt"/>
              <a:cs typeface="+mn-lt"/>
            </a:endParaRPr>
          </a:p>
          <a:p>
            <a:endParaRPr lang="pl-PL" sz="2000">
              <a:solidFill>
                <a:srgbClr val="C00000"/>
              </a:solidFill>
            </a:endParaRPr>
          </a:p>
        </p:txBody>
      </p:sp>
    </p:spTree>
    <p:extLst>
      <p:ext uri="{BB962C8B-B14F-4D97-AF65-F5344CB8AC3E}">
        <p14:creationId xmlns:p14="http://schemas.microsoft.com/office/powerpoint/2010/main" val="1333158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48348-8357-5D80-F721-846F5FF7E0AB}"/>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47105F7F-00A5-7C19-E89C-DD14C37C406A}"/>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D0F36601-7863-D3CA-12E7-28A2829AC9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E2620327-6FB4-FB45-3592-3975FFF64F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4F8B25E1-9F0B-6605-A358-4187EB1021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2A7DF09D-455F-E7B3-FFA9-2ECC04A0113A}"/>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BC8F4087-1270-5F94-5493-D261FE61A6FC}"/>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BC1CDF7D-DEC9-1C4E-0714-8B754C83F83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26AF2F12-807F-9DC3-E97E-09E9F483983C}"/>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B5D831C0-6EF4-E704-3C38-95B2314BE433}"/>
              </a:ext>
            </a:extLst>
          </p:cNvPr>
          <p:cNvSpPr txBox="1"/>
          <p:nvPr/>
        </p:nvSpPr>
        <p:spPr>
          <a:xfrm>
            <a:off x="577392" y="932410"/>
            <a:ext cx="9752028" cy="400110"/>
          </a:xfrm>
          <a:prstGeom prst="rect">
            <a:avLst/>
          </a:prstGeom>
          <a:noFill/>
        </p:spPr>
        <p:txBody>
          <a:bodyPr wrap="square" lIns="91440" tIns="45720" rIns="91440" bIns="45720" anchor="t">
            <a:spAutoFit/>
          </a:bodyPr>
          <a:lstStyle/>
          <a:p>
            <a:r>
              <a:rPr lang="pl-PL" sz="2000" b="1">
                <a:solidFill>
                  <a:srgbClr val="1A2E52"/>
                </a:solidFill>
                <a:latin typeface="Colber"/>
              </a:rPr>
              <a:t>First Analysis of </a:t>
            </a:r>
            <a:r>
              <a:rPr lang="pl-PL" sz="2000" b="1" err="1">
                <a:solidFill>
                  <a:srgbClr val="1A2E52"/>
                </a:solidFill>
                <a:latin typeface="Colber"/>
              </a:rPr>
              <a:t>Results</a:t>
            </a:r>
            <a:r>
              <a:rPr lang="pl-PL" sz="2000" b="1">
                <a:solidFill>
                  <a:srgbClr val="1A2E52"/>
                </a:solidFill>
                <a:latin typeface="Colber"/>
              </a:rPr>
              <a:t> (</a:t>
            </a:r>
            <a:r>
              <a:rPr lang="en-US" sz="2000" b="1">
                <a:solidFill>
                  <a:srgbClr val="1A2E52"/>
                </a:solidFill>
                <a:latin typeface="Colber"/>
              </a:rPr>
              <a:t>Time: </a:t>
            </a:r>
            <a:r>
              <a:rPr lang="pl-PL" sz="2000" b="1">
                <a:solidFill>
                  <a:srgbClr val="1A2E52"/>
                </a:solidFill>
                <a:latin typeface="Colber"/>
              </a:rPr>
              <a:t>25</a:t>
            </a:r>
            <a:r>
              <a:rPr lang="en-US" sz="2000" b="1">
                <a:solidFill>
                  <a:srgbClr val="1A2E52"/>
                </a:solidFill>
                <a:latin typeface="Colber"/>
              </a:rPr>
              <a:t> min</a:t>
            </a:r>
            <a:r>
              <a:rPr lang="pl-PL" sz="2000" b="1">
                <a:solidFill>
                  <a:srgbClr val="1A2E52"/>
                </a:solidFill>
                <a:latin typeface="Colber"/>
              </a:rPr>
              <a:t>): Hammer impact tests</a:t>
            </a:r>
          </a:p>
        </p:txBody>
      </p:sp>
      <p:sp>
        <p:nvSpPr>
          <p:cNvPr id="7" name="pole tekstowe 6">
            <a:extLst>
              <a:ext uri="{FF2B5EF4-FFF2-40B4-BE49-F238E27FC236}">
                <a16:creationId xmlns:a16="http://schemas.microsoft.com/office/drawing/2014/main" id="{148407D5-AEB4-7D6E-E860-A82A739D6EBD}"/>
              </a:ext>
            </a:extLst>
          </p:cNvPr>
          <p:cNvSpPr txBox="1"/>
          <p:nvPr/>
        </p:nvSpPr>
        <p:spPr>
          <a:xfrm>
            <a:off x="715362" y="1429898"/>
            <a:ext cx="10662791" cy="3785652"/>
          </a:xfrm>
          <a:prstGeom prst="rect">
            <a:avLst/>
          </a:prstGeom>
          <a:noFill/>
        </p:spPr>
        <p:txBody>
          <a:bodyPr wrap="square" lIns="91440" tIns="45720" rIns="91440" bIns="45720" anchor="t">
            <a:spAutoFit/>
          </a:bodyPr>
          <a:lstStyle/>
          <a:p>
            <a:br>
              <a:rPr lang="pl-PL" sz="2000">
                <a:solidFill>
                  <a:srgbClr val="1A2E52"/>
                </a:solidFill>
              </a:rPr>
            </a:br>
            <a:endParaRPr lang="pl-PL" sz="2000">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r>
              <a:rPr lang="pl-PL" sz="2000" b="1">
                <a:solidFill>
                  <a:srgbClr val="1A2E52"/>
                </a:solidFill>
              </a:rPr>
              <a:t>Main </a:t>
            </a:r>
            <a:r>
              <a:rPr lang="pl-PL" sz="2000" b="1" err="1">
                <a:solidFill>
                  <a:srgbClr val="1A2E52"/>
                </a:solidFill>
              </a:rPr>
              <a:t>observations</a:t>
            </a:r>
            <a:r>
              <a:rPr lang="pl-PL" sz="2000" b="1">
                <a:solidFill>
                  <a:srgbClr val="1A2E52"/>
                </a:solidFill>
              </a:rPr>
              <a:t>:</a:t>
            </a:r>
            <a:endParaRPr lang="pl-PL"/>
          </a:p>
          <a:p>
            <a:pPr marL="457200" indent="-457200">
              <a:buAutoNum type="arabicPeriod"/>
            </a:pPr>
            <a:r>
              <a:rPr lang="pl-PL" sz="2000">
                <a:ea typeface="Calibri"/>
                <a:cs typeface="Calibri"/>
              </a:rPr>
              <a:t>Very good signal quality and low noise visible</a:t>
            </a:r>
          </a:p>
          <a:p>
            <a:pPr marL="457200" indent="-457200">
              <a:buAutoNum type="arabicPeriod"/>
            </a:pPr>
            <a:r>
              <a:rPr lang="pl-PL" sz="2000">
                <a:ea typeface="Calibri"/>
                <a:cs typeface="Calibri"/>
              </a:rPr>
              <a:t>Some frequency components decay faster than others</a:t>
            </a:r>
          </a:p>
        </p:txBody>
      </p:sp>
      <p:pic>
        <p:nvPicPr>
          <p:cNvPr id="2" name="Picture 1" descr="A graph showing a sound wave&#10;&#10;AI-generated content may be incorrect.">
            <a:extLst>
              <a:ext uri="{FF2B5EF4-FFF2-40B4-BE49-F238E27FC236}">
                <a16:creationId xmlns:a16="http://schemas.microsoft.com/office/drawing/2014/main" id="{E1958788-39F5-B8C5-1989-5C789E82974B}"/>
              </a:ext>
            </a:extLst>
          </p:cNvPr>
          <p:cNvPicPr>
            <a:picLocks noChangeAspect="1"/>
          </p:cNvPicPr>
          <p:nvPr/>
        </p:nvPicPr>
        <p:blipFill>
          <a:blip r:embed="rId7"/>
          <a:stretch>
            <a:fillRect/>
          </a:stretch>
        </p:blipFill>
        <p:spPr>
          <a:xfrm>
            <a:off x="1404484" y="1433513"/>
            <a:ext cx="8751661" cy="2742747"/>
          </a:xfrm>
          <a:prstGeom prst="rect">
            <a:avLst/>
          </a:prstGeom>
        </p:spPr>
      </p:pic>
    </p:spTree>
    <p:extLst>
      <p:ext uri="{BB962C8B-B14F-4D97-AF65-F5344CB8AC3E}">
        <p14:creationId xmlns:p14="http://schemas.microsoft.com/office/powerpoint/2010/main" val="26105512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0C41D-8A62-A05F-217E-B0970D30672B}"/>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336FD649-45F1-FDA9-1C98-3A04C1090FD5}"/>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D2DE8B70-11FE-D5EF-5764-E5C337F321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032075C0-D00E-4680-C337-6663E3B381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9FD15488-2D10-39A7-E37D-9E87251460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704629D6-3FAE-BE51-8E6B-A75D48426D0F}"/>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5E7E13F9-CF80-A6B0-6C02-56560D59B145}"/>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D2C3381E-59A6-A60A-3E16-CFDC9194F8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8044258F-89C8-8E43-EDE1-68F5109AB205}"/>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36548F8E-12F5-B591-6230-0323EEC01A2A}"/>
              </a:ext>
            </a:extLst>
          </p:cNvPr>
          <p:cNvSpPr txBox="1"/>
          <p:nvPr/>
        </p:nvSpPr>
        <p:spPr>
          <a:xfrm>
            <a:off x="577392" y="932410"/>
            <a:ext cx="10158428" cy="400110"/>
          </a:xfrm>
          <a:prstGeom prst="rect">
            <a:avLst/>
          </a:prstGeom>
          <a:noFill/>
        </p:spPr>
        <p:txBody>
          <a:bodyPr wrap="square" lIns="91440" tIns="45720" rIns="91440" bIns="45720" anchor="t">
            <a:spAutoFit/>
          </a:bodyPr>
          <a:lstStyle/>
          <a:p>
            <a:r>
              <a:rPr lang="pl-PL" sz="2000" b="1">
                <a:solidFill>
                  <a:srgbClr val="1A2E52"/>
                </a:solidFill>
                <a:latin typeface="Colber"/>
              </a:rPr>
              <a:t>First Analysis of Results (</a:t>
            </a:r>
            <a:r>
              <a:rPr lang="en-US" sz="2000" b="1">
                <a:solidFill>
                  <a:srgbClr val="1A2E52"/>
                </a:solidFill>
                <a:latin typeface="Colber"/>
              </a:rPr>
              <a:t>Time: </a:t>
            </a:r>
            <a:r>
              <a:rPr lang="pl-PL" sz="2000" b="1">
                <a:solidFill>
                  <a:srgbClr val="1A2E52"/>
                </a:solidFill>
                <a:latin typeface="Colber"/>
              </a:rPr>
              <a:t>25</a:t>
            </a:r>
            <a:r>
              <a:rPr lang="en-US" sz="2000" b="1">
                <a:solidFill>
                  <a:srgbClr val="1A2E52"/>
                </a:solidFill>
                <a:latin typeface="Colber"/>
              </a:rPr>
              <a:t> min</a:t>
            </a:r>
            <a:r>
              <a:rPr lang="pl-PL" sz="2000" b="1">
                <a:solidFill>
                  <a:srgbClr val="1A2E52"/>
                </a:solidFill>
                <a:latin typeface="Colber"/>
              </a:rPr>
              <a:t>)</a:t>
            </a:r>
            <a:r>
              <a:rPr lang="pl-PL" sz="2000" b="1">
                <a:solidFill>
                  <a:srgbClr val="1A2E52"/>
                </a:solidFill>
                <a:ea typeface="+mn-lt"/>
                <a:cs typeface="+mn-lt"/>
              </a:rPr>
              <a:t>: Hammer impact tests</a:t>
            </a:r>
            <a:endParaRPr lang="en-US">
              <a:ea typeface="+mn-lt"/>
              <a:cs typeface="+mn-lt"/>
            </a:endParaRPr>
          </a:p>
        </p:txBody>
      </p:sp>
      <p:sp>
        <p:nvSpPr>
          <p:cNvPr id="7" name="pole tekstowe 6">
            <a:extLst>
              <a:ext uri="{FF2B5EF4-FFF2-40B4-BE49-F238E27FC236}">
                <a16:creationId xmlns:a16="http://schemas.microsoft.com/office/drawing/2014/main" id="{1F88D6BF-ACAB-7A9C-260A-462EEA2F158C}"/>
              </a:ext>
            </a:extLst>
          </p:cNvPr>
          <p:cNvSpPr txBox="1"/>
          <p:nvPr/>
        </p:nvSpPr>
        <p:spPr>
          <a:xfrm>
            <a:off x="715362" y="1429898"/>
            <a:ext cx="10662791" cy="4708981"/>
          </a:xfrm>
          <a:prstGeom prst="rect">
            <a:avLst/>
          </a:prstGeom>
          <a:noFill/>
        </p:spPr>
        <p:txBody>
          <a:bodyPr wrap="square" lIns="91440" tIns="45720" rIns="91440" bIns="45720" anchor="t">
            <a:spAutoFit/>
          </a:bodyPr>
          <a:lstStyle/>
          <a:p>
            <a:endParaRPr lang="pl-PL" sz="2000" b="1">
              <a:solidFill>
                <a:srgbClr val="1A2E52"/>
              </a:solidFill>
              <a:ea typeface="Calibri"/>
              <a:cs typeface="Calibri"/>
            </a:endParaRPr>
          </a:p>
          <a:p>
            <a:endParaRPr lang="pl-PL" sz="2000">
              <a:solidFill>
                <a:srgbClr val="C00000"/>
              </a:solidFill>
            </a:endParaRPr>
          </a:p>
          <a:p>
            <a:br>
              <a:rPr lang="pl-PL" sz="2000">
                <a:solidFill>
                  <a:srgbClr val="1A2E52"/>
                </a:solidFill>
              </a:rPr>
            </a:br>
            <a:endParaRPr lang="pl-PL" sz="2000">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a typeface="Calibri" panose="020F0502020204030204"/>
              <a:cs typeface="Calibri" panose="020F0502020204030204"/>
            </a:endParaRPr>
          </a:p>
          <a:p>
            <a:endParaRPr lang="pl-PL" sz="2000" b="1">
              <a:solidFill>
                <a:srgbClr val="1A2E52"/>
              </a:solidFill>
            </a:endParaRPr>
          </a:p>
          <a:p>
            <a:r>
              <a:rPr lang="pl-PL" sz="2000" b="1">
                <a:solidFill>
                  <a:srgbClr val="1A2E52"/>
                </a:solidFill>
              </a:rPr>
              <a:t>Main observations:</a:t>
            </a:r>
            <a:endParaRPr lang="pl-PL" sz="2000" b="1">
              <a:solidFill>
                <a:srgbClr val="1A2E52"/>
              </a:solidFill>
              <a:ea typeface="Calibri"/>
              <a:cs typeface="Calibri"/>
            </a:endParaRPr>
          </a:p>
          <a:p>
            <a:pPr marL="457200" indent="-457200">
              <a:buAutoNum type="arabicPeriod"/>
            </a:pPr>
            <a:r>
              <a:rPr lang="pl-PL" sz="2000">
                <a:ea typeface="Calibri"/>
                <a:cs typeface="Calibri"/>
              </a:rPr>
              <a:t>For each bed position the dominant frequenct appears to lie in the same band. </a:t>
            </a:r>
          </a:p>
          <a:p>
            <a:pPr marL="457200" indent="-457200">
              <a:buAutoNum type="arabicPeriod"/>
            </a:pPr>
            <a:r>
              <a:rPr lang="pl-PL" sz="2000">
                <a:ea typeface="Calibri"/>
                <a:cs typeface="Calibri"/>
              </a:rPr>
              <a:t>Because we used non-calibrated excitation method we cannot directly compare the amplitudes from this FFT plot</a:t>
            </a:r>
          </a:p>
        </p:txBody>
      </p:sp>
      <p:pic>
        <p:nvPicPr>
          <p:cNvPr id="2" name="Picture 1" descr="A graph of different colored lines&#10;&#10;AI-generated content may be incorrect.">
            <a:extLst>
              <a:ext uri="{FF2B5EF4-FFF2-40B4-BE49-F238E27FC236}">
                <a16:creationId xmlns:a16="http://schemas.microsoft.com/office/drawing/2014/main" id="{C0361CF2-214B-F9FF-9353-44C80A4194BE}"/>
              </a:ext>
            </a:extLst>
          </p:cNvPr>
          <p:cNvPicPr>
            <a:picLocks noChangeAspect="1"/>
          </p:cNvPicPr>
          <p:nvPr/>
        </p:nvPicPr>
        <p:blipFill>
          <a:blip r:embed="rId7"/>
          <a:stretch>
            <a:fillRect/>
          </a:stretch>
        </p:blipFill>
        <p:spPr>
          <a:xfrm>
            <a:off x="718457" y="1342155"/>
            <a:ext cx="10755086" cy="3484262"/>
          </a:xfrm>
          <a:prstGeom prst="rect">
            <a:avLst/>
          </a:prstGeom>
        </p:spPr>
      </p:pic>
    </p:spTree>
    <p:extLst>
      <p:ext uri="{BB962C8B-B14F-4D97-AF65-F5344CB8AC3E}">
        <p14:creationId xmlns:p14="http://schemas.microsoft.com/office/powerpoint/2010/main" val="3887267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0C41D-8A62-A05F-217E-B0970D30672B}"/>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336FD649-45F1-FDA9-1C98-3A04C1090FD5}"/>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D2DE8B70-11FE-D5EF-5764-E5C337F321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032075C0-D00E-4680-C337-6663E3B381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9FD15488-2D10-39A7-E37D-9E87251460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704629D6-3FAE-BE51-8E6B-A75D48426D0F}"/>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5E7E13F9-CF80-A6B0-6C02-56560D59B145}"/>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D2C3381E-59A6-A60A-3E16-CFDC9194F85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8044258F-89C8-8E43-EDE1-68F5109AB205}"/>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7" name="pole tekstowe 6">
            <a:extLst>
              <a:ext uri="{FF2B5EF4-FFF2-40B4-BE49-F238E27FC236}">
                <a16:creationId xmlns:a16="http://schemas.microsoft.com/office/drawing/2014/main" id="{1F88D6BF-ACAB-7A9C-260A-462EEA2F158C}"/>
              </a:ext>
            </a:extLst>
          </p:cNvPr>
          <p:cNvSpPr txBox="1"/>
          <p:nvPr/>
        </p:nvSpPr>
        <p:spPr>
          <a:xfrm>
            <a:off x="715362" y="1429898"/>
            <a:ext cx="10662791" cy="4401205"/>
          </a:xfrm>
          <a:prstGeom prst="rect">
            <a:avLst/>
          </a:prstGeom>
          <a:noFill/>
        </p:spPr>
        <p:txBody>
          <a:bodyPr wrap="square" lIns="91440" tIns="45720" rIns="91440" bIns="45720" anchor="t">
            <a:spAutoFit/>
          </a:bodyPr>
          <a:lstStyle/>
          <a:p>
            <a:endParaRPr lang="pl-PL" sz="2000" b="1">
              <a:solidFill>
                <a:srgbClr val="1A2E52"/>
              </a:solidFill>
              <a:ea typeface="Calibri"/>
              <a:cs typeface="Calibri"/>
            </a:endParaRPr>
          </a:p>
          <a:p>
            <a:br>
              <a:rPr lang="pl-PL" sz="2000">
                <a:solidFill>
                  <a:srgbClr val="1A2E52"/>
                </a:solidFill>
              </a:rPr>
            </a:br>
            <a:endParaRPr lang="pl-PL" sz="2000">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r>
              <a:rPr lang="pl-PL" sz="2000" b="1">
                <a:solidFill>
                  <a:srgbClr val="1A2E52"/>
                </a:solidFill>
              </a:rPr>
              <a:t>Main observations:</a:t>
            </a:r>
            <a:endParaRPr lang="pl-PL">
              <a:ea typeface="Calibri"/>
              <a:cs typeface="Calibri"/>
            </a:endParaRPr>
          </a:p>
          <a:p>
            <a:pPr marL="457200" indent="-457200">
              <a:buAutoNum type="arabicPeriod"/>
            </a:pPr>
            <a:r>
              <a:rPr lang="pl-PL" sz="2000">
                <a:ea typeface="Calibri" panose="020F0502020204030204"/>
                <a:cs typeface="Calibri" panose="020F0502020204030204"/>
              </a:rPr>
              <a:t>After normalization its clearly visible, that the bed position affects the frequency of the dominant mode (it varies from ~350Hz for the fornt position to ~375Hz for the back positon</a:t>
            </a:r>
          </a:p>
          <a:p>
            <a:endParaRPr lang="pl-PL" sz="2000">
              <a:ea typeface="Calibri" panose="020F0502020204030204"/>
              <a:cs typeface="Calibri" panose="020F0502020204030204"/>
            </a:endParaRPr>
          </a:p>
        </p:txBody>
      </p:sp>
      <p:pic>
        <p:nvPicPr>
          <p:cNvPr id="2" name="Picture 1">
            <a:extLst>
              <a:ext uri="{FF2B5EF4-FFF2-40B4-BE49-F238E27FC236}">
                <a16:creationId xmlns:a16="http://schemas.microsoft.com/office/drawing/2014/main" id="{647C988E-DF51-18CD-1889-6F5579918CC6}"/>
              </a:ext>
            </a:extLst>
          </p:cNvPr>
          <p:cNvPicPr>
            <a:picLocks noChangeAspect="1"/>
          </p:cNvPicPr>
          <p:nvPr/>
        </p:nvPicPr>
        <p:blipFill>
          <a:blip r:embed="rId7"/>
          <a:stretch>
            <a:fillRect/>
          </a:stretch>
        </p:blipFill>
        <p:spPr>
          <a:xfrm>
            <a:off x="531962" y="1324596"/>
            <a:ext cx="11128075" cy="3216771"/>
          </a:xfrm>
          <a:prstGeom prst="rect">
            <a:avLst/>
          </a:prstGeom>
        </p:spPr>
      </p:pic>
      <p:sp>
        <p:nvSpPr>
          <p:cNvPr id="8" name="pole tekstowe 2">
            <a:extLst>
              <a:ext uri="{FF2B5EF4-FFF2-40B4-BE49-F238E27FC236}">
                <a16:creationId xmlns:a16="http://schemas.microsoft.com/office/drawing/2014/main" id="{BDF90C0C-3B9B-7BEC-57F9-3E0FD1321787}"/>
              </a:ext>
            </a:extLst>
          </p:cNvPr>
          <p:cNvSpPr txBox="1"/>
          <p:nvPr/>
        </p:nvSpPr>
        <p:spPr>
          <a:xfrm>
            <a:off x="577392" y="932410"/>
            <a:ext cx="10158428" cy="400110"/>
          </a:xfrm>
          <a:prstGeom prst="rect">
            <a:avLst/>
          </a:prstGeom>
          <a:noFill/>
        </p:spPr>
        <p:txBody>
          <a:bodyPr wrap="square" lIns="91440" tIns="45720" rIns="91440" bIns="45720" anchor="t">
            <a:spAutoFit/>
          </a:bodyPr>
          <a:lstStyle/>
          <a:p>
            <a:r>
              <a:rPr lang="pl-PL" sz="2000" b="1">
                <a:solidFill>
                  <a:srgbClr val="1A2E52"/>
                </a:solidFill>
                <a:latin typeface="Colber"/>
              </a:rPr>
              <a:t>First Analysis of Results (</a:t>
            </a:r>
            <a:r>
              <a:rPr lang="en-US" sz="2000" b="1">
                <a:solidFill>
                  <a:srgbClr val="1A2E52"/>
                </a:solidFill>
                <a:latin typeface="Colber"/>
              </a:rPr>
              <a:t>Time: </a:t>
            </a:r>
            <a:r>
              <a:rPr lang="pl-PL" sz="2000" b="1">
                <a:solidFill>
                  <a:srgbClr val="1A2E52"/>
                </a:solidFill>
                <a:latin typeface="Colber"/>
              </a:rPr>
              <a:t>25</a:t>
            </a:r>
            <a:r>
              <a:rPr lang="en-US" sz="2000" b="1">
                <a:solidFill>
                  <a:srgbClr val="1A2E52"/>
                </a:solidFill>
                <a:latin typeface="Colber"/>
              </a:rPr>
              <a:t> min</a:t>
            </a:r>
            <a:r>
              <a:rPr lang="pl-PL" sz="2000" b="1">
                <a:solidFill>
                  <a:srgbClr val="1A2E52"/>
                </a:solidFill>
                <a:latin typeface="Colber"/>
              </a:rPr>
              <a:t>)</a:t>
            </a:r>
            <a:r>
              <a:rPr lang="pl-PL" sz="2000" b="1">
                <a:solidFill>
                  <a:srgbClr val="1A2E52"/>
                </a:solidFill>
                <a:ea typeface="+mn-lt"/>
                <a:cs typeface="+mn-lt"/>
              </a:rPr>
              <a:t>: Hammer impact tests</a:t>
            </a:r>
            <a:endParaRPr lang="en-US">
              <a:ea typeface="+mn-lt"/>
              <a:cs typeface="+mn-lt"/>
            </a:endParaRPr>
          </a:p>
        </p:txBody>
      </p:sp>
    </p:spTree>
    <p:extLst>
      <p:ext uri="{BB962C8B-B14F-4D97-AF65-F5344CB8AC3E}">
        <p14:creationId xmlns:p14="http://schemas.microsoft.com/office/powerpoint/2010/main" val="3977314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C26A-59C6-03A7-962D-FA9BBC0D16C0}"/>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8E22EDFA-19B8-8E20-3981-AA19BA21C244}"/>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A4CAE0C8-5DFB-D103-3C53-ECCE30117E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68198E81-E8F7-63C7-E7F4-17C8DCCC9B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66FD2ED1-77E4-6943-5393-221F24B49C6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E9C21FB8-42D2-9E2F-AAAC-17D2C68B76AA}"/>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AF1ABBFD-4191-4901-A4CC-43377771C339}"/>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5B68A919-0987-8D56-F410-30A70DDEBDD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37C35946-E758-9CF4-6579-76AB481311B4}"/>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7" name="pole tekstowe 6">
            <a:extLst>
              <a:ext uri="{FF2B5EF4-FFF2-40B4-BE49-F238E27FC236}">
                <a16:creationId xmlns:a16="http://schemas.microsoft.com/office/drawing/2014/main" id="{9F73BA32-BD0C-7EDD-CA12-E5C02282BBB9}"/>
              </a:ext>
            </a:extLst>
          </p:cNvPr>
          <p:cNvSpPr txBox="1"/>
          <p:nvPr/>
        </p:nvSpPr>
        <p:spPr>
          <a:xfrm>
            <a:off x="715362" y="1429898"/>
            <a:ext cx="10662791" cy="4324261"/>
          </a:xfrm>
          <a:prstGeom prst="rect">
            <a:avLst/>
          </a:prstGeom>
          <a:noFill/>
        </p:spPr>
        <p:txBody>
          <a:bodyPr wrap="square" lIns="91440" tIns="45720" rIns="91440" bIns="45720" anchor="t">
            <a:spAutoFit/>
          </a:bodyPr>
          <a:lstStyle/>
          <a:p>
            <a:r>
              <a:rPr lang="pl-PL" sz="1500">
                <a:solidFill>
                  <a:srgbClr val="1A2E52"/>
                </a:solidFill>
              </a:rPr>
              <a:t>Combined experiment results taken from the reports generated by our software</a:t>
            </a:r>
            <a:endParaRPr lang="en-US"/>
          </a:p>
          <a:p>
            <a:br>
              <a:rPr lang="pl-PL" sz="2000">
                <a:solidFill>
                  <a:srgbClr val="1A2E52"/>
                </a:solidFill>
              </a:rPr>
            </a:br>
            <a:endParaRPr lang="pl-PL" sz="2000">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a typeface="Calibri" panose="020F0502020204030204"/>
              <a:cs typeface="Calibri" panose="020F0502020204030204"/>
            </a:endParaRPr>
          </a:p>
          <a:p>
            <a:endParaRPr lang="pl-PL" sz="2000" b="1">
              <a:solidFill>
                <a:srgbClr val="1A2E52"/>
              </a:solidFill>
            </a:endParaRPr>
          </a:p>
          <a:p>
            <a:r>
              <a:rPr lang="pl-PL" sz="2000" b="1" err="1">
                <a:solidFill>
                  <a:srgbClr val="1A2E52"/>
                </a:solidFill>
              </a:rPr>
              <a:t>Main</a:t>
            </a:r>
            <a:r>
              <a:rPr lang="pl-PL" sz="2000" b="1">
                <a:solidFill>
                  <a:srgbClr val="1A2E52"/>
                </a:solidFill>
              </a:rPr>
              <a:t> </a:t>
            </a:r>
            <a:r>
              <a:rPr lang="pl-PL" sz="2000" b="1" err="1">
                <a:solidFill>
                  <a:srgbClr val="1A2E52"/>
                </a:solidFill>
              </a:rPr>
              <a:t>observations</a:t>
            </a:r>
            <a:r>
              <a:rPr lang="pl-PL" sz="2000" b="1">
                <a:solidFill>
                  <a:srgbClr val="1A2E52"/>
                </a:solidFill>
              </a:rPr>
              <a:t>:</a:t>
            </a:r>
          </a:p>
          <a:p>
            <a:pPr marL="457200" indent="-457200">
              <a:buAutoNum type="arabicPeriod"/>
            </a:pPr>
            <a:r>
              <a:rPr lang="pl-PL" sz="2000">
                <a:ea typeface="Calibri" panose="020F0502020204030204"/>
                <a:cs typeface="Calibri" panose="020F0502020204030204"/>
              </a:rPr>
              <a:t>Regression quality is very good for most dominant modes at each bed position, indicating that the estimated daming rates are usable for further analysis</a:t>
            </a:r>
          </a:p>
          <a:p>
            <a:endParaRPr lang="pl-PL" sz="2000">
              <a:ea typeface="Calibri" panose="020F0502020204030204"/>
              <a:cs typeface="Calibri" panose="020F0502020204030204"/>
            </a:endParaRPr>
          </a:p>
        </p:txBody>
      </p:sp>
      <p:sp>
        <p:nvSpPr>
          <p:cNvPr id="13" name="pole tekstowe 2">
            <a:extLst>
              <a:ext uri="{FF2B5EF4-FFF2-40B4-BE49-F238E27FC236}">
                <a16:creationId xmlns:a16="http://schemas.microsoft.com/office/drawing/2014/main" id="{F03AA347-2AB9-83A0-9B2A-1BAA3B91DF91}"/>
              </a:ext>
            </a:extLst>
          </p:cNvPr>
          <p:cNvSpPr txBox="1"/>
          <p:nvPr/>
        </p:nvSpPr>
        <p:spPr>
          <a:xfrm>
            <a:off x="577392" y="932410"/>
            <a:ext cx="10158428" cy="400110"/>
          </a:xfrm>
          <a:prstGeom prst="rect">
            <a:avLst/>
          </a:prstGeom>
          <a:noFill/>
        </p:spPr>
        <p:txBody>
          <a:bodyPr wrap="square" lIns="91440" tIns="45720" rIns="91440" bIns="45720" anchor="t">
            <a:spAutoFit/>
          </a:bodyPr>
          <a:lstStyle/>
          <a:p>
            <a:r>
              <a:rPr lang="pl-PL" sz="2000" b="1">
                <a:solidFill>
                  <a:srgbClr val="1A2E52"/>
                </a:solidFill>
                <a:latin typeface="Colber"/>
              </a:rPr>
              <a:t>First Analysis of Results (</a:t>
            </a:r>
            <a:r>
              <a:rPr lang="en-US" sz="2000" b="1">
                <a:solidFill>
                  <a:srgbClr val="1A2E52"/>
                </a:solidFill>
                <a:latin typeface="Colber"/>
              </a:rPr>
              <a:t>Time: </a:t>
            </a:r>
            <a:r>
              <a:rPr lang="pl-PL" sz="2000" b="1">
                <a:solidFill>
                  <a:srgbClr val="1A2E52"/>
                </a:solidFill>
                <a:latin typeface="Colber"/>
              </a:rPr>
              <a:t>25</a:t>
            </a:r>
            <a:r>
              <a:rPr lang="en-US" sz="2000" b="1">
                <a:solidFill>
                  <a:srgbClr val="1A2E52"/>
                </a:solidFill>
                <a:latin typeface="Colber"/>
              </a:rPr>
              <a:t> min</a:t>
            </a:r>
            <a:r>
              <a:rPr lang="pl-PL" sz="2000" b="1">
                <a:solidFill>
                  <a:srgbClr val="1A2E52"/>
                </a:solidFill>
                <a:latin typeface="Colber"/>
              </a:rPr>
              <a:t>)</a:t>
            </a:r>
            <a:r>
              <a:rPr lang="pl-PL" sz="2000" b="1">
                <a:solidFill>
                  <a:srgbClr val="1A2E52"/>
                </a:solidFill>
                <a:ea typeface="+mn-lt"/>
                <a:cs typeface="+mn-lt"/>
              </a:rPr>
              <a:t>: Hammer impact tests</a:t>
            </a:r>
            <a:endParaRPr lang="en-US">
              <a:ea typeface="+mn-lt"/>
              <a:cs typeface="+mn-lt"/>
            </a:endParaRPr>
          </a:p>
        </p:txBody>
      </p:sp>
      <p:pic>
        <p:nvPicPr>
          <p:cNvPr id="2" name="Picture 1" descr="A table of numbers and symbols&#10;&#10;AI-generated content may be incorrect.">
            <a:extLst>
              <a:ext uri="{FF2B5EF4-FFF2-40B4-BE49-F238E27FC236}">
                <a16:creationId xmlns:a16="http://schemas.microsoft.com/office/drawing/2014/main" id="{B22757F1-CF66-4D96-F77A-12497E8D930D}"/>
              </a:ext>
            </a:extLst>
          </p:cNvPr>
          <p:cNvPicPr>
            <a:picLocks noChangeAspect="1"/>
          </p:cNvPicPr>
          <p:nvPr/>
        </p:nvPicPr>
        <p:blipFill>
          <a:blip r:embed="rId7"/>
          <a:stretch>
            <a:fillRect/>
          </a:stretch>
        </p:blipFill>
        <p:spPr>
          <a:xfrm>
            <a:off x="805542" y="1870809"/>
            <a:ext cx="10160001" cy="2397924"/>
          </a:xfrm>
          <a:prstGeom prst="rect">
            <a:avLst/>
          </a:prstGeom>
        </p:spPr>
      </p:pic>
    </p:spTree>
    <p:extLst>
      <p:ext uri="{BB962C8B-B14F-4D97-AF65-F5344CB8AC3E}">
        <p14:creationId xmlns:p14="http://schemas.microsoft.com/office/powerpoint/2010/main" val="1322581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1A81A-E8C6-B3EE-55F2-C059037EE121}"/>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7A3668A4-BBF5-2C58-0005-C4A3111CADF9}"/>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2C7C1742-86CE-8346-9732-2F375E3F00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1FDD38EA-1615-9DD8-BFC7-99156ED66C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812B6AE1-F9FB-3E7D-8C69-8800EB7BA6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B1B066B6-8AD1-F26A-32C7-FB89A9018C72}"/>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E099E021-3B74-A054-D48E-F83C065D1D37}"/>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59FED929-E070-3801-7262-ABF9C5AF6FC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02BA3B4D-FB74-7769-4F16-490BA8B60323}"/>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7" name="pole tekstowe 6">
            <a:extLst>
              <a:ext uri="{FF2B5EF4-FFF2-40B4-BE49-F238E27FC236}">
                <a16:creationId xmlns:a16="http://schemas.microsoft.com/office/drawing/2014/main" id="{F00EFCCC-622B-E960-C477-3E59C7FDF72D}"/>
              </a:ext>
            </a:extLst>
          </p:cNvPr>
          <p:cNvSpPr txBox="1"/>
          <p:nvPr/>
        </p:nvSpPr>
        <p:spPr>
          <a:xfrm>
            <a:off x="715362" y="1429898"/>
            <a:ext cx="10662791" cy="3939540"/>
          </a:xfrm>
          <a:prstGeom prst="rect">
            <a:avLst/>
          </a:prstGeom>
          <a:noFill/>
        </p:spPr>
        <p:txBody>
          <a:bodyPr wrap="square" lIns="91440" tIns="45720" rIns="91440" bIns="45720" anchor="t">
            <a:spAutoFit/>
          </a:bodyPr>
          <a:lstStyle/>
          <a:p>
            <a:r>
              <a:rPr lang="pl-PL" sz="1500">
                <a:solidFill>
                  <a:srgbClr val="1A2E52"/>
                </a:solidFill>
              </a:rPr>
              <a:t>After averaging the damping ratios of the dominant frequency accross each measurement per test configuration and computing the A type uncertainty and the expanded uncertainty we got the following results:</a:t>
            </a:r>
            <a:endParaRPr lang="en-US" sz="1500"/>
          </a:p>
          <a:p>
            <a:br>
              <a:rPr lang="pl-PL" sz="2000">
                <a:solidFill>
                  <a:srgbClr val="1A2E52"/>
                </a:solidFill>
              </a:rPr>
            </a:br>
            <a:endParaRPr lang="pl-PL" sz="2000">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r>
              <a:rPr lang="pl-PL" sz="2000" b="1" err="1">
                <a:solidFill>
                  <a:srgbClr val="1A2E52"/>
                </a:solidFill>
              </a:rPr>
              <a:t>Main</a:t>
            </a:r>
            <a:r>
              <a:rPr lang="pl-PL" sz="2000" b="1">
                <a:solidFill>
                  <a:srgbClr val="1A2E52"/>
                </a:solidFill>
              </a:rPr>
              <a:t> </a:t>
            </a:r>
            <a:r>
              <a:rPr lang="pl-PL" sz="2000" b="1" err="1">
                <a:solidFill>
                  <a:srgbClr val="1A2E52"/>
                </a:solidFill>
              </a:rPr>
              <a:t>observations</a:t>
            </a:r>
            <a:r>
              <a:rPr lang="pl-PL" sz="2000" b="1">
                <a:solidFill>
                  <a:srgbClr val="1A2E52"/>
                </a:solidFill>
              </a:rPr>
              <a:t>:</a:t>
            </a:r>
          </a:p>
          <a:p>
            <a:pPr marL="457200" indent="-457200">
              <a:buAutoNum type="arabicPeriod"/>
            </a:pPr>
            <a:r>
              <a:rPr lang="pl-PL" sz="2000">
                <a:ea typeface="Calibri" panose="020F0502020204030204"/>
                <a:cs typeface="Calibri" panose="020F0502020204030204"/>
              </a:rPr>
              <a:t>The dominant mode has the lowest frequency for the center position, and highest for the back position</a:t>
            </a:r>
          </a:p>
          <a:p>
            <a:pPr marL="457200" indent="-457200">
              <a:buAutoNum type="arabicPeriod"/>
            </a:pPr>
            <a:r>
              <a:rPr lang="pl-PL" sz="2000">
                <a:ea typeface="Calibri" panose="020F0502020204030204"/>
                <a:cs typeface="Calibri" panose="020F0502020204030204"/>
              </a:rPr>
              <a:t>The damping ratio is considerably smaller for this dominant mode with bed in the back position in comparison to the rest</a:t>
            </a:r>
          </a:p>
        </p:txBody>
      </p:sp>
      <p:pic>
        <p:nvPicPr>
          <p:cNvPr id="5" name="Picture 4" descr="A screenshot of a graph&#10;&#10;AI-generated content may be incorrect.">
            <a:extLst>
              <a:ext uri="{FF2B5EF4-FFF2-40B4-BE49-F238E27FC236}">
                <a16:creationId xmlns:a16="http://schemas.microsoft.com/office/drawing/2014/main" id="{ACE486E6-745A-64BF-18C9-7BEF06262BC8}"/>
              </a:ext>
            </a:extLst>
          </p:cNvPr>
          <p:cNvPicPr>
            <a:picLocks noChangeAspect="1"/>
          </p:cNvPicPr>
          <p:nvPr/>
        </p:nvPicPr>
        <p:blipFill>
          <a:blip r:embed="rId7"/>
          <a:srcRect l="-522" t="147" r="13222" b="-3785"/>
          <a:stretch>
            <a:fillRect/>
          </a:stretch>
        </p:blipFill>
        <p:spPr>
          <a:xfrm>
            <a:off x="2352124" y="2203531"/>
            <a:ext cx="6469278" cy="1174704"/>
          </a:xfrm>
          <a:prstGeom prst="rect">
            <a:avLst/>
          </a:prstGeom>
        </p:spPr>
      </p:pic>
      <p:sp>
        <p:nvSpPr>
          <p:cNvPr id="13" name="pole tekstowe 2">
            <a:extLst>
              <a:ext uri="{FF2B5EF4-FFF2-40B4-BE49-F238E27FC236}">
                <a16:creationId xmlns:a16="http://schemas.microsoft.com/office/drawing/2014/main" id="{66818ED0-B791-1A05-264E-B5116D66416A}"/>
              </a:ext>
            </a:extLst>
          </p:cNvPr>
          <p:cNvSpPr txBox="1"/>
          <p:nvPr/>
        </p:nvSpPr>
        <p:spPr>
          <a:xfrm>
            <a:off x="577392" y="932410"/>
            <a:ext cx="10158428" cy="400110"/>
          </a:xfrm>
          <a:prstGeom prst="rect">
            <a:avLst/>
          </a:prstGeom>
          <a:noFill/>
        </p:spPr>
        <p:txBody>
          <a:bodyPr wrap="square" lIns="91440" tIns="45720" rIns="91440" bIns="45720" anchor="t">
            <a:spAutoFit/>
          </a:bodyPr>
          <a:lstStyle/>
          <a:p>
            <a:r>
              <a:rPr lang="pl-PL" sz="2000" b="1">
                <a:solidFill>
                  <a:srgbClr val="1A2E52"/>
                </a:solidFill>
                <a:latin typeface="Colber"/>
              </a:rPr>
              <a:t>First Analysis of Results (</a:t>
            </a:r>
            <a:r>
              <a:rPr lang="en-US" sz="2000" b="1">
                <a:solidFill>
                  <a:srgbClr val="1A2E52"/>
                </a:solidFill>
                <a:latin typeface="Colber"/>
              </a:rPr>
              <a:t>Time: </a:t>
            </a:r>
            <a:r>
              <a:rPr lang="pl-PL" sz="2000" b="1">
                <a:solidFill>
                  <a:srgbClr val="1A2E52"/>
                </a:solidFill>
                <a:latin typeface="Colber"/>
              </a:rPr>
              <a:t>25</a:t>
            </a:r>
            <a:r>
              <a:rPr lang="en-US" sz="2000" b="1">
                <a:solidFill>
                  <a:srgbClr val="1A2E52"/>
                </a:solidFill>
                <a:latin typeface="Colber"/>
              </a:rPr>
              <a:t> min</a:t>
            </a:r>
            <a:r>
              <a:rPr lang="pl-PL" sz="2000" b="1">
                <a:solidFill>
                  <a:srgbClr val="1A2E52"/>
                </a:solidFill>
                <a:latin typeface="Colber"/>
              </a:rPr>
              <a:t>)</a:t>
            </a:r>
            <a:r>
              <a:rPr lang="pl-PL" sz="2000" b="1">
                <a:solidFill>
                  <a:srgbClr val="1A2E52"/>
                </a:solidFill>
                <a:ea typeface="+mn-lt"/>
                <a:cs typeface="+mn-lt"/>
              </a:rPr>
              <a:t>: Hammer impact tests</a:t>
            </a:r>
            <a:endParaRPr lang="en-US">
              <a:ea typeface="+mn-lt"/>
              <a:cs typeface="+mn-lt"/>
            </a:endParaRPr>
          </a:p>
        </p:txBody>
      </p:sp>
    </p:spTree>
    <p:extLst>
      <p:ext uri="{BB962C8B-B14F-4D97-AF65-F5344CB8AC3E}">
        <p14:creationId xmlns:p14="http://schemas.microsoft.com/office/powerpoint/2010/main" val="1256236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CF18D-7F82-3E06-515B-70C06B3FBA9B}"/>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A73DB881-62BD-2D0A-1F4E-480CD22A138D}"/>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362E4132-B673-B085-96C4-3CD8E6AFCB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3E20DB02-C049-68F0-B55A-E3A761677E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712A20B1-8310-BCDF-014C-3A29567A9BC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65348BFF-2FB9-FA82-DE4B-B0AA605FF40E}"/>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07DAF521-B40C-C0C8-637A-7C9857C9116A}"/>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3BD4438A-6C92-BB75-4691-DACD78F3EB2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CA1D339A-85EF-4F4A-5BD5-1F9647515CF5}"/>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7" name="pole tekstowe 6">
            <a:extLst>
              <a:ext uri="{FF2B5EF4-FFF2-40B4-BE49-F238E27FC236}">
                <a16:creationId xmlns:a16="http://schemas.microsoft.com/office/drawing/2014/main" id="{D2D0BC09-1D36-FBBE-6ED3-FD6A009538E4}"/>
              </a:ext>
            </a:extLst>
          </p:cNvPr>
          <p:cNvSpPr txBox="1"/>
          <p:nvPr/>
        </p:nvSpPr>
        <p:spPr>
          <a:xfrm>
            <a:off x="715362" y="1429898"/>
            <a:ext cx="10662791" cy="3708708"/>
          </a:xfrm>
          <a:prstGeom prst="rect">
            <a:avLst/>
          </a:prstGeom>
          <a:noFill/>
        </p:spPr>
        <p:txBody>
          <a:bodyPr wrap="square" lIns="91440" tIns="45720" rIns="91440" bIns="45720" anchor="t">
            <a:spAutoFit/>
          </a:bodyPr>
          <a:lstStyle/>
          <a:p>
            <a:endParaRPr lang="pl-PL" sz="1500">
              <a:solidFill>
                <a:srgbClr val="1A2E52"/>
              </a:solidFill>
              <a:ea typeface="Calibri"/>
              <a:cs typeface="Calibri"/>
            </a:endParaRPr>
          </a:p>
          <a:p>
            <a:br>
              <a:rPr lang="pl-PL" sz="2000">
                <a:solidFill>
                  <a:srgbClr val="1A2E52"/>
                </a:solidFill>
              </a:rPr>
            </a:br>
            <a:endParaRPr lang="pl-PL" sz="2000">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endParaRPr lang="pl-PL" sz="2000" b="1">
              <a:solidFill>
                <a:srgbClr val="1A2E52"/>
              </a:solidFill>
            </a:endParaRPr>
          </a:p>
          <a:p>
            <a:r>
              <a:rPr lang="pl-PL" sz="2000" b="1" err="1">
                <a:solidFill>
                  <a:srgbClr val="1A2E52"/>
                </a:solidFill>
              </a:rPr>
              <a:t>Main</a:t>
            </a:r>
            <a:r>
              <a:rPr lang="pl-PL" sz="2000" b="1">
                <a:solidFill>
                  <a:srgbClr val="1A2E52"/>
                </a:solidFill>
              </a:rPr>
              <a:t> </a:t>
            </a:r>
            <a:r>
              <a:rPr lang="pl-PL" sz="2000" b="1" err="1">
                <a:solidFill>
                  <a:srgbClr val="1A2E52"/>
                </a:solidFill>
              </a:rPr>
              <a:t>observations</a:t>
            </a:r>
            <a:r>
              <a:rPr lang="pl-PL" sz="2000" b="1">
                <a:solidFill>
                  <a:srgbClr val="1A2E52"/>
                </a:solidFill>
              </a:rPr>
              <a:t>:</a:t>
            </a:r>
          </a:p>
          <a:p>
            <a:pPr marL="457200" indent="-457200">
              <a:buAutoNum type="arabicPeriod"/>
            </a:pPr>
            <a:r>
              <a:rPr lang="pl-PL" sz="2000">
                <a:ea typeface="Calibri" panose="020F0502020204030204"/>
                <a:cs typeface="Calibri" panose="020F0502020204030204"/>
              </a:rPr>
              <a:t>The dominant mode has the lowest frequency for the center position, and highest for the back position</a:t>
            </a:r>
          </a:p>
          <a:p>
            <a:pPr marL="457200" indent="-457200">
              <a:buAutoNum type="arabicPeriod"/>
            </a:pPr>
            <a:r>
              <a:rPr lang="pl-PL" sz="2000">
                <a:ea typeface="Calibri" panose="020F0502020204030204"/>
                <a:cs typeface="Calibri" panose="020F0502020204030204"/>
              </a:rPr>
              <a:t>The damping ratio is considerably smaller for this dominant mode with bed in the back position in comparison to the rest</a:t>
            </a:r>
          </a:p>
        </p:txBody>
      </p:sp>
      <p:sp>
        <p:nvSpPr>
          <p:cNvPr id="13" name="pole tekstowe 2">
            <a:extLst>
              <a:ext uri="{FF2B5EF4-FFF2-40B4-BE49-F238E27FC236}">
                <a16:creationId xmlns:a16="http://schemas.microsoft.com/office/drawing/2014/main" id="{CBAC68A5-F5DD-8AFE-ED26-70CF81C5E23F}"/>
              </a:ext>
            </a:extLst>
          </p:cNvPr>
          <p:cNvSpPr txBox="1"/>
          <p:nvPr/>
        </p:nvSpPr>
        <p:spPr>
          <a:xfrm>
            <a:off x="577392" y="932410"/>
            <a:ext cx="10158428" cy="400110"/>
          </a:xfrm>
          <a:prstGeom prst="rect">
            <a:avLst/>
          </a:prstGeom>
          <a:noFill/>
        </p:spPr>
        <p:txBody>
          <a:bodyPr wrap="square" lIns="91440" tIns="45720" rIns="91440" bIns="45720" anchor="t">
            <a:spAutoFit/>
          </a:bodyPr>
          <a:lstStyle/>
          <a:p>
            <a:r>
              <a:rPr lang="pl-PL" sz="2000" b="1">
                <a:solidFill>
                  <a:srgbClr val="1A2E52"/>
                </a:solidFill>
                <a:latin typeface="Colber"/>
              </a:rPr>
              <a:t>First Analysis of Results (</a:t>
            </a:r>
            <a:r>
              <a:rPr lang="en-US" sz="2000" b="1">
                <a:solidFill>
                  <a:srgbClr val="1A2E52"/>
                </a:solidFill>
                <a:latin typeface="Colber"/>
              </a:rPr>
              <a:t>Time: </a:t>
            </a:r>
            <a:r>
              <a:rPr lang="pl-PL" sz="2000" b="1">
                <a:solidFill>
                  <a:srgbClr val="1A2E52"/>
                </a:solidFill>
                <a:latin typeface="Colber"/>
              </a:rPr>
              <a:t>25</a:t>
            </a:r>
            <a:r>
              <a:rPr lang="en-US" sz="2000" b="1">
                <a:solidFill>
                  <a:srgbClr val="1A2E52"/>
                </a:solidFill>
                <a:latin typeface="Colber"/>
              </a:rPr>
              <a:t> min</a:t>
            </a:r>
            <a:r>
              <a:rPr lang="pl-PL" sz="2000" b="1">
                <a:solidFill>
                  <a:srgbClr val="1A2E52"/>
                </a:solidFill>
                <a:latin typeface="Colber"/>
              </a:rPr>
              <a:t>)</a:t>
            </a:r>
            <a:r>
              <a:rPr lang="pl-PL" sz="2000" b="1">
                <a:solidFill>
                  <a:srgbClr val="1A2E52"/>
                </a:solidFill>
                <a:ea typeface="+mn-lt"/>
                <a:cs typeface="+mn-lt"/>
              </a:rPr>
              <a:t>: Forced excitation tests</a:t>
            </a:r>
            <a:endParaRPr lang="en-US">
              <a:ea typeface="+mn-lt"/>
              <a:cs typeface="+mn-lt"/>
            </a:endParaRPr>
          </a:p>
        </p:txBody>
      </p:sp>
    </p:spTree>
    <p:extLst>
      <p:ext uri="{BB962C8B-B14F-4D97-AF65-F5344CB8AC3E}">
        <p14:creationId xmlns:p14="http://schemas.microsoft.com/office/powerpoint/2010/main" val="3083898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83EAC-31F0-6FD2-F2D1-A9A09D0A7B9B}"/>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17CB3BDB-B2A3-2CF7-4EAB-0F3A56B8A78E}"/>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9D44AE00-D8C0-B96D-4EE1-FB387C4046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59668B95-DF49-625E-008A-90AE669045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1F986B14-1150-460E-3F49-E12A240EB6D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C779C881-A8FB-DA5F-64CD-2E092990A381}"/>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B5F99DDE-3293-EC22-236F-2AA97AD78091}"/>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B302CAB1-3A9D-2F16-5F98-EF8B0D00593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E8E0CF6D-2439-EB3F-D2E0-8443985B3969}"/>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172E11A1-A889-635E-EDE0-F603088C2CBA}"/>
              </a:ext>
            </a:extLst>
          </p:cNvPr>
          <p:cNvSpPr txBox="1"/>
          <p:nvPr/>
        </p:nvSpPr>
        <p:spPr>
          <a:xfrm>
            <a:off x="577392" y="932410"/>
            <a:ext cx="6094428" cy="400110"/>
          </a:xfrm>
          <a:prstGeom prst="rect">
            <a:avLst/>
          </a:prstGeom>
          <a:noFill/>
        </p:spPr>
        <p:txBody>
          <a:bodyPr wrap="square">
            <a:spAutoFit/>
          </a:bodyPr>
          <a:lstStyle/>
          <a:p>
            <a:r>
              <a:rPr lang="pl-PL" sz="2000" b="1" err="1">
                <a:solidFill>
                  <a:srgbClr val="1A2E52"/>
                </a:solidFill>
                <a:latin typeface="Colber"/>
              </a:rPr>
              <a:t>Sustainability</a:t>
            </a:r>
            <a:r>
              <a:rPr lang="pl-PL" sz="2000" b="1">
                <a:solidFill>
                  <a:srgbClr val="1A2E52"/>
                </a:solidFill>
                <a:latin typeface="Colber"/>
              </a:rPr>
              <a:t> </a:t>
            </a:r>
            <a:r>
              <a:rPr lang="pl-PL" sz="2000" b="1" err="1">
                <a:solidFill>
                  <a:srgbClr val="1A2E52"/>
                </a:solidFill>
                <a:latin typeface="Colber"/>
              </a:rPr>
              <a:t>Impact</a:t>
            </a:r>
            <a:r>
              <a:rPr lang="pl-PL" sz="2000" b="1">
                <a:solidFill>
                  <a:srgbClr val="1A2E52"/>
                </a:solidFill>
                <a:latin typeface="Colber"/>
              </a:rPr>
              <a:t> (</a:t>
            </a:r>
            <a:r>
              <a:rPr lang="en-US" sz="2000" b="1">
                <a:solidFill>
                  <a:srgbClr val="1A2E52"/>
                </a:solidFill>
                <a:latin typeface="Colber"/>
              </a:rPr>
              <a:t>Time: </a:t>
            </a:r>
            <a:r>
              <a:rPr lang="pl-PL" sz="2000" b="1">
                <a:solidFill>
                  <a:srgbClr val="1A2E52"/>
                </a:solidFill>
                <a:latin typeface="Colber"/>
              </a:rPr>
              <a:t>15</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6CFD8975-9F49-82C2-7DEC-211D95E48D86}"/>
              </a:ext>
            </a:extLst>
          </p:cNvPr>
          <p:cNvSpPr txBox="1"/>
          <p:nvPr/>
        </p:nvSpPr>
        <p:spPr>
          <a:xfrm>
            <a:off x="715362" y="1429898"/>
            <a:ext cx="10662791" cy="4247317"/>
          </a:xfrm>
          <a:prstGeom prst="rect">
            <a:avLst/>
          </a:prstGeom>
          <a:noFill/>
        </p:spPr>
        <p:txBody>
          <a:bodyPr wrap="square" lIns="91440" tIns="45720" rIns="91440" bIns="45720" anchor="t">
            <a:spAutoFit/>
          </a:bodyPr>
          <a:lstStyle/>
          <a:p>
            <a:r>
              <a:rPr lang="pl-PL" sz="1500" b="1">
                <a:solidFill>
                  <a:srgbClr val="1A2E52"/>
                </a:solidFill>
              </a:rPr>
              <a:t>How can your system support sustainability?</a:t>
            </a:r>
            <a:endParaRPr lang="pl-PL" sz="1500" b="1">
              <a:solidFill>
                <a:srgbClr val="1A2E52"/>
              </a:solidFill>
              <a:ea typeface="Calibri"/>
              <a:cs typeface="Calibri"/>
            </a:endParaRPr>
          </a:p>
          <a:p>
            <a:r>
              <a:rPr lang="pl-PL" sz="1500">
                <a:solidFill>
                  <a:srgbClr val="1A2E52"/>
                </a:solidFill>
              </a:rPr>
              <a:t> x Reduced energy consumption</a:t>
            </a:r>
            <a:br>
              <a:rPr lang="pl-PL" sz="1500"/>
            </a:br>
            <a:r>
              <a:rPr lang="pl-PL" sz="1500">
                <a:solidFill>
                  <a:srgbClr val="1A2E52"/>
                </a:solidFill>
              </a:rPr>
              <a:t>☐ Reduced water consumption</a:t>
            </a:r>
            <a:br>
              <a:rPr lang="pl-PL" sz="1500"/>
            </a:br>
            <a:r>
              <a:rPr lang="pl-PL" sz="1500">
                <a:solidFill>
                  <a:srgbClr val="1A2E52"/>
                </a:solidFill>
              </a:rPr>
              <a:t>☐ Reduced waste</a:t>
            </a:r>
            <a:br>
              <a:rPr lang="pl-PL" sz="1500"/>
            </a:br>
            <a:r>
              <a:rPr lang="pl-PL" sz="1500">
                <a:solidFill>
                  <a:srgbClr val="1A2E52"/>
                </a:solidFill>
              </a:rPr>
              <a:t> x  Extended equipment lifetime</a:t>
            </a:r>
            <a:br>
              <a:rPr lang="pl-PL" sz="1500"/>
            </a:br>
            <a:r>
              <a:rPr lang="pl-PL" sz="1500">
                <a:solidFill>
                  <a:srgbClr val="1A2E52"/>
                </a:solidFill>
              </a:rPr>
              <a:t> x Predictive maintenance</a:t>
            </a:r>
            <a:br>
              <a:rPr lang="pl-PL" sz="1500"/>
            </a:br>
            <a:r>
              <a:rPr lang="pl-PL" sz="1500">
                <a:solidFill>
                  <a:srgbClr val="1A2E52"/>
                </a:solidFill>
              </a:rPr>
              <a:t> x Improved efficiency</a:t>
            </a:r>
            <a:br>
              <a:rPr lang="pl-PL" sz="1500"/>
            </a:br>
            <a:r>
              <a:rPr lang="pl-PL" sz="1500">
                <a:solidFill>
                  <a:srgbClr val="1A2E52"/>
                </a:solidFill>
              </a:rPr>
              <a:t> x Reduced failures or losses</a:t>
            </a:r>
            <a:endParaRPr lang="pl-PL" sz="1500">
              <a:solidFill>
                <a:srgbClr val="1A2E52"/>
              </a:solidFill>
              <a:ea typeface="Calibri"/>
              <a:cs typeface="Calibri"/>
            </a:endParaRPr>
          </a:p>
          <a:p>
            <a:endParaRPr lang="pl-PL" sz="1500">
              <a:solidFill>
                <a:srgbClr val="1A2E52"/>
              </a:solidFill>
            </a:endParaRPr>
          </a:p>
          <a:p>
            <a:r>
              <a:rPr lang="pl-PL" sz="1500" b="1">
                <a:solidFill>
                  <a:srgbClr val="1A2E52"/>
                </a:solidFill>
              </a:rPr>
              <a:t>Evidence from measurements:</a:t>
            </a:r>
            <a:endParaRPr lang="pl-PL" sz="1500">
              <a:ea typeface="+mn-lt"/>
              <a:cs typeface="+mn-lt"/>
            </a:endParaRPr>
          </a:p>
          <a:p>
            <a:r>
              <a:rPr lang="pl-PL" sz="1500">
                <a:ea typeface="+mn-lt"/>
                <a:cs typeface="+mn-lt"/>
              </a:rPr>
              <a:t>Hammer tests showed the back position has a low damping ratio (around 0.0123), meaning structural modes in this zone decay slowly. Spindle operation at 7,500 RPM generated a strong higher harmonic that aligned directly with this structural mode, concentrating more energy into that higher-frequency mode than the fundamental.</a:t>
            </a:r>
            <a:endParaRPr lang="pl-PL" sz="1500">
              <a:ea typeface="Calibri" panose="020F0502020204030204"/>
              <a:cs typeface="Calibri" panose="020F0502020204030204"/>
            </a:endParaRPr>
          </a:p>
          <a:p>
            <a:endParaRPr lang="pl-PL" sz="1500">
              <a:solidFill>
                <a:srgbClr val="C00000"/>
              </a:solidFill>
              <a:ea typeface="Calibri"/>
              <a:cs typeface="Calibri"/>
            </a:endParaRPr>
          </a:p>
          <a:p>
            <a:r>
              <a:rPr lang="pl-PL" sz="1500" b="1">
                <a:solidFill>
                  <a:srgbClr val="1A2E52"/>
                </a:solidFill>
              </a:rPr>
              <a:t>Sustainability recommendation:</a:t>
            </a:r>
            <a:endParaRPr lang="pl-PL" sz="1500" b="1">
              <a:solidFill>
                <a:srgbClr val="1A2E52"/>
              </a:solidFill>
              <a:ea typeface="Calibri"/>
              <a:cs typeface="Calibri"/>
            </a:endParaRPr>
          </a:p>
          <a:p>
            <a:r>
              <a:rPr lang="pl-PL" sz="1500">
                <a:ea typeface="+mn-lt"/>
                <a:cs typeface="+mn-lt"/>
              </a:rPr>
              <a:t>Program the CNC spindle control system to dynamically bypass the 7,500 RPM speed setpoint when operating in the back position, preventing harmonic alignment with the high-energy structural mode.</a:t>
            </a:r>
            <a:endParaRPr lang="pl-PL"/>
          </a:p>
          <a:p>
            <a:endParaRPr lang="pl-PL" sz="1500">
              <a:ea typeface="Calibri"/>
              <a:cs typeface="Calibri"/>
            </a:endParaRPr>
          </a:p>
        </p:txBody>
      </p:sp>
    </p:spTree>
    <p:extLst>
      <p:ext uri="{BB962C8B-B14F-4D97-AF65-F5344CB8AC3E}">
        <p14:creationId xmlns:p14="http://schemas.microsoft.com/office/powerpoint/2010/main" val="3665931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FB756-99E9-0E16-733D-1AE603C05E86}"/>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E16A3F97-621E-FA1B-A933-B75A6DCB2B26}"/>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3348602B-D823-7B46-970B-CEAA00CBEA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A403D199-61BD-44D5-ADB2-93E13A9B32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F5DE4873-429E-A26B-0615-7148D0159B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F9325E66-5645-C0A8-C09C-34F3BA51F8D3}"/>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335FD07A-8441-7E1F-6A89-E3250C1228D0}"/>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230FFAB9-CE48-6BEF-526A-4F7E5FE600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485A3318-FC82-8490-C7C6-29C20A9F9D5B}"/>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DD9C5A57-678E-1B05-EB1E-A62F54842306}"/>
              </a:ext>
            </a:extLst>
          </p:cNvPr>
          <p:cNvSpPr txBox="1"/>
          <p:nvPr/>
        </p:nvSpPr>
        <p:spPr>
          <a:xfrm>
            <a:off x="577392" y="932410"/>
            <a:ext cx="6094428" cy="400110"/>
          </a:xfrm>
          <a:prstGeom prst="rect">
            <a:avLst/>
          </a:prstGeom>
          <a:noFill/>
        </p:spPr>
        <p:txBody>
          <a:bodyPr wrap="square">
            <a:spAutoFit/>
          </a:bodyPr>
          <a:lstStyle/>
          <a:p>
            <a:r>
              <a:rPr lang="pl-PL" sz="2000" b="1" err="1">
                <a:solidFill>
                  <a:srgbClr val="1A2E52"/>
                </a:solidFill>
                <a:latin typeface="Colber"/>
              </a:rPr>
              <a:t>Preparation</a:t>
            </a:r>
            <a:r>
              <a:rPr lang="pl-PL" sz="2000" b="1">
                <a:solidFill>
                  <a:srgbClr val="1A2E52"/>
                </a:solidFill>
                <a:latin typeface="Colber"/>
              </a:rPr>
              <a:t> for </a:t>
            </a:r>
            <a:r>
              <a:rPr lang="pl-PL" sz="2000" b="1" err="1">
                <a:solidFill>
                  <a:srgbClr val="1A2E52"/>
                </a:solidFill>
                <a:latin typeface="Colber"/>
              </a:rPr>
              <a:t>Final</a:t>
            </a:r>
            <a:r>
              <a:rPr lang="pl-PL" sz="2000" b="1">
                <a:solidFill>
                  <a:srgbClr val="1A2E52"/>
                </a:solidFill>
                <a:latin typeface="Colber"/>
              </a:rPr>
              <a:t> </a:t>
            </a:r>
            <a:r>
              <a:rPr lang="pl-PL" sz="2000" b="1" err="1">
                <a:solidFill>
                  <a:srgbClr val="1A2E52"/>
                </a:solidFill>
                <a:latin typeface="Colber"/>
              </a:rPr>
              <a:t>Defence</a:t>
            </a:r>
            <a:r>
              <a:rPr lang="pl-PL" sz="2000" b="1">
                <a:solidFill>
                  <a:srgbClr val="1A2E52"/>
                </a:solidFill>
                <a:latin typeface="Colber"/>
              </a:rPr>
              <a:t> (</a:t>
            </a:r>
            <a:r>
              <a:rPr lang="en-US" sz="2000" b="1">
                <a:solidFill>
                  <a:srgbClr val="1A2E52"/>
                </a:solidFill>
                <a:latin typeface="Colber"/>
              </a:rPr>
              <a:t>Time: </a:t>
            </a:r>
            <a:r>
              <a:rPr lang="pl-PL" sz="2000" b="1">
                <a:solidFill>
                  <a:srgbClr val="1A2E52"/>
                </a:solidFill>
                <a:latin typeface="Colber"/>
              </a:rPr>
              <a:t>20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0CB2E46C-6A9D-2108-1ADE-315CEBBE17D8}"/>
              </a:ext>
            </a:extLst>
          </p:cNvPr>
          <p:cNvSpPr txBox="1"/>
          <p:nvPr/>
        </p:nvSpPr>
        <p:spPr>
          <a:xfrm>
            <a:off x="715363" y="1429898"/>
            <a:ext cx="4773448" cy="5016758"/>
          </a:xfrm>
          <a:prstGeom prst="rect">
            <a:avLst/>
          </a:prstGeom>
          <a:noFill/>
        </p:spPr>
        <p:txBody>
          <a:bodyPr wrap="square">
            <a:spAutoFit/>
          </a:bodyPr>
          <a:lstStyle/>
          <a:p>
            <a:r>
              <a:rPr lang="pl-PL" sz="2000" b="1" err="1">
                <a:solidFill>
                  <a:srgbClr val="1A2E52"/>
                </a:solidFill>
              </a:rPr>
              <a:t>Final</a:t>
            </a:r>
            <a:r>
              <a:rPr lang="pl-PL" sz="2000" b="1">
                <a:solidFill>
                  <a:srgbClr val="1A2E52"/>
                </a:solidFill>
              </a:rPr>
              <a:t> Report and Presentation</a:t>
            </a:r>
          </a:p>
          <a:p>
            <a:endParaRPr lang="pl-PL" sz="2000" b="1">
              <a:solidFill>
                <a:srgbClr val="1A2E52"/>
              </a:solidFill>
            </a:endParaRPr>
          </a:p>
          <a:p>
            <a:r>
              <a:rPr lang="pl-PL" sz="2000" b="1" err="1">
                <a:solidFill>
                  <a:srgbClr val="1A2E52"/>
                </a:solidFill>
              </a:rPr>
              <a:t>Final</a:t>
            </a:r>
            <a:r>
              <a:rPr lang="pl-PL" sz="2000" b="1">
                <a:solidFill>
                  <a:srgbClr val="1A2E52"/>
                </a:solidFill>
              </a:rPr>
              <a:t> report </a:t>
            </a:r>
            <a:r>
              <a:rPr lang="pl-PL" sz="2000" b="1" err="1">
                <a:solidFill>
                  <a:srgbClr val="1A2E52"/>
                </a:solidFill>
              </a:rPr>
              <a:t>sections</a:t>
            </a:r>
            <a:r>
              <a:rPr lang="pl-PL" sz="2000" b="1">
                <a:solidFill>
                  <a:srgbClr val="1A2E52"/>
                </a:solidFill>
              </a:rPr>
              <a:t> to </a:t>
            </a:r>
            <a:r>
              <a:rPr lang="pl-PL" sz="2000" b="1" err="1">
                <a:solidFill>
                  <a:srgbClr val="1A2E52"/>
                </a:solidFill>
              </a:rPr>
              <a:t>complete</a:t>
            </a:r>
            <a:r>
              <a:rPr lang="pl-PL" sz="2000" b="1">
                <a:solidFill>
                  <a:srgbClr val="1A2E52"/>
                </a:solidFill>
              </a:rPr>
              <a:t>:</a:t>
            </a:r>
          </a:p>
          <a:p>
            <a:r>
              <a:rPr lang="pl-PL" sz="2000">
                <a:solidFill>
                  <a:srgbClr val="1A2E52"/>
                </a:solidFill>
              </a:rPr>
              <a:t>☐ Problem </a:t>
            </a:r>
            <a:r>
              <a:rPr lang="pl-PL" sz="2000" err="1">
                <a:solidFill>
                  <a:srgbClr val="1A2E52"/>
                </a:solidFill>
              </a:rPr>
              <a:t>description</a:t>
            </a:r>
            <a:br>
              <a:rPr lang="pl-PL" sz="2000">
                <a:solidFill>
                  <a:srgbClr val="1A2E52"/>
                </a:solidFill>
              </a:rPr>
            </a:br>
            <a:r>
              <a:rPr lang="pl-PL" sz="2000">
                <a:solidFill>
                  <a:srgbClr val="1A2E52"/>
                </a:solidFill>
              </a:rPr>
              <a:t>☐ System </a:t>
            </a:r>
            <a:r>
              <a:rPr lang="pl-PL" sz="2000" err="1">
                <a:solidFill>
                  <a:srgbClr val="1A2E52"/>
                </a:solidFill>
              </a:rPr>
              <a:t>architecture</a:t>
            </a:r>
            <a:br>
              <a:rPr lang="pl-PL" sz="2000">
                <a:solidFill>
                  <a:srgbClr val="1A2E52"/>
                </a:solidFill>
              </a:rPr>
            </a:br>
            <a:r>
              <a:rPr lang="pl-PL" sz="2000">
                <a:solidFill>
                  <a:srgbClr val="1A2E52"/>
                </a:solidFill>
              </a:rPr>
              <a:t>☐ Sensor </a:t>
            </a:r>
            <a:r>
              <a:rPr lang="pl-PL" sz="2000" err="1">
                <a:solidFill>
                  <a:srgbClr val="1A2E52"/>
                </a:solidFill>
              </a:rPr>
              <a:t>selection</a:t>
            </a:r>
            <a:r>
              <a:rPr lang="pl-PL" sz="2000">
                <a:solidFill>
                  <a:srgbClr val="1A2E52"/>
                </a:solidFill>
              </a:rPr>
              <a:t> and </a:t>
            </a:r>
            <a:r>
              <a:rPr lang="pl-PL" sz="2000" err="1">
                <a:solidFill>
                  <a:srgbClr val="1A2E52"/>
                </a:solidFill>
              </a:rPr>
              <a:t>calibration</a:t>
            </a:r>
            <a:br>
              <a:rPr lang="pl-PL" sz="2000">
                <a:solidFill>
                  <a:srgbClr val="1A2E52"/>
                </a:solidFill>
              </a:rPr>
            </a:br>
            <a:r>
              <a:rPr lang="pl-PL" sz="2000">
                <a:solidFill>
                  <a:srgbClr val="1A2E52"/>
                </a:solidFill>
              </a:rPr>
              <a:t>☐ DAQ </a:t>
            </a:r>
            <a:r>
              <a:rPr lang="pl-PL" sz="2000" err="1">
                <a:solidFill>
                  <a:srgbClr val="1A2E52"/>
                </a:solidFill>
              </a:rPr>
              <a:t>configuration</a:t>
            </a:r>
            <a:br>
              <a:rPr lang="pl-PL" sz="2000">
                <a:solidFill>
                  <a:srgbClr val="1A2E52"/>
                </a:solidFill>
              </a:rPr>
            </a:br>
            <a:r>
              <a:rPr lang="pl-PL" sz="2000">
                <a:solidFill>
                  <a:srgbClr val="1A2E52"/>
                </a:solidFill>
              </a:rPr>
              <a:t>☐ </a:t>
            </a:r>
            <a:r>
              <a:rPr lang="pl-PL" sz="2000" err="1">
                <a:solidFill>
                  <a:srgbClr val="1A2E52"/>
                </a:solidFill>
              </a:rPr>
              <a:t>LabVIEW</a:t>
            </a:r>
            <a:r>
              <a:rPr lang="pl-PL" sz="2000">
                <a:solidFill>
                  <a:srgbClr val="1A2E52"/>
                </a:solidFill>
              </a:rPr>
              <a:t> </a:t>
            </a:r>
            <a:r>
              <a:rPr lang="pl-PL" sz="2000" err="1">
                <a:solidFill>
                  <a:srgbClr val="1A2E52"/>
                </a:solidFill>
              </a:rPr>
              <a:t>application</a:t>
            </a:r>
            <a:br>
              <a:rPr lang="pl-PL" sz="2000">
                <a:solidFill>
                  <a:srgbClr val="1A2E52"/>
                </a:solidFill>
              </a:rPr>
            </a:br>
            <a:r>
              <a:rPr lang="pl-PL" sz="2000">
                <a:solidFill>
                  <a:srgbClr val="1A2E52"/>
                </a:solidFill>
              </a:rPr>
              <a:t>☐ </a:t>
            </a:r>
            <a:r>
              <a:rPr lang="pl-PL" sz="2000" err="1">
                <a:solidFill>
                  <a:srgbClr val="1A2E52"/>
                </a:solidFill>
              </a:rPr>
              <a:t>Measurement</a:t>
            </a:r>
            <a:r>
              <a:rPr lang="pl-PL" sz="2000">
                <a:solidFill>
                  <a:srgbClr val="1A2E52"/>
                </a:solidFill>
              </a:rPr>
              <a:t> </a:t>
            </a:r>
            <a:r>
              <a:rPr lang="pl-PL" sz="2000" err="1">
                <a:solidFill>
                  <a:srgbClr val="1A2E52"/>
                </a:solidFill>
              </a:rPr>
              <a:t>procedure</a:t>
            </a:r>
            <a:br>
              <a:rPr lang="pl-PL" sz="2000">
                <a:solidFill>
                  <a:srgbClr val="1A2E52"/>
                </a:solidFill>
              </a:rPr>
            </a:br>
            <a:r>
              <a:rPr lang="pl-PL" sz="2000">
                <a:solidFill>
                  <a:srgbClr val="1A2E52"/>
                </a:solidFill>
              </a:rPr>
              <a:t>☐ </a:t>
            </a:r>
            <a:r>
              <a:rPr lang="pl-PL" sz="2000" err="1">
                <a:solidFill>
                  <a:srgbClr val="1A2E52"/>
                </a:solidFill>
              </a:rPr>
              <a:t>Results</a:t>
            </a:r>
            <a:r>
              <a:rPr lang="pl-PL" sz="2000">
                <a:solidFill>
                  <a:srgbClr val="1A2E52"/>
                </a:solidFill>
              </a:rPr>
              <a:t> and </a:t>
            </a:r>
            <a:r>
              <a:rPr lang="pl-PL" sz="2000" err="1">
                <a:solidFill>
                  <a:srgbClr val="1A2E52"/>
                </a:solidFill>
              </a:rPr>
              <a:t>analysis</a:t>
            </a:r>
            <a:br>
              <a:rPr lang="pl-PL" sz="2000">
                <a:solidFill>
                  <a:srgbClr val="1A2E52"/>
                </a:solidFill>
              </a:rPr>
            </a:br>
            <a:r>
              <a:rPr lang="pl-PL" sz="2000">
                <a:solidFill>
                  <a:srgbClr val="1A2E52"/>
                </a:solidFill>
              </a:rPr>
              <a:t>☐ </a:t>
            </a:r>
            <a:r>
              <a:rPr lang="pl-PL" sz="2000" err="1">
                <a:solidFill>
                  <a:srgbClr val="1A2E52"/>
                </a:solidFill>
              </a:rPr>
              <a:t>Sustainability</a:t>
            </a:r>
            <a:r>
              <a:rPr lang="pl-PL" sz="2000">
                <a:solidFill>
                  <a:srgbClr val="1A2E52"/>
                </a:solidFill>
              </a:rPr>
              <a:t> </a:t>
            </a:r>
            <a:r>
              <a:rPr lang="pl-PL" sz="2000" err="1">
                <a:solidFill>
                  <a:srgbClr val="1A2E52"/>
                </a:solidFill>
              </a:rPr>
              <a:t>evaluation</a:t>
            </a:r>
            <a:br>
              <a:rPr lang="pl-PL" sz="2000">
                <a:solidFill>
                  <a:srgbClr val="1A2E52"/>
                </a:solidFill>
              </a:rPr>
            </a:br>
            <a:r>
              <a:rPr lang="pl-PL" sz="2000">
                <a:solidFill>
                  <a:srgbClr val="1A2E52"/>
                </a:solidFill>
              </a:rPr>
              <a:t>☐ </a:t>
            </a:r>
            <a:r>
              <a:rPr lang="pl-PL" sz="2000" err="1">
                <a:solidFill>
                  <a:srgbClr val="1A2E52"/>
                </a:solidFill>
              </a:rPr>
              <a:t>Conclusions</a:t>
            </a:r>
            <a:r>
              <a:rPr lang="pl-PL" sz="2000">
                <a:solidFill>
                  <a:srgbClr val="1A2E52"/>
                </a:solidFill>
              </a:rPr>
              <a:t> and </a:t>
            </a:r>
            <a:r>
              <a:rPr lang="pl-PL" sz="2000" err="1">
                <a:solidFill>
                  <a:srgbClr val="1A2E52"/>
                </a:solidFill>
              </a:rPr>
              <a:t>recommendations</a:t>
            </a:r>
            <a:endParaRPr lang="pl-PL" sz="2000">
              <a:solidFill>
                <a:srgbClr val="1A2E52"/>
              </a:solidFill>
            </a:endParaRPr>
          </a:p>
          <a:p>
            <a:r>
              <a:rPr lang="pl-PL" sz="2000">
                <a:solidFill>
                  <a:srgbClr val="1A2E52"/>
                </a:solidFill>
              </a:rPr>
              <a:t>☐ </a:t>
            </a:r>
            <a:r>
              <a:rPr lang="en-US" sz="2000">
                <a:solidFill>
                  <a:srgbClr val="1A2E52"/>
                </a:solidFill>
              </a:rPr>
              <a:t>Individual contribution of team members</a:t>
            </a:r>
          </a:p>
          <a:p>
            <a:endParaRPr lang="pl-PL" sz="2000">
              <a:solidFill>
                <a:srgbClr val="1A2E52"/>
              </a:solidFill>
            </a:endParaRPr>
          </a:p>
          <a:p>
            <a:endParaRPr lang="pl-PL" sz="2000">
              <a:solidFill>
                <a:srgbClr val="1A2E52"/>
              </a:solidFill>
            </a:endParaRPr>
          </a:p>
          <a:p>
            <a:endParaRPr lang="pl-PL" sz="2000"/>
          </a:p>
        </p:txBody>
      </p:sp>
      <p:sp>
        <p:nvSpPr>
          <p:cNvPr id="5" name="pole tekstowe 4">
            <a:extLst>
              <a:ext uri="{FF2B5EF4-FFF2-40B4-BE49-F238E27FC236}">
                <a16:creationId xmlns:a16="http://schemas.microsoft.com/office/drawing/2014/main" id="{E5A1D855-E064-3A6C-2458-390220ABFD26}"/>
              </a:ext>
            </a:extLst>
          </p:cNvPr>
          <p:cNvSpPr txBox="1"/>
          <p:nvPr/>
        </p:nvSpPr>
        <p:spPr>
          <a:xfrm>
            <a:off x="5488811" y="2058217"/>
            <a:ext cx="6341828" cy="3785652"/>
          </a:xfrm>
          <a:prstGeom prst="rect">
            <a:avLst/>
          </a:prstGeom>
          <a:noFill/>
        </p:spPr>
        <p:txBody>
          <a:bodyPr wrap="square">
            <a:spAutoFit/>
          </a:bodyPr>
          <a:lstStyle/>
          <a:p>
            <a:endParaRPr lang="pl-PL" sz="2000">
              <a:solidFill>
                <a:srgbClr val="1A2E52"/>
              </a:solidFill>
            </a:endParaRPr>
          </a:p>
          <a:p>
            <a:r>
              <a:rPr lang="pl-PL" sz="2000" b="1" err="1">
                <a:solidFill>
                  <a:srgbClr val="1A2E52"/>
                </a:solidFill>
              </a:rPr>
              <a:t>Final</a:t>
            </a:r>
            <a:r>
              <a:rPr lang="pl-PL" sz="2000" b="1">
                <a:solidFill>
                  <a:srgbClr val="1A2E52"/>
                </a:solidFill>
              </a:rPr>
              <a:t> </a:t>
            </a:r>
            <a:r>
              <a:rPr lang="pl-PL" sz="2000" b="1" err="1">
                <a:solidFill>
                  <a:srgbClr val="1A2E52"/>
                </a:solidFill>
              </a:rPr>
              <a:t>presentation</a:t>
            </a:r>
            <a:r>
              <a:rPr lang="pl-PL" sz="2000" b="1">
                <a:solidFill>
                  <a:srgbClr val="1A2E52"/>
                </a:solidFill>
              </a:rPr>
              <a:t> </a:t>
            </a:r>
            <a:r>
              <a:rPr lang="pl-PL" sz="2000" b="1" err="1">
                <a:solidFill>
                  <a:srgbClr val="1A2E52"/>
                </a:solidFill>
              </a:rPr>
              <a:t>structure</a:t>
            </a:r>
            <a:r>
              <a:rPr lang="pl-PL" sz="2000" b="1">
                <a:solidFill>
                  <a:srgbClr val="1A2E52"/>
                </a:solidFill>
              </a:rPr>
              <a:t>:</a:t>
            </a:r>
          </a:p>
          <a:p>
            <a:pPr marL="342900" indent="-342900">
              <a:buFont typeface="Wingdings" panose="05000000000000000000" pitchFamily="2" charset="2"/>
              <a:buChar char="q"/>
            </a:pPr>
            <a:r>
              <a:rPr lang="pl-PL" sz="2000">
                <a:solidFill>
                  <a:srgbClr val="1A2E52"/>
                </a:solidFill>
              </a:rPr>
              <a:t>Problem and </a:t>
            </a:r>
            <a:r>
              <a:rPr lang="pl-PL" sz="2000" err="1">
                <a:solidFill>
                  <a:srgbClr val="1A2E52"/>
                </a:solidFill>
              </a:rPr>
              <a:t>project</a:t>
            </a:r>
            <a:r>
              <a:rPr lang="pl-PL" sz="2000">
                <a:solidFill>
                  <a:srgbClr val="1A2E52"/>
                </a:solidFill>
              </a:rPr>
              <a:t> </a:t>
            </a:r>
            <a:r>
              <a:rPr lang="pl-PL" sz="2000" err="1">
                <a:solidFill>
                  <a:srgbClr val="1A2E52"/>
                </a:solidFill>
              </a:rPr>
              <a:t>objective</a:t>
            </a:r>
            <a:r>
              <a:rPr lang="pl-PL" sz="2000">
                <a:solidFill>
                  <a:srgbClr val="1A2E52"/>
                </a:solidFill>
              </a:rPr>
              <a:t> </a:t>
            </a:r>
          </a:p>
          <a:p>
            <a:pPr marL="342900" indent="-342900">
              <a:buFont typeface="Wingdings" panose="05000000000000000000" pitchFamily="2" charset="2"/>
              <a:buChar char="q"/>
            </a:pPr>
            <a:r>
              <a:rPr lang="pl-PL" sz="2000" err="1">
                <a:solidFill>
                  <a:srgbClr val="1A2E52"/>
                </a:solidFill>
              </a:rPr>
              <a:t>Measurement</a:t>
            </a:r>
            <a:r>
              <a:rPr lang="pl-PL" sz="2000">
                <a:solidFill>
                  <a:srgbClr val="1A2E52"/>
                </a:solidFill>
              </a:rPr>
              <a:t> system </a:t>
            </a:r>
          </a:p>
          <a:p>
            <a:pPr marL="342900" indent="-342900">
              <a:buFont typeface="Wingdings" panose="05000000000000000000" pitchFamily="2" charset="2"/>
              <a:buChar char="q"/>
            </a:pPr>
            <a:r>
              <a:rPr lang="pl-PL" sz="2000" err="1">
                <a:solidFill>
                  <a:srgbClr val="1A2E52"/>
                </a:solidFill>
              </a:rPr>
              <a:t>Experimental</a:t>
            </a:r>
            <a:r>
              <a:rPr lang="pl-PL" sz="2000">
                <a:solidFill>
                  <a:srgbClr val="1A2E52"/>
                </a:solidFill>
              </a:rPr>
              <a:t> setup </a:t>
            </a:r>
          </a:p>
          <a:p>
            <a:pPr marL="342900" indent="-342900">
              <a:buFont typeface="Wingdings" panose="05000000000000000000" pitchFamily="2" charset="2"/>
              <a:buChar char="q"/>
            </a:pPr>
            <a:r>
              <a:rPr lang="pl-PL" sz="2000" err="1">
                <a:solidFill>
                  <a:srgbClr val="1A2E52"/>
                </a:solidFill>
              </a:rPr>
              <a:t>Results</a:t>
            </a:r>
            <a:r>
              <a:rPr lang="pl-PL" sz="2000">
                <a:solidFill>
                  <a:srgbClr val="1A2E52"/>
                </a:solidFill>
              </a:rPr>
              <a:t> </a:t>
            </a:r>
          </a:p>
          <a:p>
            <a:pPr marL="342900" indent="-342900">
              <a:buFont typeface="Wingdings" panose="05000000000000000000" pitchFamily="2" charset="2"/>
              <a:buChar char="q"/>
            </a:pPr>
            <a:r>
              <a:rPr lang="pl-PL" sz="2000" err="1">
                <a:solidFill>
                  <a:srgbClr val="1A2E52"/>
                </a:solidFill>
              </a:rPr>
              <a:t>Sustainability</a:t>
            </a:r>
            <a:r>
              <a:rPr lang="pl-PL" sz="2000">
                <a:solidFill>
                  <a:srgbClr val="1A2E52"/>
                </a:solidFill>
              </a:rPr>
              <a:t> </a:t>
            </a:r>
            <a:r>
              <a:rPr lang="pl-PL" sz="2000" err="1">
                <a:solidFill>
                  <a:srgbClr val="1A2E52"/>
                </a:solidFill>
              </a:rPr>
              <a:t>impact</a:t>
            </a:r>
            <a:r>
              <a:rPr lang="pl-PL" sz="2000">
                <a:solidFill>
                  <a:srgbClr val="1A2E52"/>
                </a:solidFill>
              </a:rPr>
              <a:t> </a:t>
            </a:r>
          </a:p>
          <a:p>
            <a:pPr marL="342900" indent="-342900">
              <a:buFont typeface="Wingdings" panose="05000000000000000000" pitchFamily="2" charset="2"/>
              <a:buChar char="q"/>
            </a:pPr>
            <a:r>
              <a:rPr lang="pl-PL" sz="2000" err="1">
                <a:solidFill>
                  <a:srgbClr val="1A2E52"/>
                </a:solidFill>
              </a:rPr>
              <a:t>Conclusions</a:t>
            </a:r>
            <a:endParaRPr lang="pl-PL" sz="2000">
              <a:solidFill>
                <a:srgbClr val="1A2E52"/>
              </a:solidFill>
            </a:endParaRPr>
          </a:p>
          <a:p>
            <a:pPr marL="342900" indent="-342900">
              <a:buFont typeface="Wingdings" panose="05000000000000000000" pitchFamily="2" charset="2"/>
              <a:buChar char="q"/>
            </a:pPr>
            <a:r>
              <a:rPr lang="en-US" sz="2000">
                <a:solidFill>
                  <a:srgbClr val="1A2E52"/>
                </a:solidFill>
              </a:rPr>
              <a:t>Individual contribution of team members</a:t>
            </a:r>
            <a:endParaRPr lang="pl-PL" sz="2000">
              <a:solidFill>
                <a:srgbClr val="1A2E52"/>
              </a:solidFill>
            </a:endParaRPr>
          </a:p>
          <a:p>
            <a:pPr marL="342900" indent="-342900">
              <a:buFont typeface="Wingdings" panose="05000000000000000000" pitchFamily="2" charset="2"/>
              <a:buChar char="q"/>
            </a:pPr>
            <a:endParaRPr lang="pl-PL" sz="2000">
              <a:solidFill>
                <a:srgbClr val="1A2E52"/>
              </a:solidFill>
            </a:endParaRPr>
          </a:p>
          <a:p>
            <a:endParaRPr lang="pl-PL" sz="2000">
              <a:solidFill>
                <a:srgbClr val="1A2E52"/>
              </a:solidFill>
            </a:endParaRPr>
          </a:p>
          <a:p>
            <a:endParaRPr lang="pl-PL" sz="2000"/>
          </a:p>
        </p:txBody>
      </p:sp>
    </p:spTree>
    <p:extLst>
      <p:ext uri="{BB962C8B-B14F-4D97-AF65-F5344CB8AC3E}">
        <p14:creationId xmlns:p14="http://schemas.microsoft.com/office/powerpoint/2010/main" val="183469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85956-6AF5-4620-ABE4-F70AB6AED1D9}"/>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C9790720-167B-884B-4A1E-5053AFC3A4EC}"/>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29545458-68F1-07A1-BC57-2FF8EE7603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E2F3F2E0-A78D-65BC-A16F-0248A13412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A943E741-A638-1248-2A37-16687F3194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DEE76858-A53C-4D90-E979-BA41C88DC9E1}"/>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F335270E-1767-2FC1-75D3-6FAC7E542A3B}"/>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ABF6AE3C-ADB5-B3C0-F2A8-61EF7005BB7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350189A3-CA3D-F2D8-D550-C0924C5C1919}"/>
                </a:ext>
              </a:extLst>
            </p:cNvPr>
            <p:cNvPicPr>
              <a:picLocks noChangeAspect="1"/>
            </p:cNvPicPr>
            <p:nvPr/>
          </p:nvPicPr>
          <p:blipFill rotWithShape="1">
            <a:blip r:embed="rId5"/>
            <a:srcRect r="78876"/>
            <a:stretch/>
          </p:blipFill>
          <p:spPr>
            <a:xfrm>
              <a:off x="7559052" y="212724"/>
              <a:ext cx="921462" cy="514918"/>
            </a:xfrm>
            <a:prstGeom prst="rect">
              <a:avLst/>
            </a:prstGeom>
          </p:spPr>
        </p:pic>
      </p:grpSp>
      <p:sp>
        <p:nvSpPr>
          <p:cNvPr id="3" name="pole tekstowe 2">
            <a:extLst>
              <a:ext uri="{FF2B5EF4-FFF2-40B4-BE49-F238E27FC236}">
                <a16:creationId xmlns:a16="http://schemas.microsoft.com/office/drawing/2014/main" id="{5EFE556D-34B6-7599-F22A-80FF0DECA98C}"/>
              </a:ext>
            </a:extLst>
          </p:cNvPr>
          <p:cNvSpPr txBox="1"/>
          <p:nvPr/>
        </p:nvSpPr>
        <p:spPr>
          <a:xfrm>
            <a:off x="577392" y="932410"/>
            <a:ext cx="6094428" cy="400110"/>
          </a:xfrm>
          <a:prstGeom prst="rect">
            <a:avLst/>
          </a:prstGeom>
          <a:noFill/>
        </p:spPr>
        <p:txBody>
          <a:bodyPr wrap="square">
            <a:spAutoFit/>
          </a:bodyPr>
          <a:lstStyle/>
          <a:p>
            <a:r>
              <a:rPr lang="pl-PL" sz="2000" b="1" err="1">
                <a:solidFill>
                  <a:srgbClr val="1A2E52"/>
                </a:solidFill>
                <a:latin typeface="Colber"/>
              </a:rPr>
              <a:t>Preparation</a:t>
            </a:r>
            <a:r>
              <a:rPr lang="pl-PL" sz="2000" b="1">
                <a:solidFill>
                  <a:srgbClr val="1A2E52"/>
                </a:solidFill>
                <a:latin typeface="Colber"/>
              </a:rPr>
              <a:t> for </a:t>
            </a:r>
            <a:r>
              <a:rPr lang="pl-PL" sz="2000" b="1" err="1">
                <a:solidFill>
                  <a:srgbClr val="1A2E52"/>
                </a:solidFill>
                <a:latin typeface="Colber"/>
              </a:rPr>
              <a:t>Final</a:t>
            </a:r>
            <a:r>
              <a:rPr lang="pl-PL" sz="2000" b="1">
                <a:solidFill>
                  <a:srgbClr val="1A2E52"/>
                </a:solidFill>
                <a:latin typeface="Colber"/>
              </a:rPr>
              <a:t> </a:t>
            </a:r>
            <a:r>
              <a:rPr lang="pl-PL" sz="2000" b="1" err="1">
                <a:solidFill>
                  <a:srgbClr val="1A2E52"/>
                </a:solidFill>
                <a:latin typeface="Colber"/>
              </a:rPr>
              <a:t>Defence</a:t>
            </a:r>
            <a:r>
              <a:rPr lang="pl-PL" sz="2000" b="1">
                <a:solidFill>
                  <a:srgbClr val="1A2E52"/>
                </a:solidFill>
                <a:latin typeface="Colber"/>
              </a:rPr>
              <a:t> (</a:t>
            </a:r>
            <a:r>
              <a:rPr lang="en-US" sz="2000" b="1">
                <a:solidFill>
                  <a:srgbClr val="1A2E52"/>
                </a:solidFill>
                <a:latin typeface="Colber"/>
              </a:rPr>
              <a:t>Time: </a:t>
            </a:r>
            <a:r>
              <a:rPr lang="pl-PL" sz="2000" b="1" err="1">
                <a:solidFill>
                  <a:srgbClr val="1A2E52"/>
                </a:solidFill>
                <a:latin typeface="Colber"/>
              </a:rPr>
              <a:t>included</a:t>
            </a:r>
            <a:r>
              <a:rPr lang="pl-PL" sz="2000" b="1">
                <a:solidFill>
                  <a:srgbClr val="1A2E52"/>
                </a:solidFill>
                <a:latin typeface="Colber"/>
              </a:rPr>
              <a:t> in 20</a:t>
            </a:r>
            <a:r>
              <a:rPr lang="en-US" sz="2000" b="1">
                <a:solidFill>
                  <a:srgbClr val="1A2E52"/>
                </a:solidFill>
                <a:latin typeface="Colber"/>
              </a:rPr>
              <a:t> min</a:t>
            </a:r>
            <a:r>
              <a:rPr lang="pl-PL" sz="2000" b="1">
                <a:solidFill>
                  <a:srgbClr val="1A2E52"/>
                </a:solidFill>
                <a:latin typeface="Colber"/>
              </a:rPr>
              <a:t>)</a:t>
            </a:r>
          </a:p>
        </p:txBody>
      </p:sp>
      <p:sp>
        <p:nvSpPr>
          <p:cNvPr id="7" name="pole tekstowe 6">
            <a:extLst>
              <a:ext uri="{FF2B5EF4-FFF2-40B4-BE49-F238E27FC236}">
                <a16:creationId xmlns:a16="http://schemas.microsoft.com/office/drawing/2014/main" id="{7580B199-5495-8959-679C-23836C6C6DF7}"/>
              </a:ext>
            </a:extLst>
          </p:cNvPr>
          <p:cNvSpPr txBox="1"/>
          <p:nvPr/>
        </p:nvSpPr>
        <p:spPr>
          <a:xfrm>
            <a:off x="715363" y="1429898"/>
            <a:ext cx="4554222" cy="707886"/>
          </a:xfrm>
          <a:prstGeom prst="rect">
            <a:avLst/>
          </a:prstGeom>
          <a:noFill/>
        </p:spPr>
        <p:txBody>
          <a:bodyPr wrap="square">
            <a:spAutoFit/>
          </a:bodyPr>
          <a:lstStyle/>
          <a:p>
            <a:r>
              <a:rPr lang="en-US" sz="2000" b="1">
                <a:solidFill>
                  <a:srgbClr val="1A2E52"/>
                </a:solidFill>
              </a:rPr>
              <a:t>Individual contribution of team members</a:t>
            </a:r>
            <a:endParaRPr lang="pl-PL" sz="2000" b="1">
              <a:solidFill>
                <a:srgbClr val="1A2E52"/>
              </a:solidFill>
            </a:endParaRPr>
          </a:p>
          <a:p>
            <a:endParaRPr lang="pl-PL" sz="2000"/>
          </a:p>
        </p:txBody>
      </p:sp>
      <p:graphicFrame>
        <p:nvGraphicFramePr>
          <p:cNvPr id="22" name="Tabela 21">
            <a:extLst>
              <a:ext uri="{FF2B5EF4-FFF2-40B4-BE49-F238E27FC236}">
                <a16:creationId xmlns:a16="http://schemas.microsoft.com/office/drawing/2014/main" id="{3F80E4A8-C6C3-675D-1990-912C36765A30}"/>
              </a:ext>
            </a:extLst>
          </p:cNvPr>
          <p:cNvGraphicFramePr>
            <a:graphicFrameLocks noGrp="1"/>
          </p:cNvGraphicFramePr>
          <p:nvPr>
            <p:extLst>
              <p:ext uri="{D42A27DB-BD31-4B8C-83A1-F6EECF244321}">
                <p14:modId xmlns:p14="http://schemas.microsoft.com/office/powerpoint/2010/main" val="3229937506"/>
              </p:ext>
            </p:extLst>
          </p:nvPr>
        </p:nvGraphicFramePr>
        <p:xfrm>
          <a:off x="838199" y="1892368"/>
          <a:ext cx="10521100" cy="1828800"/>
        </p:xfrm>
        <a:graphic>
          <a:graphicData uri="http://schemas.openxmlformats.org/drawingml/2006/table">
            <a:tbl>
              <a:tblPr firstRow="1" bandRow="1" bandCol="1">
                <a:tableStyleId>{69012ECD-51FC-41F1-AA8D-1B2483CD663E}</a:tableStyleId>
              </a:tblPr>
              <a:tblGrid>
                <a:gridCol w="3139912">
                  <a:extLst>
                    <a:ext uri="{9D8B030D-6E8A-4147-A177-3AD203B41FA5}">
                      <a16:colId xmlns:a16="http://schemas.microsoft.com/office/drawing/2014/main" val="2522429234"/>
                    </a:ext>
                  </a:extLst>
                </a:gridCol>
                <a:gridCol w="7381188">
                  <a:extLst>
                    <a:ext uri="{9D8B030D-6E8A-4147-A177-3AD203B41FA5}">
                      <a16:colId xmlns:a16="http://schemas.microsoft.com/office/drawing/2014/main" val="1066887728"/>
                    </a:ext>
                  </a:extLst>
                </a:gridCol>
              </a:tblGrid>
              <a:tr h="0">
                <a:tc>
                  <a:txBody>
                    <a:bodyPr/>
                    <a:lstStyle/>
                    <a:p>
                      <a:pPr>
                        <a:buNone/>
                      </a:pPr>
                      <a:r>
                        <a:rPr lang="pl-PL"/>
                        <a:t>Team member</a:t>
                      </a:r>
                    </a:p>
                  </a:txBody>
                  <a:tcPr anchor="ctr"/>
                </a:tc>
                <a:tc>
                  <a:txBody>
                    <a:bodyPr/>
                    <a:lstStyle/>
                    <a:p>
                      <a:pPr>
                        <a:buNone/>
                      </a:pPr>
                      <a:r>
                        <a:rPr lang="pl-PL"/>
                        <a:t>Main responsibilities</a:t>
                      </a:r>
                    </a:p>
                  </a:txBody>
                  <a:tcPr anchor="ctr"/>
                </a:tc>
                <a:extLst>
                  <a:ext uri="{0D108BD9-81ED-4DB2-BD59-A6C34878D82A}">
                    <a16:rowId xmlns:a16="http://schemas.microsoft.com/office/drawing/2014/main" val="2835805378"/>
                  </a:ext>
                </a:extLst>
              </a:tr>
              <a:tr h="0">
                <a:tc>
                  <a:txBody>
                    <a:bodyPr/>
                    <a:lstStyle/>
                    <a:p>
                      <a:pPr>
                        <a:buNone/>
                      </a:pPr>
                      <a:r>
                        <a:rPr lang="pl-PL"/>
                        <a:t>Student 1</a:t>
                      </a:r>
                    </a:p>
                  </a:txBody>
                  <a:tcPr anchor="ctr"/>
                </a:tc>
                <a:tc>
                  <a:txBody>
                    <a:bodyPr/>
                    <a:lstStyle/>
                    <a:p>
                      <a:pPr>
                        <a:buNone/>
                      </a:pPr>
                      <a:r>
                        <a:rPr lang="pl-PL"/>
                        <a:t>[e.g. team coordination / measurements / documentation]</a:t>
                      </a:r>
                    </a:p>
                  </a:txBody>
                  <a:tcPr anchor="ctr"/>
                </a:tc>
                <a:extLst>
                  <a:ext uri="{0D108BD9-81ED-4DB2-BD59-A6C34878D82A}">
                    <a16:rowId xmlns:a16="http://schemas.microsoft.com/office/drawing/2014/main" val="3166792529"/>
                  </a:ext>
                </a:extLst>
              </a:tr>
              <a:tr h="0">
                <a:tc>
                  <a:txBody>
                    <a:bodyPr/>
                    <a:lstStyle/>
                    <a:p>
                      <a:pPr>
                        <a:buNone/>
                      </a:pPr>
                      <a:r>
                        <a:rPr lang="pl-PL"/>
                        <a:t>Student 2</a:t>
                      </a:r>
                    </a:p>
                  </a:txBody>
                  <a:tcPr anchor="ctr"/>
                </a:tc>
                <a:tc>
                  <a:txBody>
                    <a:bodyPr/>
                    <a:lstStyle/>
                    <a:p>
                      <a:pPr>
                        <a:buNone/>
                      </a:pPr>
                      <a:r>
                        <a:rPr lang="pl-PL"/>
                        <a:t>[e.g. sensor selection / calibration / experimental setup]</a:t>
                      </a:r>
                    </a:p>
                  </a:txBody>
                  <a:tcPr anchor="ctr"/>
                </a:tc>
                <a:extLst>
                  <a:ext uri="{0D108BD9-81ED-4DB2-BD59-A6C34878D82A}">
                    <a16:rowId xmlns:a16="http://schemas.microsoft.com/office/drawing/2014/main" val="792854535"/>
                  </a:ext>
                </a:extLst>
              </a:tr>
              <a:tr h="0">
                <a:tc>
                  <a:txBody>
                    <a:bodyPr/>
                    <a:lstStyle/>
                    <a:p>
                      <a:pPr>
                        <a:buNone/>
                      </a:pPr>
                      <a:r>
                        <a:rPr lang="pl-PL"/>
                        <a:t>Student 3</a:t>
                      </a:r>
                    </a:p>
                  </a:txBody>
                  <a:tcPr anchor="ctr"/>
                </a:tc>
                <a:tc>
                  <a:txBody>
                    <a:bodyPr/>
                    <a:lstStyle/>
                    <a:p>
                      <a:pPr>
                        <a:buNone/>
                      </a:pPr>
                      <a:r>
                        <a:rPr lang="pl-PL"/>
                        <a:t>[e.g. DAQ configuration / LabVIEW development]</a:t>
                      </a:r>
                    </a:p>
                  </a:txBody>
                  <a:tcPr anchor="ctr"/>
                </a:tc>
                <a:extLst>
                  <a:ext uri="{0D108BD9-81ED-4DB2-BD59-A6C34878D82A}">
                    <a16:rowId xmlns:a16="http://schemas.microsoft.com/office/drawing/2014/main" val="1537416798"/>
                  </a:ext>
                </a:extLst>
              </a:tr>
              <a:tr h="0">
                <a:tc>
                  <a:txBody>
                    <a:bodyPr/>
                    <a:lstStyle/>
                    <a:p>
                      <a:pPr>
                        <a:buNone/>
                      </a:pPr>
                      <a:r>
                        <a:rPr lang="pl-PL"/>
                        <a:t>Student 4</a:t>
                      </a:r>
                    </a:p>
                  </a:txBody>
                  <a:tcPr anchor="ctr"/>
                </a:tc>
                <a:tc>
                  <a:txBody>
                    <a:bodyPr/>
                    <a:lstStyle/>
                    <a:p>
                      <a:pPr>
                        <a:buNone/>
                      </a:pPr>
                      <a:r>
                        <a:rPr lang="pl-PL"/>
                        <a:t>[</a:t>
                      </a:r>
                      <a:r>
                        <a:rPr lang="pl-PL" err="1"/>
                        <a:t>e.g</a:t>
                      </a:r>
                      <a:r>
                        <a:rPr lang="pl-PL"/>
                        <a:t>. data </a:t>
                      </a:r>
                      <a:r>
                        <a:rPr lang="pl-PL" err="1"/>
                        <a:t>analysis</a:t>
                      </a:r>
                      <a:r>
                        <a:rPr lang="pl-PL"/>
                        <a:t> / </a:t>
                      </a:r>
                      <a:r>
                        <a:rPr lang="pl-PL" err="1"/>
                        <a:t>sustainability</a:t>
                      </a:r>
                      <a:r>
                        <a:rPr lang="pl-PL"/>
                        <a:t> </a:t>
                      </a:r>
                      <a:r>
                        <a:rPr lang="pl-PL" err="1"/>
                        <a:t>analysis</a:t>
                      </a:r>
                      <a:r>
                        <a:rPr lang="pl-PL"/>
                        <a:t> / </a:t>
                      </a:r>
                      <a:r>
                        <a:rPr lang="pl-PL" err="1"/>
                        <a:t>presentation</a:t>
                      </a:r>
                      <a:r>
                        <a:rPr lang="pl-PL"/>
                        <a:t>]</a:t>
                      </a:r>
                    </a:p>
                  </a:txBody>
                  <a:tcPr anchor="ctr"/>
                </a:tc>
                <a:extLst>
                  <a:ext uri="{0D108BD9-81ED-4DB2-BD59-A6C34878D82A}">
                    <a16:rowId xmlns:a16="http://schemas.microsoft.com/office/drawing/2014/main" val="131899610"/>
                  </a:ext>
                </a:extLst>
              </a:tr>
            </a:tbl>
          </a:graphicData>
        </a:graphic>
      </p:graphicFrame>
    </p:spTree>
    <p:extLst>
      <p:ext uri="{BB962C8B-B14F-4D97-AF65-F5344CB8AC3E}">
        <p14:creationId xmlns:p14="http://schemas.microsoft.com/office/powerpoint/2010/main" val="3257460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CD34E-D77A-9B1D-7F5D-876232C56E65}"/>
            </a:ext>
          </a:extLst>
        </p:cNvPr>
        <p:cNvGrpSpPr/>
        <p:nvPr/>
      </p:nvGrpSpPr>
      <p:grpSpPr>
        <a:xfrm>
          <a:off x="0" y="0"/>
          <a:ext cx="0" cy="0"/>
          <a:chOff x="0" y="0"/>
          <a:chExt cx="0" cy="0"/>
        </a:xfrm>
      </p:grpSpPr>
      <p:sp>
        <p:nvSpPr>
          <p:cNvPr id="15" name="Rectángulo 14">
            <a:extLst>
              <a:ext uri="{FF2B5EF4-FFF2-40B4-BE49-F238E27FC236}">
                <a16:creationId xmlns:a16="http://schemas.microsoft.com/office/drawing/2014/main" id="{D52B99E7-95AB-D977-87EC-712475841891}"/>
              </a:ext>
            </a:extLst>
          </p:cNvPr>
          <p:cNvSpPr>
            <a:spLocks noChangeAspect="1"/>
          </p:cNvSpPr>
          <p:nvPr/>
        </p:nvSpPr>
        <p:spPr>
          <a:xfrm>
            <a:off x="83891" y="90348"/>
            <a:ext cx="12004646" cy="6677304"/>
          </a:xfrm>
          <a:prstGeom prst="rect">
            <a:avLst/>
          </a:prstGeom>
          <a:noFill/>
          <a:ln w="76200" cmpd="thinThick">
            <a:solidFill>
              <a:srgbClr val="789A8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Texto, Logotipo&#10;&#10;El contenido generado por IA puede ser incorrecto.">
            <a:extLst>
              <a:ext uri="{FF2B5EF4-FFF2-40B4-BE49-F238E27FC236}">
                <a16:creationId xmlns:a16="http://schemas.microsoft.com/office/drawing/2014/main" id="{1C20CE8E-0BF4-9F2A-0A6F-8DD59BC075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91" y="-1177201"/>
            <a:ext cx="3385490" cy="3385490"/>
          </a:xfrm>
          <a:prstGeom prst="rect">
            <a:avLst/>
          </a:prstGeom>
        </p:spPr>
      </p:pic>
      <p:pic>
        <p:nvPicPr>
          <p:cNvPr id="4" name="Imagen 3">
            <a:extLst>
              <a:ext uri="{FF2B5EF4-FFF2-40B4-BE49-F238E27FC236}">
                <a16:creationId xmlns:a16="http://schemas.microsoft.com/office/drawing/2014/main" id="{E84B0178-A705-0097-2DAE-258212AE96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409" y="6199325"/>
            <a:ext cx="2103288" cy="469270"/>
          </a:xfrm>
          <a:prstGeom prst="rect">
            <a:avLst/>
          </a:prstGeom>
        </p:spPr>
      </p:pic>
      <p:pic>
        <p:nvPicPr>
          <p:cNvPr id="6" name="Imagen 5">
            <a:extLst>
              <a:ext uri="{FF2B5EF4-FFF2-40B4-BE49-F238E27FC236}">
                <a16:creationId xmlns:a16="http://schemas.microsoft.com/office/drawing/2014/main" id="{FB940659-0F70-694F-2D5F-791BD561D1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50679" y="6116155"/>
            <a:ext cx="1811912" cy="583458"/>
          </a:xfrm>
          <a:prstGeom prst="rect">
            <a:avLst/>
          </a:prstGeom>
        </p:spPr>
      </p:pic>
      <p:grpSp>
        <p:nvGrpSpPr>
          <p:cNvPr id="9" name="Grupo 8">
            <a:extLst>
              <a:ext uri="{FF2B5EF4-FFF2-40B4-BE49-F238E27FC236}">
                <a16:creationId xmlns:a16="http://schemas.microsoft.com/office/drawing/2014/main" id="{B54BDA49-6CB0-8BC1-5258-549F12948006}"/>
              </a:ext>
            </a:extLst>
          </p:cNvPr>
          <p:cNvGrpSpPr/>
          <p:nvPr/>
        </p:nvGrpSpPr>
        <p:grpSpPr>
          <a:xfrm>
            <a:off x="7559052" y="208375"/>
            <a:ext cx="4403539" cy="519267"/>
            <a:chOff x="7559052" y="208375"/>
            <a:chExt cx="4403539" cy="519267"/>
          </a:xfrm>
        </p:grpSpPr>
        <p:pic>
          <p:nvPicPr>
            <p:cNvPr id="10" name="Imagen 9">
              <a:extLst>
                <a:ext uri="{FF2B5EF4-FFF2-40B4-BE49-F238E27FC236}">
                  <a16:creationId xmlns:a16="http://schemas.microsoft.com/office/drawing/2014/main" id="{E639C061-4580-1FDE-E12D-0A25A57FDF45}"/>
                </a:ext>
              </a:extLst>
            </p:cNvPr>
            <p:cNvPicPr>
              <a:picLocks noChangeAspect="1"/>
            </p:cNvPicPr>
            <p:nvPr/>
          </p:nvPicPr>
          <p:blipFill rotWithShape="1">
            <a:blip r:embed="rId5"/>
            <a:srcRect l="31277"/>
            <a:stretch/>
          </p:blipFill>
          <p:spPr>
            <a:xfrm>
              <a:off x="8964728" y="208375"/>
              <a:ext cx="2997863" cy="514918"/>
            </a:xfrm>
            <a:prstGeom prst="rect">
              <a:avLst/>
            </a:prstGeom>
          </p:spPr>
        </p:pic>
        <p:pic>
          <p:nvPicPr>
            <p:cNvPr id="11" name="Imagen 10">
              <a:extLst>
                <a:ext uri="{FF2B5EF4-FFF2-40B4-BE49-F238E27FC236}">
                  <a16:creationId xmlns:a16="http://schemas.microsoft.com/office/drawing/2014/main" id="{EF93837F-0319-D78B-31F4-31B22AD8C5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80514" y="238656"/>
              <a:ext cx="484214" cy="454355"/>
            </a:xfrm>
            <a:prstGeom prst="rect">
              <a:avLst/>
            </a:prstGeom>
          </p:spPr>
        </p:pic>
        <p:pic>
          <p:nvPicPr>
            <p:cNvPr id="12" name="Imagen 11">
              <a:extLst>
                <a:ext uri="{FF2B5EF4-FFF2-40B4-BE49-F238E27FC236}">
                  <a16:creationId xmlns:a16="http://schemas.microsoft.com/office/drawing/2014/main" id="{7CF27E05-D51C-A356-DEBB-ED1ACA36B7F9}"/>
                </a:ext>
              </a:extLst>
            </p:cNvPr>
            <p:cNvPicPr>
              <a:picLocks noChangeAspect="1"/>
            </p:cNvPicPr>
            <p:nvPr/>
          </p:nvPicPr>
          <p:blipFill rotWithShape="1">
            <a:blip r:embed="rId5"/>
            <a:srcRect r="78876"/>
            <a:stretch/>
          </p:blipFill>
          <p:spPr>
            <a:xfrm>
              <a:off x="7559052" y="212724"/>
              <a:ext cx="921462" cy="514918"/>
            </a:xfrm>
            <a:prstGeom prst="rect">
              <a:avLst/>
            </a:prstGeom>
          </p:spPr>
        </p:pic>
      </p:grpSp>
      <p:graphicFrame>
        <p:nvGraphicFramePr>
          <p:cNvPr id="20" name="Tabela 19">
            <a:extLst>
              <a:ext uri="{FF2B5EF4-FFF2-40B4-BE49-F238E27FC236}">
                <a16:creationId xmlns:a16="http://schemas.microsoft.com/office/drawing/2014/main" id="{FE371F01-E2E3-7FA1-A5C1-371CE5D6F0C4}"/>
              </a:ext>
            </a:extLst>
          </p:cNvPr>
          <p:cNvGraphicFramePr>
            <a:graphicFrameLocks noGrp="1"/>
          </p:cNvGraphicFramePr>
          <p:nvPr>
            <p:extLst>
              <p:ext uri="{D42A27DB-BD31-4B8C-83A1-F6EECF244321}">
                <p14:modId xmlns:p14="http://schemas.microsoft.com/office/powerpoint/2010/main" val="349692628"/>
              </p:ext>
            </p:extLst>
          </p:nvPr>
        </p:nvGraphicFramePr>
        <p:xfrm>
          <a:off x="838200" y="2128499"/>
          <a:ext cx="10515600" cy="2926080"/>
        </p:xfrm>
        <a:graphic>
          <a:graphicData uri="http://schemas.openxmlformats.org/drawingml/2006/table">
            <a:tbl>
              <a:tblPr firstRow="1" firstCol="1" bandCol="1">
                <a:tableStyleId>{B301B821-A1FF-4177-AEE7-76D212191A09}</a:tableStyleId>
              </a:tblPr>
              <a:tblGrid>
                <a:gridCol w="3505200">
                  <a:extLst>
                    <a:ext uri="{9D8B030D-6E8A-4147-A177-3AD203B41FA5}">
                      <a16:colId xmlns:a16="http://schemas.microsoft.com/office/drawing/2014/main" val="999827520"/>
                    </a:ext>
                  </a:extLst>
                </a:gridCol>
                <a:gridCol w="3505200">
                  <a:extLst>
                    <a:ext uri="{9D8B030D-6E8A-4147-A177-3AD203B41FA5}">
                      <a16:colId xmlns:a16="http://schemas.microsoft.com/office/drawing/2014/main" val="3791912942"/>
                    </a:ext>
                  </a:extLst>
                </a:gridCol>
                <a:gridCol w="3505200">
                  <a:extLst>
                    <a:ext uri="{9D8B030D-6E8A-4147-A177-3AD203B41FA5}">
                      <a16:colId xmlns:a16="http://schemas.microsoft.com/office/drawing/2014/main" val="3880819710"/>
                    </a:ext>
                  </a:extLst>
                </a:gridCol>
              </a:tblGrid>
              <a:tr h="0">
                <a:tc>
                  <a:txBody>
                    <a:bodyPr/>
                    <a:lstStyle/>
                    <a:p>
                      <a:pPr>
                        <a:buNone/>
                      </a:pPr>
                      <a:r>
                        <a:rPr lang="pl-PL"/>
                        <a:t>Task</a:t>
                      </a:r>
                    </a:p>
                  </a:txBody>
                  <a:tcPr anchor="ctr"/>
                </a:tc>
                <a:tc>
                  <a:txBody>
                    <a:bodyPr/>
                    <a:lstStyle/>
                    <a:p>
                      <a:pPr>
                        <a:buNone/>
                      </a:pPr>
                      <a:r>
                        <a:rPr lang="pl-PL"/>
                        <a:t>Responsible person</a:t>
                      </a:r>
                    </a:p>
                  </a:txBody>
                  <a:tcPr anchor="ctr"/>
                </a:tc>
                <a:tc>
                  <a:txBody>
                    <a:bodyPr/>
                    <a:lstStyle/>
                    <a:p>
                      <a:pPr>
                        <a:buNone/>
                      </a:pPr>
                      <a:r>
                        <a:rPr lang="pl-PL"/>
                        <a:t>Deadline</a:t>
                      </a:r>
                    </a:p>
                  </a:txBody>
                  <a:tcPr anchor="ctr"/>
                </a:tc>
                <a:extLst>
                  <a:ext uri="{0D108BD9-81ED-4DB2-BD59-A6C34878D82A}">
                    <a16:rowId xmlns:a16="http://schemas.microsoft.com/office/drawing/2014/main" val="630976057"/>
                  </a:ext>
                </a:extLst>
              </a:tr>
              <a:tr h="0">
                <a:tc>
                  <a:txBody>
                    <a:bodyPr/>
                    <a:lstStyle/>
                    <a:p>
                      <a:pPr>
                        <a:buNone/>
                      </a:pPr>
                      <a:r>
                        <a:rPr lang="pl-PL"/>
                        <a:t>Complete measurements</a:t>
                      </a:r>
                    </a:p>
                  </a:txBody>
                  <a:tcPr anchor="ctr"/>
                </a:tc>
                <a:tc>
                  <a:txBody>
                    <a:bodyPr/>
                    <a:lstStyle/>
                    <a:p>
                      <a:pPr>
                        <a:buNone/>
                      </a:pPr>
                      <a:r>
                        <a:rPr lang="pl-PL"/>
                        <a:t>-</a:t>
                      </a:r>
                    </a:p>
                  </a:txBody>
                  <a:tcPr anchor="ctr"/>
                </a:tc>
                <a:tc>
                  <a:txBody>
                    <a:bodyPr/>
                    <a:lstStyle/>
                    <a:p>
                      <a:pPr>
                        <a:buNone/>
                      </a:pPr>
                      <a:r>
                        <a:rPr lang="pl-PL"/>
                        <a:t>-</a:t>
                      </a:r>
                    </a:p>
                  </a:txBody>
                  <a:tcPr anchor="ctr"/>
                </a:tc>
                <a:extLst>
                  <a:ext uri="{0D108BD9-81ED-4DB2-BD59-A6C34878D82A}">
                    <a16:rowId xmlns:a16="http://schemas.microsoft.com/office/drawing/2014/main" val="4091899771"/>
                  </a:ext>
                </a:extLst>
              </a:tr>
              <a:tr h="0">
                <a:tc>
                  <a:txBody>
                    <a:bodyPr/>
                    <a:lstStyle/>
                    <a:p>
                      <a:pPr>
                        <a:buNone/>
                      </a:pPr>
                      <a:r>
                        <a:rPr lang="pl-PL"/>
                        <a:t>Prepare graphs</a:t>
                      </a:r>
                    </a:p>
                  </a:txBody>
                  <a:tcPr anchor="ctr"/>
                </a:tc>
                <a:tc>
                  <a:txBody>
                    <a:bodyPr/>
                    <a:lstStyle/>
                    <a:p>
                      <a:pPr>
                        <a:buNone/>
                      </a:pPr>
                      <a:r>
                        <a:rPr lang="pl-PL"/>
                        <a:t>Patryk Januś</a:t>
                      </a:r>
                    </a:p>
                  </a:txBody>
                  <a:tcPr anchor="ctr"/>
                </a:tc>
                <a:tc>
                  <a:txBody>
                    <a:bodyPr/>
                    <a:lstStyle/>
                    <a:p>
                      <a:pPr>
                        <a:buNone/>
                      </a:pPr>
                      <a:r>
                        <a:rPr lang="pl-PL"/>
                        <a:t>20.06.2026</a:t>
                      </a:r>
                    </a:p>
                  </a:txBody>
                  <a:tcPr anchor="ctr"/>
                </a:tc>
                <a:extLst>
                  <a:ext uri="{0D108BD9-81ED-4DB2-BD59-A6C34878D82A}">
                    <a16:rowId xmlns:a16="http://schemas.microsoft.com/office/drawing/2014/main" val="1181146016"/>
                  </a:ext>
                </a:extLst>
              </a:tr>
              <a:tr h="0">
                <a:tc>
                  <a:txBody>
                    <a:bodyPr/>
                    <a:lstStyle/>
                    <a:p>
                      <a:pPr>
                        <a:buNone/>
                      </a:pPr>
                      <a:r>
                        <a:rPr lang="pl-PL"/>
                        <a:t>Describe Acquisition application</a:t>
                      </a:r>
                    </a:p>
                  </a:txBody>
                  <a:tcPr anchor="ctr"/>
                </a:tc>
                <a:tc>
                  <a:txBody>
                    <a:bodyPr/>
                    <a:lstStyle/>
                    <a:p>
                      <a:pPr>
                        <a:buNone/>
                      </a:pPr>
                      <a:r>
                        <a:rPr lang="pl-PL"/>
                        <a:t>Patryk Reiter</a:t>
                      </a:r>
                    </a:p>
                  </a:txBody>
                  <a:tcPr anchor="ctr"/>
                </a:tc>
                <a:tc>
                  <a:txBody>
                    <a:bodyPr/>
                    <a:lstStyle/>
                    <a:p>
                      <a:pPr>
                        <a:buNone/>
                      </a:pPr>
                      <a:r>
                        <a:rPr lang="pl-PL"/>
                        <a:t>20.06.2026</a:t>
                      </a:r>
                    </a:p>
                  </a:txBody>
                  <a:tcPr anchor="ctr"/>
                </a:tc>
                <a:extLst>
                  <a:ext uri="{0D108BD9-81ED-4DB2-BD59-A6C34878D82A}">
                    <a16:rowId xmlns:a16="http://schemas.microsoft.com/office/drawing/2014/main" val="1794113648"/>
                  </a:ext>
                </a:extLst>
              </a:tr>
              <a:tr h="0">
                <a:tc>
                  <a:txBody>
                    <a:bodyPr/>
                    <a:lstStyle/>
                    <a:p>
                      <a:pPr>
                        <a:buNone/>
                      </a:pPr>
                      <a:r>
                        <a:rPr lang="pl-PL"/>
                        <a:t>Write sustainability analysis</a:t>
                      </a:r>
                    </a:p>
                  </a:txBody>
                  <a:tcPr anchor="ctr"/>
                </a:tc>
                <a:tc>
                  <a:txBody>
                    <a:bodyPr/>
                    <a:lstStyle/>
                    <a:p>
                      <a:pPr>
                        <a:buNone/>
                      </a:pPr>
                      <a:r>
                        <a:rPr lang="pl-PL"/>
                        <a:t>Szymon Korzuch</a:t>
                      </a:r>
                    </a:p>
                  </a:txBody>
                  <a:tcPr anchor="ctr"/>
                </a:tc>
                <a:tc>
                  <a:txBody>
                    <a:bodyPr/>
                    <a:lstStyle/>
                    <a:p>
                      <a:pPr>
                        <a:buNone/>
                      </a:pPr>
                      <a:r>
                        <a:rPr lang="pl-PL"/>
                        <a:t>22.06.2026</a:t>
                      </a:r>
                    </a:p>
                  </a:txBody>
                  <a:tcPr anchor="ctr"/>
                </a:tc>
                <a:extLst>
                  <a:ext uri="{0D108BD9-81ED-4DB2-BD59-A6C34878D82A}">
                    <a16:rowId xmlns:a16="http://schemas.microsoft.com/office/drawing/2014/main" val="3957156316"/>
                  </a:ext>
                </a:extLst>
              </a:tr>
              <a:tr h="0">
                <a:tc>
                  <a:txBody>
                    <a:bodyPr/>
                    <a:lstStyle/>
                    <a:p>
                      <a:pPr>
                        <a:buNone/>
                      </a:pPr>
                      <a:r>
                        <a:rPr lang="pl-PL"/>
                        <a:t>Prepare final report</a:t>
                      </a:r>
                    </a:p>
                  </a:txBody>
                  <a:tcPr anchor="ctr"/>
                </a:tc>
                <a:tc>
                  <a:txBody>
                    <a:bodyPr/>
                    <a:lstStyle/>
                    <a:p>
                      <a:pPr>
                        <a:buNone/>
                      </a:pPr>
                      <a:r>
                        <a:rPr lang="pl-PL"/>
                        <a:t>All</a:t>
                      </a:r>
                    </a:p>
                  </a:txBody>
                  <a:tcPr anchor="ctr"/>
                </a:tc>
                <a:tc>
                  <a:txBody>
                    <a:bodyPr/>
                    <a:lstStyle/>
                    <a:p>
                      <a:pPr lvl="0" algn="l">
                        <a:lnSpc>
                          <a:spcPct val="100000"/>
                        </a:lnSpc>
                        <a:spcBef>
                          <a:spcPts val="0"/>
                        </a:spcBef>
                        <a:spcAft>
                          <a:spcPts val="0"/>
                        </a:spcAft>
                        <a:buNone/>
                      </a:pPr>
                      <a:r>
                        <a:rPr lang="pl-PL" sz="1800" b="0" i="0" u="none" strike="noStrike" noProof="0">
                          <a:solidFill>
                            <a:srgbClr val="000000"/>
                          </a:solidFill>
                          <a:latin typeface="Calibri"/>
                          <a:ea typeface="Calibri"/>
                          <a:cs typeface="Calibri"/>
                        </a:rPr>
                        <a:t>23.06.2026</a:t>
                      </a:r>
                    </a:p>
                  </a:txBody>
                  <a:tcPr anchor="ctr"/>
                </a:tc>
                <a:extLst>
                  <a:ext uri="{0D108BD9-81ED-4DB2-BD59-A6C34878D82A}">
                    <a16:rowId xmlns:a16="http://schemas.microsoft.com/office/drawing/2014/main" val="2688756708"/>
                  </a:ext>
                </a:extLst>
              </a:tr>
              <a:tr h="0">
                <a:tc>
                  <a:txBody>
                    <a:bodyPr/>
                    <a:lstStyle/>
                    <a:p>
                      <a:pPr>
                        <a:buNone/>
                      </a:pPr>
                      <a:r>
                        <a:rPr lang="pl-PL"/>
                        <a:t>Prepare final presentation</a:t>
                      </a:r>
                    </a:p>
                  </a:txBody>
                  <a:tcPr anchor="ctr"/>
                </a:tc>
                <a:tc>
                  <a:txBody>
                    <a:bodyPr/>
                    <a:lstStyle/>
                    <a:p>
                      <a:pPr lvl="0">
                        <a:buNone/>
                      </a:pPr>
                      <a:r>
                        <a:rPr lang="pl-PL"/>
                        <a:t>Natalia Szymeczko</a:t>
                      </a:r>
                      <a:endParaRPr lang="en-US"/>
                    </a:p>
                  </a:txBody>
                  <a:tcPr anchor="ctr"/>
                </a:tc>
                <a:tc>
                  <a:txBody>
                    <a:bodyPr/>
                    <a:lstStyle/>
                    <a:p>
                      <a:pPr lvl="0" algn="l">
                        <a:lnSpc>
                          <a:spcPct val="100000"/>
                        </a:lnSpc>
                        <a:spcBef>
                          <a:spcPts val="0"/>
                        </a:spcBef>
                        <a:spcAft>
                          <a:spcPts val="0"/>
                        </a:spcAft>
                        <a:buNone/>
                      </a:pPr>
                      <a:r>
                        <a:rPr lang="pl-PL" sz="1800" b="0" i="0" u="none" strike="noStrike" noProof="0">
                          <a:solidFill>
                            <a:srgbClr val="000000"/>
                          </a:solidFill>
                          <a:latin typeface="Calibri"/>
                          <a:ea typeface="Calibri"/>
                          <a:cs typeface="Calibri"/>
                        </a:rPr>
                        <a:t>24.06.2026</a:t>
                      </a:r>
                      <a:endParaRPr lang="en-US"/>
                    </a:p>
                  </a:txBody>
                  <a:tcPr anchor="ctr"/>
                </a:tc>
                <a:extLst>
                  <a:ext uri="{0D108BD9-81ED-4DB2-BD59-A6C34878D82A}">
                    <a16:rowId xmlns:a16="http://schemas.microsoft.com/office/drawing/2014/main" val="3072433115"/>
                  </a:ext>
                </a:extLst>
              </a:tr>
              <a:tr h="0">
                <a:tc>
                  <a:txBody>
                    <a:bodyPr/>
                    <a:lstStyle/>
                    <a:p>
                      <a:pPr>
                        <a:buNone/>
                      </a:pPr>
                      <a:r>
                        <a:rPr lang="pl-PL"/>
                        <a:t>Check files and attachments</a:t>
                      </a:r>
                    </a:p>
                  </a:txBody>
                  <a:tcPr anchor="ctr"/>
                </a:tc>
                <a:tc>
                  <a:txBody>
                    <a:bodyPr/>
                    <a:lstStyle/>
                    <a:p>
                      <a:pPr lvl="0">
                        <a:buNone/>
                      </a:pPr>
                      <a:r>
                        <a:rPr lang="pl-PL"/>
                        <a:t>Patryk Januś</a:t>
                      </a:r>
                      <a:endParaRPr lang="en-US"/>
                    </a:p>
                  </a:txBody>
                  <a:tcPr anchor="ctr"/>
                </a:tc>
                <a:tc>
                  <a:txBody>
                    <a:bodyPr/>
                    <a:lstStyle/>
                    <a:p>
                      <a:pPr lvl="0">
                        <a:buNone/>
                      </a:pPr>
                      <a:r>
                        <a:rPr lang="pl-PL"/>
                        <a:t>24.06.2026</a:t>
                      </a:r>
                      <a:endParaRPr lang="en-US"/>
                    </a:p>
                  </a:txBody>
                  <a:tcPr anchor="ctr"/>
                </a:tc>
                <a:extLst>
                  <a:ext uri="{0D108BD9-81ED-4DB2-BD59-A6C34878D82A}">
                    <a16:rowId xmlns:a16="http://schemas.microsoft.com/office/drawing/2014/main" val="3921757512"/>
                  </a:ext>
                </a:extLst>
              </a:tr>
            </a:tbl>
          </a:graphicData>
        </a:graphic>
      </p:graphicFrame>
      <p:sp>
        <p:nvSpPr>
          <p:cNvPr id="24" name="pole tekstowe 23">
            <a:extLst>
              <a:ext uri="{FF2B5EF4-FFF2-40B4-BE49-F238E27FC236}">
                <a16:creationId xmlns:a16="http://schemas.microsoft.com/office/drawing/2014/main" id="{B59437AA-A42C-3BC2-5BFC-130C352FDDEC}"/>
              </a:ext>
            </a:extLst>
          </p:cNvPr>
          <p:cNvSpPr txBox="1"/>
          <p:nvPr/>
        </p:nvSpPr>
        <p:spPr>
          <a:xfrm>
            <a:off x="729792" y="1084810"/>
            <a:ext cx="6094428" cy="400110"/>
          </a:xfrm>
          <a:prstGeom prst="rect">
            <a:avLst/>
          </a:prstGeom>
          <a:noFill/>
        </p:spPr>
        <p:txBody>
          <a:bodyPr wrap="square">
            <a:spAutoFit/>
          </a:bodyPr>
          <a:lstStyle/>
          <a:p>
            <a:r>
              <a:rPr lang="pl-PL" sz="2000" b="1" err="1">
                <a:solidFill>
                  <a:srgbClr val="1A2E52"/>
                </a:solidFill>
                <a:latin typeface="Colber"/>
              </a:rPr>
              <a:t>Tasks</a:t>
            </a:r>
            <a:r>
              <a:rPr lang="pl-PL" sz="2000" b="1">
                <a:solidFill>
                  <a:srgbClr val="1A2E52"/>
                </a:solidFill>
                <a:latin typeface="Colber"/>
              </a:rPr>
              <a:t> </a:t>
            </a:r>
            <a:r>
              <a:rPr lang="pl-PL" sz="2000" b="1" err="1">
                <a:solidFill>
                  <a:srgbClr val="1A2E52"/>
                </a:solidFill>
                <a:latin typeface="Colber"/>
              </a:rPr>
              <a:t>Before</a:t>
            </a:r>
            <a:r>
              <a:rPr lang="pl-PL" sz="2000" b="1">
                <a:solidFill>
                  <a:srgbClr val="1A2E52"/>
                </a:solidFill>
                <a:latin typeface="Colber"/>
              </a:rPr>
              <a:t> Meeting 4 (</a:t>
            </a:r>
            <a:r>
              <a:rPr lang="en-US" sz="2000" b="1">
                <a:solidFill>
                  <a:srgbClr val="1A2E52"/>
                </a:solidFill>
                <a:latin typeface="Colber"/>
              </a:rPr>
              <a:t>Time: </a:t>
            </a:r>
            <a:r>
              <a:rPr lang="pl-PL" sz="2000" b="1">
                <a:solidFill>
                  <a:srgbClr val="1A2E52"/>
                </a:solidFill>
                <a:latin typeface="Colber"/>
              </a:rPr>
              <a:t>15</a:t>
            </a:r>
            <a:r>
              <a:rPr lang="en-US" sz="2000" b="1">
                <a:solidFill>
                  <a:srgbClr val="1A2E52"/>
                </a:solidFill>
                <a:latin typeface="Colber"/>
              </a:rPr>
              <a:t> min</a:t>
            </a:r>
            <a:r>
              <a:rPr lang="pl-PL" sz="2000" b="1">
                <a:solidFill>
                  <a:srgbClr val="1A2E52"/>
                </a:solidFill>
                <a:latin typeface="Colber"/>
              </a:rPr>
              <a:t>)</a:t>
            </a:r>
          </a:p>
        </p:txBody>
      </p:sp>
    </p:spTree>
    <p:extLst>
      <p:ext uri="{BB962C8B-B14F-4D97-AF65-F5344CB8AC3E}">
        <p14:creationId xmlns:p14="http://schemas.microsoft.com/office/powerpoint/2010/main" val="4097770234"/>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Angela Taboada</dc:creator>
  <cp:revision>1</cp:revision>
  <cp:lastPrinted>2024-11-29T10:54:59Z</cp:lastPrinted>
  <dcterms:created xsi:type="dcterms:W3CDTF">2024-11-05T11:34:46Z</dcterms:created>
  <dcterms:modified xsi:type="dcterms:W3CDTF">2026-06-23T20:11:39Z</dcterms:modified>
</cp:coreProperties>
</file>