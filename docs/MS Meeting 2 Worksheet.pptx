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82" r:id="rId4"/>
    <p:sldId id="292" r:id="rId5"/>
    <p:sldId id="294" r:id="rId6"/>
    <p:sldId id="293" r:id="rId7"/>
    <p:sldId id="280" r:id="rId8"/>
    <p:sldId id="295" r:id="rId9"/>
    <p:sldId id="296" r:id="rId10"/>
    <p:sldId id="305" r:id="rId11"/>
    <p:sldId id="306" r:id="rId12"/>
    <p:sldId id="307" r:id="rId13"/>
    <p:sldId id="308" r:id="rId14"/>
    <p:sldId id="297" r:id="rId15"/>
    <p:sldId id="298" r:id="rId16"/>
    <p:sldId id="299" r:id="rId17"/>
    <p:sldId id="300" r:id="rId18"/>
    <p:sldId id="301" r:id="rId19"/>
    <p:sldId id="302" r:id="rId20"/>
    <p:sldId id="304" r:id="rId21"/>
    <p:sldId id="303" r:id="rId22"/>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E52"/>
    <a:srgbClr val="003C25"/>
    <a:srgbClr val="789A87"/>
    <a:srgbClr val="003399"/>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B0D5A-BDFA-FFF4-0897-4B61952191CA}" v="2" dt="2026-06-23T18:41:16.410"/>
    <p1510:client id="{7F3198CE-E90A-600E-C70E-3E9E52DB68D3}" v="31" dt="2026-06-23T18:40:01.721"/>
    <p1510:client id="{E8285D67-417D-2134-EDFD-8E6D6D359C5B}" v="4" dt="2026-06-23T18:40:24.942"/>
    <p1510:client id="{F886A3B1-1EFC-F704-167B-93E1C06D14E9}" v="3761" dt="2026-06-23T19:31:36.405"/>
  </p1510:revLst>
</p1510:revInfo>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 pośredni 1 — Ak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yk Januś (pj317575)" userId="S::pj317575@student.polsl.pl::2e0068ae-d800-4b4d-bfb4-1c1af6e40c59" providerId="AD" clId="Web-{E8285D67-417D-2134-EDFD-8E6D6D359C5B}"/>
    <pc:docChg chg="modSld">
      <pc:chgData name="Patryk Januś (pj317575)" userId="S::pj317575@student.polsl.pl::2e0068ae-d800-4b4d-bfb4-1c1af6e40c59" providerId="AD" clId="Web-{E8285D67-417D-2134-EDFD-8E6D6D359C5B}" dt="2026-06-23T18:40:24.942" v="3"/>
      <pc:docMkLst>
        <pc:docMk/>
      </pc:docMkLst>
      <pc:sldChg chg="delSp">
        <pc:chgData name="Patryk Januś (pj317575)" userId="S::pj317575@student.polsl.pl::2e0068ae-d800-4b4d-bfb4-1c1af6e40c59" providerId="AD" clId="Web-{E8285D67-417D-2134-EDFD-8E6D6D359C5B}" dt="2026-06-23T18:40:24.942" v="3"/>
        <pc:sldMkLst>
          <pc:docMk/>
          <pc:sldMk cId="3138704867" sldId="294"/>
        </pc:sldMkLst>
        <pc:picChg chg="del">
          <ac:chgData name="Patryk Januś (pj317575)" userId="S::pj317575@student.polsl.pl::2e0068ae-d800-4b4d-bfb4-1c1af6e40c59" providerId="AD" clId="Web-{E8285D67-417D-2134-EDFD-8E6D6D359C5B}" dt="2026-06-23T18:40:24.942" v="3"/>
          <ac:picMkLst>
            <pc:docMk/>
            <pc:sldMk cId="3138704867" sldId="294"/>
            <ac:picMk id="2" creationId="{627CC7A8-E6E2-0894-D186-CA9A235BE152}"/>
          </ac:picMkLst>
        </pc:picChg>
      </pc:sldChg>
    </pc:docChg>
  </pc:docChgLst>
  <pc:docChgLst>
    <pc:chgData name="Natalia Szymeczko (ns317565)" userId="S::ns317565@student.polsl.pl::4f3650a5-1d33-4815-b7ec-5b3c3d095894" providerId="AD" clId="Web-{F886A3B1-1EFC-F704-167B-93E1C06D14E9}"/>
    <pc:docChg chg="addSld modSld">
      <pc:chgData name="Natalia Szymeczko (ns317565)" userId="S::ns317565@student.polsl.pl::4f3650a5-1d33-4815-b7ec-5b3c3d095894" providerId="AD" clId="Web-{F886A3B1-1EFC-F704-167B-93E1C06D14E9}" dt="2026-06-23T19:31:36.405" v="3120"/>
      <pc:docMkLst>
        <pc:docMk/>
      </pc:docMkLst>
      <pc:sldChg chg="modSp">
        <pc:chgData name="Natalia Szymeczko (ns317565)" userId="S::ns317565@student.polsl.pl::4f3650a5-1d33-4815-b7ec-5b3c3d095894" providerId="AD" clId="Web-{F886A3B1-1EFC-F704-167B-93E1C06D14E9}" dt="2026-06-23T18:28:07.718" v="6" actId="20577"/>
        <pc:sldMkLst>
          <pc:docMk/>
          <pc:sldMk cId="1620291090" sldId="256"/>
        </pc:sldMkLst>
        <pc:spChg chg="mod">
          <ac:chgData name="Natalia Szymeczko (ns317565)" userId="S::ns317565@student.polsl.pl::4f3650a5-1d33-4815-b7ec-5b3c3d095894" providerId="AD" clId="Web-{F886A3B1-1EFC-F704-167B-93E1C06D14E9}" dt="2026-06-23T18:28:07.718" v="6" actId="20577"/>
          <ac:spMkLst>
            <pc:docMk/>
            <pc:sldMk cId="1620291090" sldId="256"/>
            <ac:spMk id="20" creationId="{079C4AC3-BC0A-4AAD-8E37-2965FED5A733}"/>
          </ac:spMkLst>
        </pc:spChg>
      </pc:sldChg>
      <pc:sldChg chg="addSp delSp modSp">
        <pc:chgData name="Natalia Szymeczko (ns317565)" userId="S::ns317565@student.polsl.pl::4f3650a5-1d33-4815-b7ec-5b3c3d095894" providerId="AD" clId="Web-{F886A3B1-1EFC-F704-167B-93E1C06D14E9}" dt="2026-06-23T19:26:50.104" v="2941" actId="20577"/>
        <pc:sldMkLst>
          <pc:docMk/>
          <pc:sldMk cId="3138704867" sldId="294"/>
        </pc:sldMkLst>
        <pc:spChg chg="mod">
          <ac:chgData name="Natalia Szymeczko (ns317565)" userId="S::ns317565@student.polsl.pl::4f3650a5-1d33-4815-b7ec-5b3c3d095894" providerId="AD" clId="Web-{F886A3B1-1EFC-F704-167B-93E1C06D14E9}" dt="2026-06-23T19:26:50.104" v="2941" actId="20577"/>
          <ac:spMkLst>
            <pc:docMk/>
            <pc:sldMk cId="3138704867" sldId="294"/>
            <ac:spMk id="5" creationId="{0FA3F498-CD15-7D50-00DB-B4418C840DD2}"/>
          </ac:spMkLst>
        </pc:spChg>
        <pc:spChg chg="mod">
          <ac:chgData name="Natalia Szymeczko (ns317565)" userId="S::ns317565@student.polsl.pl::4f3650a5-1d33-4815-b7ec-5b3c3d095894" providerId="AD" clId="Web-{F886A3B1-1EFC-F704-167B-93E1C06D14E9}" dt="2026-06-23T18:33:23.916" v="528" actId="1076"/>
          <ac:spMkLst>
            <pc:docMk/>
            <pc:sldMk cId="3138704867" sldId="294"/>
            <ac:spMk id="7" creationId="{001B88FA-F474-871B-1E27-ABF78053D2B2}"/>
          </ac:spMkLst>
        </pc:spChg>
        <pc:spChg chg="mod">
          <ac:chgData name="Natalia Szymeczko (ns317565)" userId="S::ns317565@student.polsl.pl::4f3650a5-1d33-4815-b7ec-5b3c3d095894" providerId="AD" clId="Web-{F886A3B1-1EFC-F704-167B-93E1C06D14E9}" dt="2026-06-23T18:33:11.852" v="463" actId="1076"/>
          <ac:spMkLst>
            <pc:docMk/>
            <pc:sldMk cId="3138704867" sldId="294"/>
            <ac:spMk id="15" creationId="{ED70969D-D295-08C2-2C7A-263367C568FD}"/>
          </ac:spMkLst>
        </pc:spChg>
        <pc:grpChg chg="mod">
          <ac:chgData name="Natalia Szymeczko (ns317565)" userId="S::ns317565@student.polsl.pl::4f3650a5-1d33-4815-b7ec-5b3c3d095894" providerId="AD" clId="Web-{F886A3B1-1EFC-F704-167B-93E1C06D14E9}" dt="2026-06-23T18:31:43.048" v="112" actId="1076"/>
          <ac:grpSpMkLst>
            <pc:docMk/>
            <pc:sldMk cId="3138704867" sldId="294"/>
            <ac:grpSpMk id="9" creationId="{8D0A706B-8AAB-C325-4D79-6939EC51ECC7}"/>
          </ac:grpSpMkLst>
        </pc:grpChg>
        <pc:picChg chg="del mod modCrop">
          <ac:chgData name="Natalia Szymeczko (ns317565)" userId="S::ns317565@student.polsl.pl::4f3650a5-1d33-4815-b7ec-5b3c3d095894" providerId="AD" clId="Web-{F886A3B1-1EFC-F704-167B-93E1C06D14E9}" dt="2026-06-23T18:40:25.336" v="2137"/>
          <ac:picMkLst>
            <pc:docMk/>
            <pc:sldMk cId="3138704867" sldId="294"/>
            <ac:picMk id="2" creationId="{627CC7A8-E6E2-0894-D186-CA9A235BE152}"/>
          </ac:picMkLst>
        </pc:picChg>
        <pc:picChg chg="add del mod modCrop">
          <ac:chgData name="Natalia Szymeczko (ns317565)" userId="S::ns317565@student.polsl.pl::4f3650a5-1d33-4815-b7ec-5b3c3d095894" providerId="AD" clId="Web-{F886A3B1-1EFC-F704-167B-93E1C06D14E9}" dt="2026-06-23T18:31:23.515" v="101"/>
          <ac:picMkLst>
            <pc:docMk/>
            <pc:sldMk cId="3138704867" sldId="294"/>
            <ac:picMk id="2" creationId="{7199349A-AE25-EAB0-0136-9CAB574F2A16}"/>
          </ac:picMkLst>
        </pc:picChg>
        <pc:picChg chg="add del mod">
          <ac:chgData name="Natalia Szymeczko (ns317565)" userId="S::ns317565@student.polsl.pl::4f3650a5-1d33-4815-b7ec-5b3c3d095894" providerId="AD" clId="Web-{F886A3B1-1EFC-F704-167B-93E1C06D14E9}" dt="2026-06-23T18:31:36.626" v="109"/>
          <ac:picMkLst>
            <pc:docMk/>
            <pc:sldMk cId="3138704867" sldId="294"/>
            <ac:picMk id="8" creationId="{5CFE4436-B478-775E-C3A1-5512FDAF4C30}"/>
          </ac:picMkLst>
        </pc:picChg>
        <pc:picChg chg="add del mod">
          <ac:chgData name="Natalia Szymeczko (ns317565)" userId="S::ns317565@student.polsl.pl::4f3650a5-1d33-4815-b7ec-5b3c3d095894" providerId="AD" clId="Web-{F886A3B1-1EFC-F704-167B-93E1C06D14E9}" dt="2026-06-23T18:31:44.423" v="113"/>
          <ac:picMkLst>
            <pc:docMk/>
            <pc:sldMk cId="3138704867" sldId="294"/>
            <ac:picMk id="13" creationId="{4AE75177-B0AF-7B27-AAE9-232AB6BDE658}"/>
          </ac:picMkLst>
        </pc:picChg>
        <pc:picChg chg="add del mod modCrop">
          <ac:chgData name="Natalia Szymeczko (ns317565)" userId="S::ns317565@student.polsl.pl::4f3650a5-1d33-4815-b7ec-5b3c3d095894" providerId="AD" clId="Web-{F886A3B1-1EFC-F704-167B-93E1C06D14E9}" dt="2026-06-23T18:33:50.183" v="755"/>
          <ac:picMkLst>
            <pc:docMk/>
            <pc:sldMk cId="3138704867" sldId="294"/>
            <ac:picMk id="14" creationId="{84B191BA-EA52-F56C-5094-84AF2B6C77BB}"/>
          </ac:picMkLst>
        </pc:picChg>
        <pc:picChg chg="add del mod modCrop">
          <ac:chgData name="Natalia Szymeczko (ns317565)" userId="S::ns317565@student.polsl.pl::4f3650a5-1d33-4815-b7ec-5b3c3d095894" providerId="AD" clId="Web-{F886A3B1-1EFC-F704-167B-93E1C06D14E9}" dt="2026-06-23T18:33:49.136" v="750"/>
          <ac:picMkLst>
            <pc:docMk/>
            <pc:sldMk cId="3138704867" sldId="294"/>
            <ac:picMk id="17" creationId="{6CB020F7-5A5B-925F-DD4A-C0BE881906D0}"/>
          </ac:picMkLst>
        </pc:picChg>
        <pc:picChg chg="add mod">
          <ac:chgData name="Natalia Szymeczko (ns317565)" userId="S::ns317565@student.polsl.pl::4f3650a5-1d33-4815-b7ec-5b3c3d095894" providerId="AD" clId="Web-{F886A3B1-1EFC-F704-167B-93E1C06D14E9}" dt="2026-06-23T18:36:28.867" v="758"/>
          <ac:picMkLst>
            <pc:docMk/>
            <pc:sldMk cId="3138704867" sldId="294"/>
            <ac:picMk id="18" creationId="{C9E2B26D-6738-6C45-EB48-5C3FF839868A}"/>
          </ac:picMkLst>
        </pc:picChg>
        <pc:picChg chg="add del mod modCrop">
          <ac:chgData name="Natalia Szymeczko (ns317565)" userId="S::ns317565@student.polsl.pl::4f3650a5-1d33-4815-b7ec-5b3c3d095894" providerId="AD" clId="Web-{F886A3B1-1EFC-F704-167B-93E1C06D14E9}" dt="2026-06-23T18:39:38.973" v="1822"/>
          <ac:picMkLst>
            <pc:docMk/>
            <pc:sldMk cId="3138704867" sldId="294"/>
            <ac:picMk id="19" creationId="{4EE85FBC-B7F7-AC0C-9E30-FB5116C57A64}"/>
          </ac:picMkLst>
        </pc:picChg>
        <pc:picChg chg="add mod">
          <ac:chgData name="Natalia Szymeczko (ns317565)" userId="S::ns317565@student.polsl.pl::4f3650a5-1d33-4815-b7ec-5b3c3d095894" providerId="AD" clId="Web-{F886A3B1-1EFC-F704-167B-93E1C06D14E9}" dt="2026-06-23T19:26:45.463" v="2937" actId="1076"/>
          <ac:picMkLst>
            <pc:docMk/>
            <pc:sldMk cId="3138704867" sldId="294"/>
            <ac:picMk id="20" creationId="{BFFFCCAB-E0F7-8A06-F531-86E7E39BD576}"/>
          </ac:picMkLst>
        </pc:picChg>
      </pc:sldChg>
      <pc:sldChg chg="addSp delSp modSp">
        <pc:chgData name="Natalia Szymeczko (ns317565)" userId="S::ns317565@student.polsl.pl::4f3650a5-1d33-4815-b7ec-5b3c3d095894" providerId="AD" clId="Web-{F886A3B1-1EFC-F704-167B-93E1C06D14E9}" dt="2026-06-23T18:54:31.617" v="2748" actId="20577"/>
        <pc:sldMkLst>
          <pc:docMk/>
          <pc:sldMk cId="3147078056" sldId="296"/>
        </pc:sldMkLst>
        <pc:spChg chg="mod">
          <ac:chgData name="Natalia Szymeczko (ns317565)" userId="S::ns317565@student.polsl.pl::4f3650a5-1d33-4815-b7ec-5b3c3d095894" providerId="AD" clId="Web-{F886A3B1-1EFC-F704-167B-93E1C06D14E9}" dt="2026-06-23T18:54:31.617" v="2748" actId="20577"/>
          <ac:spMkLst>
            <pc:docMk/>
            <pc:sldMk cId="3147078056" sldId="296"/>
            <ac:spMk id="7" creationId="{84E5F62B-286F-C79B-E32C-AB30BA3985FD}"/>
          </ac:spMkLst>
        </pc:spChg>
        <pc:spChg chg="add del mod">
          <ac:chgData name="Natalia Szymeczko (ns317565)" userId="S::ns317565@student.polsl.pl::4f3650a5-1d33-4815-b7ec-5b3c3d095894" providerId="AD" clId="Web-{F886A3B1-1EFC-F704-167B-93E1C06D14E9}" dt="2026-06-23T18:54:16.882" v="2744"/>
          <ac:spMkLst>
            <pc:docMk/>
            <pc:sldMk cId="3147078056" sldId="296"/>
            <ac:spMk id="8" creationId="{09BE7E09-2646-0411-81BD-0C0E119387F7}"/>
          </ac:spMkLst>
        </pc:spChg>
        <pc:spChg chg="mod">
          <ac:chgData name="Natalia Szymeczko (ns317565)" userId="S::ns317565@student.polsl.pl::4f3650a5-1d33-4815-b7ec-5b3c3d095894" providerId="AD" clId="Web-{F886A3B1-1EFC-F704-167B-93E1C06D14E9}" dt="2026-06-23T18:54:07.709" v="2739" actId="20577"/>
          <ac:spMkLst>
            <pc:docMk/>
            <pc:sldMk cId="3147078056" sldId="296"/>
            <ac:spMk id="15" creationId="{D66A4B7D-A943-AF57-6335-5DBDB93183F4}"/>
          </ac:spMkLst>
        </pc:spChg>
        <pc:picChg chg="add del mod">
          <ac:chgData name="Natalia Szymeczko (ns317565)" userId="S::ns317565@student.polsl.pl::4f3650a5-1d33-4815-b7ec-5b3c3d095894" providerId="AD" clId="Web-{F886A3B1-1EFC-F704-167B-93E1C06D14E9}" dt="2026-06-23T18:43:07.330" v="2141"/>
          <ac:picMkLst>
            <pc:docMk/>
            <pc:sldMk cId="3147078056" sldId="296"/>
            <ac:picMk id="2" creationId="{BF34528E-BAF3-1E38-4072-75EDB9FD4569}"/>
          </ac:picMkLst>
        </pc:picChg>
        <pc:picChg chg="add mod">
          <ac:chgData name="Natalia Szymeczko (ns317565)" userId="S::ns317565@student.polsl.pl::4f3650a5-1d33-4815-b7ec-5b3c3d095894" providerId="AD" clId="Web-{F886A3B1-1EFC-F704-167B-93E1C06D14E9}" dt="2026-06-23T18:54:27.570" v="2747" actId="14100"/>
          <ac:picMkLst>
            <pc:docMk/>
            <pc:sldMk cId="3147078056" sldId="296"/>
            <ac:picMk id="5" creationId="{ED55CA01-9CD3-3217-BF75-51B067CE88A0}"/>
          </ac:picMkLst>
        </pc:picChg>
      </pc:sldChg>
      <pc:sldChg chg="addSp delSp modSp">
        <pc:chgData name="Natalia Szymeczko (ns317565)" userId="S::ns317565@student.polsl.pl::4f3650a5-1d33-4815-b7ec-5b3c3d095894" providerId="AD" clId="Web-{F886A3B1-1EFC-F704-167B-93E1C06D14E9}" dt="2026-06-23T18:56:09.187" v="2775" actId="20577"/>
        <pc:sldMkLst>
          <pc:docMk/>
          <pc:sldMk cId="2526182815" sldId="297"/>
        </pc:sldMkLst>
        <pc:spChg chg="mod">
          <ac:chgData name="Natalia Szymeczko (ns317565)" userId="S::ns317565@student.polsl.pl::4f3650a5-1d33-4815-b7ec-5b3c3d095894" providerId="AD" clId="Web-{F886A3B1-1EFC-F704-167B-93E1C06D14E9}" dt="2026-06-23T18:54:46.384" v="2751" actId="14100"/>
          <ac:spMkLst>
            <pc:docMk/>
            <pc:sldMk cId="2526182815" sldId="297"/>
            <ac:spMk id="3" creationId="{978DE111-57C3-031C-917D-221432FB3888}"/>
          </ac:spMkLst>
        </pc:spChg>
        <pc:spChg chg="mod">
          <ac:chgData name="Natalia Szymeczko (ns317565)" userId="S::ns317565@student.polsl.pl::4f3650a5-1d33-4815-b7ec-5b3c3d095894" providerId="AD" clId="Web-{F886A3B1-1EFC-F704-167B-93E1C06D14E9}" dt="2026-06-23T18:56:09.187" v="2775" actId="20577"/>
          <ac:spMkLst>
            <pc:docMk/>
            <pc:sldMk cId="2526182815" sldId="297"/>
            <ac:spMk id="7" creationId="{77BDD975-74AA-1582-251A-B2A6BD741C22}"/>
          </ac:spMkLst>
        </pc:spChg>
        <pc:picChg chg="add del mod">
          <ac:chgData name="Natalia Szymeczko (ns317565)" userId="S::ns317565@student.polsl.pl::4f3650a5-1d33-4815-b7ec-5b3c3d095894" providerId="AD" clId="Web-{F886A3B1-1EFC-F704-167B-93E1C06D14E9}" dt="2026-06-23T18:46:27.892" v="2170"/>
          <ac:picMkLst>
            <pc:docMk/>
            <pc:sldMk cId="2526182815" sldId="297"/>
            <ac:picMk id="2" creationId="{2F5E79BA-AB28-78EB-2A79-9A6F6E2C66DA}"/>
          </ac:picMkLst>
        </pc:picChg>
        <pc:picChg chg="add mod">
          <ac:chgData name="Natalia Szymeczko (ns317565)" userId="S::ns317565@student.polsl.pl::4f3650a5-1d33-4815-b7ec-5b3c3d095894" providerId="AD" clId="Web-{F886A3B1-1EFC-F704-167B-93E1C06D14E9}" dt="2026-06-23T18:56:06.639" v="2773" actId="14100"/>
          <ac:picMkLst>
            <pc:docMk/>
            <pc:sldMk cId="2526182815" sldId="297"/>
            <ac:picMk id="5" creationId="{C75F3F96-4070-442B-81F8-2D6F9EA8307A}"/>
          </ac:picMkLst>
        </pc:picChg>
      </pc:sldChg>
      <pc:sldChg chg="modSp">
        <pc:chgData name="Natalia Szymeczko (ns317565)" userId="S::ns317565@student.polsl.pl::4f3650a5-1d33-4815-b7ec-5b3c3d095894" providerId="AD" clId="Web-{F886A3B1-1EFC-F704-167B-93E1C06D14E9}" dt="2026-06-23T19:11:56.896" v="2824" actId="20577"/>
        <pc:sldMkLst>
          <pc:docMk/>
          <pc:sldMk cId="3655611195" sldId="298"/>
        </pc:sldMkLst>
        <pc:spChg chg="mod">
          <ac:chgData name="Natalia Szymeczko (ns317565)" userId="S::ns317565@student.polsl.pl::4f3650a5-1d33-4815-b7ec-5b3c3d095894" providerId="AD" clId="Web-{F886A3B1-1EFC-F704-167B-93E1C06D14E9}" dt="2026-06-23T19:11:56.896" v="2824" actId="20577"/>
          <ac:spMkLst>
            <pc:docMk/>
            <pc:sldMk cId="3655611195" sldId="298"/>
            <ac:spMk id="7" creationId="{9365B1B4-3349-1C62-9548-EC94F7D4EE3F}"/>
          </ac:spMkLst>
        </pc:spChg>
      </pc:sldChg>
      <pc:sldChg chg="addSp modSp">
        <pc:chgData name="Natalia Szymeczko (ns317565)" userId="S::ns317565@student.polsl.pl::4f3650a5-1d33-4815-b7ec-5b3c3d095894" providerId="AD" clId="Web-{F886A3B1-1EFC-F704-167B-93E1C06D14E9}" dt="2026-06-23T19:15:52.130" v="2853" actId="1076"/>
        <pc:sldMkLst>
          <pc:docMk/>
          <pc:sldMk cId="1592917618" sldId="299"/>
        </pc:sldMkLst>
        <pc:spChg chg="mod">
          <ac:chgData name="Natalia Szymeczko (ns317565)" userId="S::ns317565@student.polsl.pl::4f3650a5-1d33-4815-b7ec-5b3c3d095894" providerId="AD" clId="Web-{F886A3B1-1EFC-F704-167B-93E1C06D14E9}" dt="2026-06-23T19:01:45.773" v="2777" actId="14100"/>
          <ac:spMkLst>
            <pc:docMk/>
            <pc:sldMk cId="1592917618" sldId="299"/>
            <ac:spMk id="3" creationId="{C7C23AB0-9DA2-5504-4247-E0361601DEA6}"/>
          </ac:spMkLst>
        </pc:spChg>
        <pc:spChg chg="mod">
          <ac:chgData name="Natalia Szymeczko (ns317565)" userId="S::ns317565@student.polsl.pl::4f3650a5-1d33-4815-b7ec-5b3c3d095894" providerId="AD" clId="Web-{F886A3B1-1EFC-F704-167B-93E1C06D14E9}" dt="2026-06-23T19:15:41.317" v="2850" actId="20577"/>
          <ac:spMkLst>
            <pc:docMk/>
            <pc:sldMk cId="1592917618" sldId="299"/>
            <ac:spMk id="7" creationId="{4B2021D1-D5DF-A0B3-5320-CD5FE90EB292}"/>
          </ac:spMkLst>
        </pc:spChg>
        <pc:picChg chg="add mod">
          <ac:chgData name="Natalia Szymeczko (ns317565)" userId="S::ns317565@student.polsl.pl::4f3650a5-1d33-4815-b7ec-5b3c3d095894" providerId="AD" clId="Web-{F886A3B1-1EFC-F704-167B-93E1C06D14E9}" dt="2026-06-23T19:15:52.130" v="2853" actId="1076"/>
          <ac:picMkLst>
            <pc:docMk/>
            <pc:sldMk cId="1592917618" sldId="299"/>
            <ac:picMk id="2" creationId="{AC968C7F-70B1-3495-2F86-6E185686272C}"/>
          </ac:picMkLst>
        </pc:picChg>
      </pc:sldChg>
      <pc:sldChg chg="modSp">
        <pc:chgData name="Natalia Szymeczko (ns317565)" userId="S::ns317565@student.polsl.pl::4f3650a5-1d33-4815-b7ec-5b3c3d095894" providerId="AD" clId="Web-{F886A3B1-1EFC-F704-167B-93E1C06D14E9}" dt="2026-06-23T19:19:44.177" v="2898" actId="20577"/>
        <pc:sldMkLst>
          <pc:docMk/>
          <pc:sldMk cId="3671289785" sldId="300"/>
        </pc:sldMkLst>
        <pc:spChg chg="mod">
          <ac:chgData name="Natalia Szymeczko (ns317565)" userId="S::ns317565@student.polsl.pl::4f3650a5-1d33-4815-b7ec-5b3c3d095894" providerId="AD" clId="Web-{F886A3B1-1EFC-F704-167B-93E1C06D14E9}" dt="2026-06-23T18:56:36.266" v="2776" actId="14100"/>
          <ac:spMkLst>
            <pc:docMk/>
            <pc:sldMk cId="3671289785" sldId="300"/>
            <ac:spMk id="3" creationId="{0EE284C2-95A1-6471-9D49-01545E615C86}"/>
          </ac:spMkLst>
        </pc:spChg>
        <pc:spChg chg="mod">
          <ac:chgData name="Natalia Szymeczko (ns317565)" userId="S::ns317565@student.polsl.pl::4f3650a5-1d33-4815-b7ec-5b3c3d095894" providerId="AD" clId="Web-{F886A3B1-1EFC-F704-167B-93E1C06D14E9}" dt="2026-06-23T19:19:44.177" v="2898" actId="20577"/>
          <ac:spMkLst>
            <pc:docMk/>
            <pc:sldMk cId="3671289785" sldId="300"/>
            <ac:spMk id="7" creationId="{1FFD0ED2-48C9-0C9C-2DE3-FDA2B705B454}"/>
          </ac:spMkLst>
        </pc:spChg>
      </pc:sldChg>
      <pc:sldChg chg="modSp">
        <pc:chgData name="Natalia Szymeczko (ns317565)" userId="S::ns317565@student.polsl.pl::4f3650a5-1d33-4815-b7ec-5b3c3d095894" providerId="AD" clId="Web-{F886A3B1-1EFC-F704-167B-93E1C06D14E9}" dt="2026-06-23T19:18:48.141" v="2887" actId="20577"/>
        <pc:sldMkLst>
          <pc:docMk/>
          <pc:sldMk cId="2712061959" sldId="301"/>
        </pc:sldMkLst>
        <pc:spChg chg="mod">
          <ac:chgData name="Natalia Szymeczko (ns317565)" userId="S::ns317565@student.polsl.pl::4f3650a5-1d33-4815-b7ec-5b3c3d095894" providerId="AD" clId="Web-{F886A3B1-1EFC-F704-167B-93E1C06D14E9}" dt="2026-06-23T19:18:48.141" v="2887" actId="20577"/>
          <ac:spMkLst>
            <pc:docMk/>
            <pc:sldMk cId="2712061959" sldId="301"/>
            <ac:spMk id="7" creationId="{F2D87C8E-029E-95FC-D9E0-2C1B25AA761D}"/>
          </ac:spMkLst>
        </pc:spChg>
      </pc:sldChg>
      <pc:sldChg chg="addSp delSp modSp">
        <pc:chgData name="Natalia Szymeczko (ns317565)" userId="S::ns317565@student.polsl.pl::4f3650a5-1d33-4815-b7ec-5b3c3d095894" providerId="AD" clId="Web-{F886A3B1-1EFC-F704-167B-93E1C06D14E9}" dt="2026-06-23T19:22:28.191" v="2917"/>
        <pc:sldMkLst>
          <pc:docMk/>
          <pc:sldMk cId="2487099752" sldId="302"/>
        </pc:sldMkLst>
        <pc:graphicFrameChg chg="add mod modGraphic">
          <ac:chgData name="Natalia Szymeczko (ns317565)" userId="S::ns317565@student.polsl.pl::4f3650a5-1d33-4815-b7ec-5b3c3d095894" providerId="AD" clId="Web-{F886A3B1-1EFC-F704-167B-93E1C06D14E9}" dt="2026-06-23T19:22:24.300" v="2916"/>
          <ac:graphicFrameMkLst>
            <pc:docMk/>
            <pc:sldMk cId="2487099752" sldId="302"/>
            <ac:graphicFrameMk id="5" creationId="{7B5EF538-E8DF-ADB3-C138-B0CDEAD7700B}"/>
          </ac:graphicFrameMkLst>
        </pc:graphicFrameChg>
        <pc:graphicFrameChg chg="del">
          <ac:chgData name="Natalia Szymeczko (ns317565)" userId="S::ns317565@student.polsl.pl::4f3650a5-1d33-4815-b7ec-5b3c3d095894" providerId="AD" clId="Web-{F886A3B1-1EFC-F704-167B-93E1C06D14E9}" dt="2026-06-23T19:22:28.191" v="2917"/>
          <ac:graphicFrameMkLst>
            <pc:docMk/>
            <pc:sldMk cId="2487099752" sldId="302"/>
            <ac:graphicFrameMk id="17" creationId="{A0ECA6B0-88F5-5F34-5CD9-32C1AD50333E}"/>
          </ac:graphicFrameMkLst>
        </pc:graphicFrameChg>
      </pc:sldChg>
      <pc:sldChg chg="modSp">
        <pc:chgData name="Natalia Szymeczko (ns317565)" userId="S::ns317565@student.polsl.pl::4f3650a5-1d33-4815-b7ec-5b3c3d095894" providerId="AD" clId="Web-{F886A3B1-1EFC-F704-167B-93E1C06D14E9}" dt="2026-06-23T19:31:36.405" v="3120"/>
        <pc:sldMkLst>
          <pc:docMk/>
          <pc:sldMk cId="3386054893" sldId="303"/>
        </pc:sldMkLst>
        <pc:spChg chg="mod">
          <ac:chgData name="Natalia Szymeczko (ns317565)" userId="S::ns317565@student.polsl.pl::4f3650a5-1d33-4815-b7ec-5b3c3d095894" providerId="AD" clId="Web-{F886A3B1-1EFC-F704-167B-93E1C06D14E9}" dt="2026-06-23T19:30:56.980" v="3078" actId="1076"/>
          <ac:spMkLst>
            <pc:docMk/>
            <pc:sldMk cId="3386054893" sldId="303"/>
            <ac:spMk id="5" creationId="{72055E5A-A728-A3B3-124C-F6088819D040}"/>
          </ac:spMkLst>
        </pc:spChg>
        <pc:graphicFrameChg chg="mod modGraphic">
          <ac:chgData name="Natalia Szymeczko (ns317565)" userId="S::ns317565@student.polsl.pl::4f3650a5-1d33-4815-b7ec-5b3c3d095894" providerId="AD" clId="Web-{F886A3B1-1EFC-F704-167B-93E1C06D14E9}" dt="2026-06-23T19:31:36.405" v="3120"/>
          <ac:graphicFrameMkLst>
            <pc:docMk/>
            <pc:sldMk cId="3386054893" sldId="303"/>
            <ac:graphicFrameMk id="17" creationId="{9B3561E5-AA3F-1F0F-E97C-18CE1BBB68B9}"/>
          </ac:graphicFrameMkLst>
        </pc:graphicFrameChg>
      </pc:sldChg>
      <pc:sldChg chg="addSp delSp modSp add replId">
        <pc:chgData name="Natalia Szymeczko (ns317565)" userId="S::ns317565@student.polsl.pl::4f3650a5-1d33-4815-b7ec-5b3c3d095894" providerId="AD" clId="Web-{F886A3B1-1EFC-F704-167B-93E1C06D14E9}" dt="2026-06-23T19:21:18.169" v="2913" actId="20577"/>
        <pc:sldMkLst>
          <pc:docMk/>
          <pc:sldMk cId="793750026" sldId="305"/>
        </pc:sldMkLst>
        <pc:spChg chg="mod">
          <ac:chgData name="Natalia Szymeczko (ns317565)" userId="S::ns317565@student.polsl.pl::4f3650a5-1d33-4815-b7ec-5b3c3d095894" providerId="AD" clId="Web-{F886A3B1-1EFC-F704-167B-93E1C06D14E9}" dt="2026-06-23T19:21:18.169" v="2913" actId="20577"/>
          <ac:spMkLst>
            <pc:docMk/>
            <pc:sldMk cId="793750026" sldId="305"/>
            <ac:spMk id="7" creationId="{D2748FF9-6612-B1FB-1A71-8A332E583AC4}"/>
          </ac:spMkLst>
        </pc:spChg>
        <pc:picChg chg="add del mod modCrop">
          <ac:chgData name="Natalia Szymeczko (ns317565)" userId="S::ns317565@student.polsl.pl::4f3650a5-1d33-4815-b7ec-5b3c3d095894" providerId="AD" clId="Web-{F886A3B1-1EFC-F704-167B-93E1C06D14E9}" dt="2026-06-23T18:48:28.793" v="2277"/>
          <ac:picMkLst>
            <pc:docMk/>
            <pc:sldMk cId="793750026" sldId="305"/>
            <ac:picMk id="2" creationId="{6269562D-098C-6B73-4E19-552168556DAD}"/>
          </ac:picMkLst>
        </pc:picChg>
        <pc:picChg chg="add mod">
          <ac:chgData name="Natalia Szymeczko (ns317565)" userId="S::ns317565@student.polsl.pl::4f3650a5-1d33-4815-b7ec-5b3c3d095894" providerId="AD" clId="Web-{F886A3B1-1EFC-F704-167B-93E1C06D14E9}" dt="2026-06-23T18:53:19.706" v="2672" actId="1076"/>
          <ac:picMkLst>
            <pc:docMk/>
            <pc:sldMk cId="793750026" sldId="305"/>
            <ac:picMk id="5" creationId="{B07DD57E-CD5D-603F-511A-CEDC89B0ECC8}"/>
          </ac:picMkLst>
        </pc:picChg>
      </pc:sldChg>
      <pc:sldChg chg="addSp modSp add replId">
        <pc:chgData name="Natalia Szymeczko (ns317565)" userId="S::ns317565@student.polsl.pl::4f3650a5-1d33-4815-b7ec-5b3c3d095894" providerId="AD" clId="Web-{F886A3B1-1EFC-F704-167B-93E1C06D14E9}" dt="2026-06-23T19:21:09.528" v="2912" actId="20577"/>
        <pc:sldMkLst>
          <pc:docMk/>
          <pc:sldMk cId="141075051" sldId="306"/>
        </pc:sldMkLst>
        <pc:spChg chg="mod">
          <ac:chgData name="Natalia Szymeczko (ns317565)" userId="S::ns317565@student.polsl.pl::4f3650a5-1d33-4815-b7ec-5b3c3d095894" providerId="AD" clId="Web-{F886A3B1-1EFC-F704-167B-93E1C06D14E9}" dt="2026-06-23T19:21:09.528" v="2912" actId="20577"/>
          <ac:spMkLst>
            <pc:docMk/>
            <pc:sldMk cId="141075051" sldId="306"/>
            <ac:spMk id="7" creationId="{8FDEF805-2689-903C-7F33-4DDDC9ACA078}"/>
          </ac:spMkLst>
        </pc:spChg>
        <pc:picChg chg="add mod">
          <ac:chgData name="Natalia Szymeczko (ns317565)" userId="S::ns317565@student.polsl.pl::4f3650a5-1d33-4815-b7ec-5b3c3d095894" providerId="AD" clId="Web-{F886A3B1-1EFC-F704-167B-93E1C06D14E9}" dt="2026-06-23T18:49:19" v="2278" actId="14100"/>
          <ac:picMkLst>
            <pc:docMk/>
            <pc:sldMk cId="141075051" sldId="306"/>
            <ac:picMk id="2" creationId="{0B287D97-7B76-4EC5-12CE-735C1F3E694F}"/>
          </ac:picMkLst>
        </pc:picChg>
      </pc:sldChg>
      <pc:sldChg chg="addSp modSp add replId">
        <pc:chgData name="Natalia Szymeczko (ns317565)" userId="S::ns317565@student.polsl.pl::4f3650a5-1d33-4815-b7ec-5b3c3d095894" providerId="AD" clId="Web-{F886A3B1-1EFC-F704-167B-93E1C06D14E9}" dt="2026-06-23T19:20:47.948" v="2907" actId="20577"/>
        <pc:sldMkLst>
          <pc:docMk/>
          <pc:sldMk cId="3896834094" sldId="307"/>
        </pc:sldMkLst>
        <pc:spChg chg="mod">
          <ac:chgData name="Natalia Szymeczko (ns317565)" userId="S::ns317565@student.polsl.pl::4f3650a5-1d33-4815-b7ec-5b3c3d095894" providerId="AD" clId="Web-{F886A3B1-1EFC-F704-167B-93E1C06D14E9}" dt="2026-06-23T19:20:47.948" v="2907" actId="20577"/>
          <ac:spMkLst>
            <pc:docMk/>
            <pc:sldMk cId="3896834094" sldId="307"/>
            <ac:spMk id="7" creationId="{929BD138-F752-7716-6D42-802B5708BED4}"/>
          </ac:spMkLst>
        </pc:spChg>
        <pc:picChg chg="add mod">
          <ac:chgData name="Natalia Szymeczko (ns317565)" userId="S::ns317565@student.polsl.pl::4f3650a5-1d33-4815-b7ec-5b3c3d095894" providerId="AD" clId="Web-{F886A3B1-1EFC-F704-167B-93E1C06D14E9}" dt="2026-06-23T18:47:40.398" v="2181" actId="14100"/>
          <ac:picMkLst>
            <pc:docMk/>
            <pc:sldMk cId="3896834094" sldId="307"/>
            <ac:picMk id="2" creationId="{44A7A169-348A-2321-AB4C-D592524752C9}"/>
          </ac:picMkLst>
        </pc:picChg>
      </pc:sldChg>
      <pc:sldChg chg="addSp delSp modSp add replId">
        <pc:chgData name="Natalia Szymeczko (ns317565)" userId="S::ns317565@student.polsl.pl::4f3650a5-1d33-4815-b7ec-5b3c3d095894" providerId="AD" clId="Web-{F886A3B1-1EFC-F704-167B-93E1C06D14E9}" dt="2026-06-23T19:20:30.681" v="2904" actId="20577"/>
        <pc:sldMkLst>
          <pc:docMk/>
          <pc:sldMk cId="2085547323" sldId="308"/>
        </pc:sldMkLst>
        <pc:spChg chg="mod">
          <ac:chgData name="Natalia Szymeczko (ns317565)" userId="S::ns317565@student.polsl.pl::4f3650a5-1d33-4815-b7ec-5b3c3d095894" providerId="AD" clId="Web-{F886A3B1-1EFC-F704-167B-93E1C06D14E9}" dt="2026-06-23T19:20:30.681" v="2904" actId="20577"/>
          <ac:spMkLst>
            <pc:docMk/>
            <pc:sldMk cId="2085547323" sldId="308"/>
            <ac:spMk id="7" creationId="{CD765FC6-EF0F-D1BF-5AF1-1B7459098995}"/>
          </ac:spMkLst>
        </pc:spChg>
        <pc:picChg chg="del">
          <ac:chgData name="Natalia Szymeczko (ns317565)" userId="S::ns317565@student.polsl.pl::4f3650a5-1d33-4815-b7ec-5b3c3d095894" providerId="AD" clId="Web-{F886A3B1-1EFC-F704-167B-93E1C06D14E9}" dt="2026-06-23T18:46:35.549" v="2172"/>
          <ac:picMkLst>
            <pc:docMk/>
            <pc:sldMk cId="2085547323" sldId="308"/>
            <ac:picMk id="2" creationId="{79755CEA-57A2-03FD-2E16-D452242DFC11}"/>
          </ac:picMkLst>
        </pc:picChg>
        <pc:picChg chg="add mod">
          <ac:chgData name="Natalia Szymeczko (ns317565)" userId="S::ns317565@student.polsl.pl::4f3650a5-1d33-4815-b7ec-5b3c3d095894" providerId="AD" clId="Web-{F886A3B1-1EFC-F704-167B-93E1C06D14E9}" dt="2026-06-23T18:47:22.272" v="2178" actId="1076"/>
          <ac:picMkLst>
            <pc:docMk/>
            <pc:sldMk cId="2085547323" sldId="308"/>
            <ac:picMk id="5" creationId="{393E8D91-81A9-9D59-44D8-14CEC6F711A5}"/>
          </ac:picMkLst>
        </pc:picChg>
      </pc:sldChg>
    </pc:docChg>
  </pc:docChgLst>
  <pc:docChgLst>
    <pc:chgData name="Patryk Januś (pj317575)" userId="S::pj317575@student.polsl.pl::2e0068ae-d800-4b4d-bfb4-1c1af6e40c59" providerId="AD" clId="Web-{7F3198CE-E90A-600E-C70E-3E9E52DB68D3}"/>
    <pc:docChg chg="modSld">
      <pc:chgData name="Patryk Januś (pj317575)" userId="S::pj317575@student.polsl.pl::2e0068ae-d800-4b4d-bfb4-1c1af6e40c59" providerId="AD" clId="Web-{7F3198CE-E90A-600E-C70E-3E9E52DB68D3}" dt="2026-06-23T18:40:01.721" v="30"/>
      <pc:docMkLst>
        <pc:docMk/>
      </pc:docMkLst>
      <pc:sldChg chg="addSp delSp modSp">
        <pc:chgData name="Patryk Januś (pj317575)" userId="S::pj317575@student.polsl.pl::2e0068ae-d800-4b4d-bfb4-1c1af6e40c59" providerId="AD" clId="Web-{7F3198CE-E90A-600E-C70E-3E9E52DB68D3}" dt="2026-06-23T18:40:01.721" v="30"/>
        <pc:sldMkLst>
          <pc:docMk/>
          <pc:sldMk cId="3138704867" sldId="294"/>
        </pc:sldMkLst>
        <pc:picChg chg="add del mod ord modCrop">
          <ac:chgData name="Patryk Januś (pj317575)" userId="S::pj317575@student.polsl.pl::2e0068ae-d800-4b4d-bfb4-1c1af6e40c59" providerId="AD" clId="Web-{7F3198CE-E90A-600E-C70E-3E9E52DB68D3}" dt="2026-06-23T18:40:01.721" v="30"/>
          <ac:picMkLst>
            <pc:docMk/>
            <pc:sldMk cId="3138704867" sldId="294"/>
            <ac:picMk id="2" creationId="{627CC7A8-E6E2-0894-D186-CA9A235BE152}"/>
          </ac:picMkLst>
        </pc:picChg>
        <pc:picChg chg="add mod ord modCrop">
          <ac:chgData name="Patryk Januś (pj317575)" userId="S::pj317575@student.polsl.pl::2e0068ae-d800-4b4d-bfb4-1c1af6e40c59" providerId="AD" clId="Web-{7F3198CE-E90A-600E-C70E-3E9E52DB68D3}" dt="2026-06-23T18:37:37.028" v="15"/>
          <ac:picMkLst>
            <pc:docMk/>
            <pc:sldMk cId="3138704867" sldId="294"/>
            <ac:picMk id="8" creationId="{3EC2467B-1E0D-6785-784F-F01DD2EAEF17}"/>
          </ac:picMkLst>
        </pc:picChg>
        <pc:picChg chg="del">
          <ac:chgData name="Patryk Januś (pj317575)" userId="S::pj317575@student.polsl.pl::2e0068ae-d800-4b4d-bfb4-1c1af6e40c59" providerId="AD" clId="Web-{7F3198CE-E90A-600E-C70E-3E9E52DB68D3}" dt="2026-06-23T18:36:41.792" v="0"/>
          <ac:picMkLst>
            <pc:docMk/>
            <pc:sldMk cId="3138704867" sldId="294"/>
            <ac:picMk id="18" creationId="{C9E2B26D-6738-6C45-EB48-5C3FF839868A}"/>
          </ac:picMkLst>
        </pc:picChg>
        <pc:picChg chg="mod">
          <ac:chgData name="Patryk Januś (pj317575)" userId="S::pj317575@student.polsl.pl::2e0068ae-d800-4b4d-bfb4-1c1af6e40c59" providerId="AD" clId="Web-{7F3198CE-E90A-600E-C70E-3E9E52DB68D3}" dt="2026-06-23T18:39:31.486" v="28" actId="1076"/>
          <ac:picMkLst>
            <pc:docMk/>
            <pc:sldMk cId="3138704867" sldId="294"/>
            <ac:picMk id="19" creationId="{4EE85FBC-B7F7-AC0C-9E30-FB5116C57A64}"/>
          </ac:picMkLst>
        </pc:picChg>
      </pc:sldChg>
    </pc:docChg>
  </pc:docChgLst>
  <pc:docChgLst>
    <pc:chgData name="Patryk Januś (pj317575)" userId="S::pj317575@student.polsl.pl::2e0068ae-d800-4b4d-bfb4-1c1af6e40c59" providerId="AD" clId="Web-{57AB0D5A-BDFA-FFF4-0897-4B61952191CA}"/>
    <pc:docChg chg="modSld">
      <pc:chgData name="Patryk Januś (pj317575)" userId="S::pj317575@student.polsl.pl::2e0068ae-d800-4b4d-bfb4-1c1af6e40c59" providerId="AD" clId="Web-{57AB0D5A-BDFA-FFF4-0897-4B61952191CA}" dt="2026-06-23T18:41:16.410" v="1" actId="1076"/>
      <pc:docMkLst>
        <pc:docMk/>
      </pc:docMkLst>
      <pc:sldChg chg="modSp">
        <pc:chgData name="Patryk Januś (pj317575)" userId="S::pj317575@student.polsl.pl::2e0068ae-d800-4b4d-bfb4-1c1af6e40c59" providerId="AD" clId="Web-{57AB0D5A-BDFA-FFF4-0897-4B61952191CA}" dt="2026-06-23T18:41:16.410" v="1" actId="1076"/>
        <pc:sldMkLst>
          <pc:docMk/>
          <pc:sldMk cId="3138704867" sldId="294"/>
        </pc:sldMkLst>
        <pc:picChg chg="mod">
          <ac:chgData name="Patryk Januś (pj317575)" userId="S::pj317575@student.polsl.pl::2e0068ae-d800-4b4d-bfb4-1c1af6e40c59" providerId="AD" clId="Web-{57AB0D5A-BDFA-FFF4-0897-4B61952191CA}" dt="2026-06-23T18:41:16.410" v="1" actId="1076"/>
          <ac:picMkLst>
            <pc:docMk/>
            <pc:sldMk cId="3138704867" sldId="294"/>
            <ac:picMk id="16" creationId="{AE31B722-9EA9-0FE8-C71F-DC0647CEE09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18224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56684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9082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51285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098888EF-EEC0-4A4A-86BB-1BD6F5F3312D}" type="datetimeFigureOut">
              <a:rPr lang="es-ES" smtClean="0"/>
              <a:t>23/06/2026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46687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098888EF-EEC0-4A4A-86BB-1BD6F5F3312D}" type="datetimeFigureOut">
              <a:rPr lang="es-ES" smtClean="0"/>
              <a:t>23/06/2026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255286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8888EF-EEC0-4A4A-86BB-1BD6F5F3312D}" type="datetimeFigureOut">
              <a:rPr lang="es-ES" smtClean="0"/>
              <a:t>23/06/2026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98275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03021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13403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0435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441309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888EF-EEC0-4A4A-86BB-1BD6F5F3312D}" type="datetimeFigureOut">
              <a:rPr lang="es-ES" smtClean="0"/>
              <a:t>23/06/2026</a:t>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F4CAA-2EC6-40D5-BAB1-93A4DB7A70C6}" type="slidenum">
              <a:rPr lang="es-ES" smtClean="0"/>
              <a:t>‹#›</a:t>
            </a:fld>
            <a:endParaRPr lang="es-ES"/>
          </a:p>
        </p:txBody>
      </p:sp>
    </p:spTree>
    <p:extLst>
      <p:ext uri="{BB962C8B-B14F-4D97-AF65-F5344CB8AC3E}">
        <p14:creationId xmlns:p14="http://schemas.microsoft.com/office/powerpoint/2010/main" val="27496884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tiff"/><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0547FAEC-1F1C-4BA8-BAB5-6B43C253FE10}"/>
              </a:ext>
            </a:extLst>
          </p:cNvPr>
          <p:cNvSpPr txBox="1"/>
          <p:nvPr/>
        </p:nvSpPr>
        <p:spPr>
          <a:xfrm>
            <a:off x="3824511" y="6232625"/>
            <a:ext cx="4542977" cy="430887"/>
          </a:xfrm>
          <a:prstGeom prst="rect">
            <a:avLst/>
          </a:prstGeom>
          <a:noFill/>
        </p:spPr>
        <p:txBody>
          <a:bodyPr wrap="square">
            <a:spAutoFit/>
          </a:bodyPr>
          <a:lstStyle/>
          <a:p>
            <a:pPr algn="ctr"/>
            <a:r>
              <a:rPr lang="en-US" sz="1100">
                <a:solidFill>
                  <a:srgbClr val="1A2E52"/>
                </a:solidFill>
                <a:latin typeface="Calibri" panose="020F0502020204030204" pitchFamily="34" charset="0"/>
                <a:ea typeface="DengXian" panose="02010600030101010101" pitchFamily="2" charset="-122"/>
                <a:cs typeface="Calibri" panose="020F0502020204030204" pitchFamily="34" charset="0"/>
              </a:rPr>
              <a:t>Erasmus+ Program 2024 Cooperation partnerships in higher education - 2024-1-ES01-KA220-HED-000246733</a:t>
            </a:r>
          </a:p>
        </p:txBody>
      </p:sp>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sp>
        <p:nvSpPr>
          <p:cNvPr id="17" name="CuadroTexto 16">
            <a:extLst>
              <a:ext uri="{FF2B5EF4-FFF2-40B4-BE49-F238E27FC236}">
                <a16:creationId xmlns:a16="http://schemas.microsoft.com/office/drawing/2014/main" id="{A7FE82D3-10EB-4B4F-AF99-0C2E489363A2}"/>
              </a:ext>
            </a:extLst>
          </p:cNvPr>
          <p:cNvSpPr txBox="1"/>
          <p:nvPr/>
        </p:nvSpPr>
        <p:spPr>
          <a:xfrm>
            <a:off x="3302281" y="307795"/>
            <a:ext cx="3490104" cy="415498"/>
          </a:xfrm>
          <a:prstGeom prst="rect">
            <a:avLst/>
          </a:prstGeom>
          <a:noFill/>
        </p:spPr>
        <p:txBody>
          <a:bodyPr wrap="square">
            <a:spAutoFit/>
          </a:bodyPr>
          <a:lstStyle/>
          <a:p>
            <a:r>
              <a:rPr lang="en-US" sz="1050">
                <a:solidFill>
                  <a:srgbClr val="003C25"/>
                </a:solidFill>
                <a:latin typeface="Calibri" panose="020F0502020204030204" pitchFamily="34" charset="0"/>
                <a:ea typeface="DengXian" panose="02010600030101010101" pitchFamily="2" charset="-122"/>
                <a:cs typeface="Calibri" panose="020F0502020204030204" pitchFamily="34" charset="0"/>
              </a:rPr>
              <a:t>Student-centered learning for </a:t>
            </a:r>
            <a:r>
              <a:rPr lang="en-US" sz="1050" err="1">
                <a:solidFill>
                  <a:srgbClr val="003C25"/>
                </a:solidFill>
                <a:latin typeface="Calibri" panose="020F0502020204030204" pitchFamily="34" charset="0"/>
                <a:ea typeface="DengXian" panose="02010600030101010101" pitchFamily="2" charset="-122"/>
                <a:cs typeface="Calibri" panose="020F0502020204030204" pitchFamily="34" charset="0"/>
              </a:rPr>
              <a:t>ENVIronmental</a:t>
            </a:r>
            <a:r>
              <a:rPr lang="en-US" sz="1050">
                <a:solidFill>
                  <a:srgbClr val="003C25"/>
                </a:solidFill>
                <a:latin typeface="Calibri" panose="020F0502020204030204" pitchFamily="34" charset="0"/>
                <a:ea typeface="DengXian" panose="02010600030101010101" pitchFamily="2" charset="-122"/>
                <a:cs typeface="Calibri" panose="020F0502020204030204" pitchFamily="34" charset="0"/>
              </a:rPr>
              <a:t> sustainability at Higher Education Institutions</a:t>
            </a:r>
          </a:p>
        </p:txBody>
      </p:sp>
      <p:pic>
        <p:nvPicPr>
          <p:cNvPr id="18" name="Imagen 17">
            <a:extLst>
              <a:ext uri="{FF2B5EF4-FFF2-40B4-BE49-F238E27FC236}">
                <a16:creationId xmlns:a16="http://schemas.microsoft.com/office/drawing/2014/main" id="{D45A302E-9D4B-4AC5-A1F6-CB2B51D77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3913" y="4597477"/>
            <a:ext cx="1518678" cy="1518678"/>
          </a:xfrm>
          <a:prstGeom prst="rect">
            <a:avLst/>
          </a:prstGeom>
        </p:spPr>
      </p:pic>
      <p:sp>
        <p:nvSpPr>
          <p:cNvPr id="20" name="CuadroTexto 19">
            <a:extLst>
              <a:ext uri="{FF2B5EF4-FFF2-40B4-BE49-F238E27FC236}">
                <a16:creationId xmlns:a16="http://schemas.microsoft.com/office/drawing/2014/main" id="{079C4AC3-BC0A-4AAD-8E37-2965FED5A733}"/>
              </a:ext>
            </a:extLst>
          </p:cNvPr>
          <p:cNvSpPr txBox="1"/>
          <p:nvPr/>
        </p:nvSpPr>
        <p:spPr>
          <a:xfrm>
            <a:off x="783528" y="2354342"/>
            <a:ext cx="11324581" cy="4154984"/>
          </a:xfrm>
          <a:prstGeom prst="rect">
            <a:avLst/>
          </a:prstGeom>
          <a:noFill/>
        </p:spPr>
        <p:txBody>
          <a:bodyPr wrap="square" lIns="91440" tIns="45720" rIns="91440" bIns="45720" anchor="t">
            <a:spAutoFit/>
          </a:bodyPr>
          <a:lstStyle/>
          <a:p>
            <a:endParaRPr lang="en-US" sz="2000" b="1">
              <a:solidFill>
                <a:srgbClr val="1A2E52"/>
              </a:solidFill>
              <a:latin typeface="Corbel" panose="020B0503020204020204" pitchFamily="34" charset="0"/>
              <a:ea typeface="DengXian" panose="02010600030101010101" pitchFamily="2" charset="-122"/>
            </a:endParaRPr>
          </a:p>
          <a:p>
            <a:r>
              <a:rPr lang="pl-PL" sz="2000" b="1">
                <a:solidFill>
                  <a:srgbClr val="1A2E52"/>
                </a:solidFill>
                <a:latin typeface="Corbel"/>
                <a:ea typeface="DengXian"/>
              </a:rPr>
              <a:t>Measurement Systems and Sustainability</a:t>
            </a:r>
          </a:p>
          <a:p>
            <a:r>
              <a:rPr lang="pl-PL" sz="2400" b="1">
                <a:solidFill>
                  <a:srgbClr val="1A2E52"/>
                </a:solidFill>
                <a:latin typeface="Corbel"/>
                <a:ea typeface="DengXian"/>
              </a:rPr>
              <a:t>Project Title: </a:t>
            </a:r>
            <a:r>
              <a:rPr lang="pl-PL" b="1">
                <a:solidFill>
                  <a:srgbClr val="000000"/>
                </a:solidFill>
                <a:latin typeface="Calibri"/>
                <a:ea typeface="Calibri"/>
                <a:cs typeface="Calibri"/>
              </a:rPr>
              <a:t>Experimental identification of resonance frequency in a Mechanical structure</a:t>
            </a:r>
            <a:r>
              <a:rPr lang="en-GB">
                <a:solidFill>
                  <a:srgbClr val="000000"/>
                </a:solidFill>
                <a:latin typeface="Calibri"/>
                <a:ea typeface="Calibri"/>
                <a:cs typeface="Calibri"/>
              </a:rPr>
              <a:t> </a:t>
            </a:r>
            <a:endParaRPr lang="pl-PL">
              <a:solidFill>
                <a:srgbClr val="000000"/>
              </a:solidFill>
              <a:latin typeface="Calibri"/>
              <a:ea typeface="Calibri"/>
              <a:cs typeface="Calibri"/>
            </a:endParaRPr>
          </a:p>
          <a:p>
            <a:r>
              <a:rPr lang="pl-PL" sz="2000" b="1">
                <a:solidFill>
                  <a:srgbClr val="1A2E52"/>
                </a:solidFill>
                <a:latin typeface="Corbel"/>
                <a:ea typeface="DengXian"/>
              </a:rPr>
              <a:t>Meeting on June 11th.: </a:t>
            </a:r>
            <a:r>
              <a:rPr lang="en-US" sz="2000" b="1"/>
              <a:t>Experimental Setup and First Measurements</a:t>
            </a:r>
            <a:endParaRPr lang="pl-PL" sz="2000" b="1"/>
          </a:p>
          <a:p>
            <a:r>
              <a:rPr lang="pl-PL" sz="2000" b="1">
                <a:solidFill>
                  <a:srgbClr val="1A2E52"/>
                </a:solidFill>
              </a:rPr>
              <a:t>Team name:</a:t>
            </a:r>
            <a:endParaRPr lang="en-US" sz="2000">
              <a:solidFill>
                <a:srgbClr val="000000"/>
              </a:solidFill>
              <a:ea typeface="Calibri"/>
              <a:cs typeface="Calibri"/>
            </a:endParaRPr>
          </a:p>
          <a:p>
            <a:r>
              <a:rPr lang="pl-PL" sz="2000">
                <a:solidFill>
                  <a:srgbClr val="C00000"/>
                </a:solidFill>
              </a:rPr>
              <a:t>Vibe Finders</a:t>
            </a:r>
            <a:endParaRPr lang="en-US" sz="2000">
              <a:solidFill>
                <a:srgbClr val="000000"/>
              </a:solidFill>
            </a:endParaRPr>
          </a:p>
          <a:p>
            <a:r>
              <a:rPr lang="pl-PL" sz="2000" b="1">
                <a:solidFill>
                  <a:srgbClr val="1A2E52"/>
                </a:solidFill>
              </a:rPr>
              <a:t>Team members:</a:t>
            </a:r>
            <a:endParaRPr lang="en-US" sz="2000">
              <a:solidFill>
                <a:srgbClr val="000000"/>
              </a:solidFill>
              <a:ea typeface="Calibri"/>
              <a:cs typeface="Calibri"/>
            </a:endParaRPr>
          </a:p>
          <a:p>
            <a:r>
              <a:rPr lang="pl-PL" sz="2000">
                <a:solidFill>
                  <a:srgbClr val="C00000"/>
                </a:solidFill>
              </a:rPr>
              <a:t>Patryk Januś</a:t>
            </a:r>
            <a:br>
              <a:rPr lang="pl-PL" sz="2000">
                <a:solidFill>
                  <a:srgbClr val="C00000"/>
                </a:solidFill>
              </a:rPr>
            </a:br>
            <a:r>
              <a:rPr lang="pl-PL" sz="2000">
                <a:solidFill>
                  <a:srgbClr val="C00000"/>
                </a:solidFill>
              </a:rPr>
              <a:t>Natalia Szymeczko</a:t>
            </a:r>
            <a:endParaRPr lang="en-US" sz="2000">
              <a:solidFill>
                <a:srgbClr val="000000"/>
              </a:solidFill>
              <a:ea typeface="Calibri"/>
              <a:cs typeface="Calibri"/>
            </a:endParaRPr>
          </a:p>
          <a:p>
            <a:r>
              <a:rPr lang="pl-PL" sz="2000">
                <a:solidFill>
                  <a:srgbClr val="C00000"/>
                </a:solidFill>
              </a:rPr>
              <a:t>Patryk Reiter</a:t>
            </a:r>
            <a:endParaRPr lang="pl-PL" sz="2000">
              <a:solidFill>
                <a:srgbClr val="000000"/>
              </a:solidFill>
              <a:ea typeface="Calibri"/>
              <a:cs typeface="Calibri"/>
            </a:endParaRPr>
          </a:p>
          <a:p>
            <a:r>
              <a:rPr lang="pl-PL" sz="2000">
                <a:solidFill>
                  <a:srgbClr val="C00000"/>
                </a:solidFill>
              </a:rPr>
              <a:t>Szymon Korzuch</a:t>
            </a:r>
            <a:endParaRPr lang="en-US" sz="2000">
              <a:solidFill>
                <a:srgbClr val="000000"/>
              </a:solidFill>
              <a:ea typeface="Calibri"/>
              <a:cs typeface="Calibri"/>
            </a:endParaRPr>
          </a:p>
          <a:p>
            <a:endParaRPr lang="pl-PL" sz="2000" b="1">
              <a:solidFill>
                <a:srgbClr val="1A2E52"/>
              </a:solidFill>
              <a:ea typeface="Calibri"/>
              <a:cs typeface="Calibri"/>
            </a:endParaRPr>
          </a:p>
          <a:p>
            <a:endParaRPr lang="en-US" sz="2000" b="1">
              <a:solidFill>
                <a:srgbClr val="1A2E52"/>
              </a:solidFill>
              <a:latin typeface="Corbel" panose="020B0503020204020204" pitchFamily="34" charset="0"/>
              <a:ea typeface="DengXian" panose="02010600030101010101" pitchFamily="2" charset="-122"/>
            </a:endParaRPr>
          </a:p>
        </p:txBody>
      </p:sp>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pic>
        <p:nvPicPr>
          <p:cNvPr id="10" name="Imagen 9">
            <a:extLst>
              <a:ext uri="{FF2B5EF4-FFF2-40B4-BE49-F238E27FC236}">
                <a16:creationId xmlns:a16="http://schemas.microsoft.com/office/drawing/2014/main" id="{30EA1FE3-0A5F-4795-9232-BA23CD08AA68}"/>
              </a:ext>
            </a:extLst>
          </p:cNvPr>
          <p:cNvPicPr>
            <a:picLocks noChangeAspect="1"/>
          </p:cNvPicPr>
          <p:nvPr/>
        </p:nvPicPr>
        <p:blipFill rotWithShape="1">
          <a:blip r:embed="rId6">
            <a:extLst>
              <a:ext uri="{28A0092B-C50C-407E-A947-70E740481C1C}">
                <a14:useLocalDpi xmlns:a14="http://schemas.microsoft.com/office/drawing/2010/main" val="0"/>
              </a:ext>
            </a:extLst>
          </a:blip>
          <a:srcRect l="4409" t="1317" b="6939"/>
          <a:stretch/>
        </p:blipFill>
        <p:spPr>
          <a:xfrm>
            <a:off x="4194928" y="869346"/>
            <a:ext cx="3238460" cy="1748306"/>
          </a:xfrm>
          <a:prstGeom prst="rect">
            <a:avLst/>
          </a:prstGeom>
        </p:spPr>
      </p:pic>
      <p:grpSp>
        <p:nvGrpSpPr>
          <p:cNvPr id="13" name="Grupo 12">
            <a:extLst>
              <a:ext uri="{FF2B5EF4-FFF2-40B4-BE49-F238E27FC236}">
                <a16:creationId xmlns:a16="http://schemas.microsoft.com/office/drawing/2014/main" id="{8EFD7278-8FAA-4592-A2E8-D90A07AA6785}"/>
              </a:ext>
            </a:extLst>
          </p:cNvPr>
          <p:cNvGrpSpPr/>
          <p:nvPr/>
        </p:nvGrpSpPr>
        <p:grpSpPr>
          <a:xfrm>
            <a:off x="7559052" y="208375"/>
            <a:ext cx="4403539" cy="519267"/>
            <a:chOff x="7559052" y="208375"/>
            <a:chExt cx="4403539" cy="519267"/>
          </a:xfrm>
        </p:grpSpPr>
        <p:pic>
          <p:nvPicPr>
            <p:cNvPr id="21" name="Imagen 20">
              <a:extLst>
                <a:ext uri="{FF2B5EF4-FFF2-40B4-BE49-F238E27FC236}">
                  <a16:creationId xmlns:a16="http://schemas.microsoft.com/office/drawing/2014/main" id="{57C07A5A-8E18-4968-88FA-6479C9E6723E}"/>
                </a:ext>
              </a:extLst>
            </p:cNvPr>
            <p:cNvPicPr>
              <a:picLocks noChangeAspect="1"/>
            </p:cNvPicPr>
            <p:nvPr/>
          </p:nvPicPr>
          <p:blipFill rotWithShape="1">
            <a:blip r:embed="rId7"/>
            <a:srcRect l="31277"/>
            <a:stretch/>
          </p:blipFill>
          <p:spPr>
            <a:xfrm>
              <a:off x="8964728" y="208375"/>
              <a:ext cx="2997863" cy="514918"/>
            </a:xfrm>
            <a:prstGeom prst="rect">
              <a:avLst/>
            </a:prstGeom>
          </p:spPr>
        </p:pic>
        <p:pic>
          <p:nvPicPr>
            <p:cNvPr id="22" name="Imagen 21">
              <a:extLst>
                <a:ext uri="{FF2B5EF4-FFF2-40B4-BE49-F238E27FC236}">
                  <a16:creationId xmlns:a16="http://schemas.microsoft.com/office/drawing/2014/main" id="{4CB44C2D-8728-41CF-913B-00F55086CF8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23" name="Imagen 22">
              <a:extLst>
                <a:ext uri="{FF2B5EF4-FFF2-40B4-BE49-F238E27FC236}">
                  <a16:creationId xmlns:a16="http://schemas.microsoft.com/office/drawing/2014/main" id="{34E831AE-E779-441F-9DAA-C338FCD33B5F}"/>
                </a:ext>
              </a:extLst>
            </p:cNvPr>
            <p:cNvPicPr>
              <a:picLocks noChangeAspect="1"/>
            </p:cNvPicPr>
            <p:nvPr/>
          </p:nvPicPr>
          <p:blipFill rotWithShape="1">
            <a:blip r:embed="rId7"/>
            <a:srcRect r="78876"/>
            <a:stretch/>
          </p:blipFill>
          <p:spPr>
            <a:xfrm>
              <a:off x="7559052" y="212724"/>
              <a:ext cx="921462" cy="514918"/>
            </a:xfrm>
            <a:prstGeom prst="rect">
              <a:avLst/>
            </a:prstGeom>
          </p:spPr>
        </p:pic>
      </p:grpSp>
    </p:spTree>
    <p:extLst>
      <p:ext uri="{BB962C8B-B14F-4D97-AF65-F5344CB8AC3E}">
        <p14:creationId xmlns:p14="http://schemas.microsoft.com/office/powerpoint/2010/main" val="162029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7BF0A58-AD79-4C00-96A2-FC49219CA7B1}"/>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FF319F47-19DA-4234-9DC3-38E73C297C73}"/>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7F8F341-9F39-48E8-9186-C7787AF4A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0314F4A-BDB5-47F1-B731-E59274A7231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A40ADF1E-D1E4-95C2-6505-22CEC483387B}"/>
              </a:ext>
            </a:extLst>
          </p:cNvPr>
          <p:cNvSpPr txBox="1"/>
          <p:nvPr/>
        </p:nvSpPr>
        <p:spPr>
          <a:xfrm>
            <a:off x="577392" y="932410"/>
            <a:ext cx="6094428" cy="400110"/>
          </a:xfrm>
          <a:prstGeom prst="rect">
            <a:avLst/>
          </a:prstGeom>
          <a:noFill/>
        </p:spPr>
        <p:txBody>
          <a:bodyPr wrap="square">
            <a:spAutoFit/>
          </a:bodyPr>
          <a:lstStyle/>
          <a:p>
            <a:r>
              <a:rPr lang="en-US" sz="2000" b="1">
                <a:solidFill>
                  <a:srgbClr val="1A2E52"/>
                </a:solidFill>
                <a:latin typeface="Colber"/>
              </a:rPr>
              <a:t>Progress Review</a:t>
            </a:r>
            <a:r>
              <a:rPr lang="pl-PL" sz="2000" b="1">
                <a:solidFill>
                  <a:srgbClr val="1A2E52"/>
                </a:solidFill>
                <a:latin typeface="Colber"/>
              </a:rPr>
              <a:t> (Time: 15 min)</a:t>
            </a:r>
          </a:p>
        </p:txBody>
      </p:sp>
      <p:sp>
        <p:nvSpPr>
          <p:cNvPr id="7" name="pole tekstowe 6">
            <a:extLst>
              <a:ext uri="{FF2B5EF4-FFF2-40B4-BE49-F238E27FC236}">
                <a16:creationId xmlns:a16="http://schemas.microsoft.com/office/drawing/2014/main" id="{2D273141-746D-F239-E745-7C9BDB8BB704}"/>
              </a:ext>
            </a:extLst>
          </p:cNvPr>
          <p:cNvSpPr txBox="1"/>
          <p:nvPr/>
        </p:nvSpPr>
        <p:spPr>
          <a:xfrm>
            <a:off x="982745" y="1617580"/>
            <a:ext cx="10800760" cy="3648499"/>
          </a:xfrm>
          <a:prstGeom prst="rect">
            <a:avLst/>
          </a:prstGeom>
          <a:noFill/>
        </p:spPr>
        <p:txBody>
          <a:bodyPr wrap="square">
            <a:spAutoFit/>
          </a:bodyPr>
          <a:lstStyle/>
          <a:p>
            <a:r>
              <a:rPr lang="pl-PL" b="1" err="1">
                <a:solidFill>
                  <a:srgbClr val="1A2E52"/>
                </a:solidFill>
                <a:latin typeface="Colber"/>
              </a:rPr>
              <a:t>What</a:t>
            </a:r>
            <a:r>
              <a:rPr lang="pl-PL" b="1">
                <a:solidFill>
                  <a:srgbClr val="1A2E52"/>
                </a:solidFill>
                <a:latin typeface="Colber"/>
              </a:rPr>
              <a:t> </a:t>
            </a:r>
            <a:r>
              <a:rPr lang="pl-PL" b="1" err="1">
                <a:solidFill>
                  <a:srgbClr val="1A2E52"/>
                </a:solidFill>
                <a:latin typeface="Colber"/>
              </a:rPr>
              <a:t>has</a:t>
            </a:r>
            <a:r>
              <a:rPr lang="pl-PL" b="1">
                <a:solidFill>
                  <a:srgbClr val="1A2E52"/>
                </a:solidFill>
                <a:latin typeface="Colber"/>
              </a:rPr>
              <a:t> </a:t>
            </a:r>
            <a:r>
              <a:rPr lang="pl-PL" b="1" err="1">
                <a:solidFill>
                  <a:srgbClr val="1A2E52"/>
                </a:solidFill>
                <a:latin typeface="Colber"/>
              </a:rPr>
              <a:t>been</a:t>
            </a:r>
            <a:r>
              <a:rPr lang="pl-PL" b="1">
                <a:solidFill>
                  <a:srgbClr val="1A2E52"/>
                </a:solidFill>
                <a:latin typeface="Colber"/>
              </a:rPr>
              <a:t> </a:t>
            </a:r>
            <a:r>
              <a:rPr lang="pl-PL" b="1" err="1">
                <a:solidFill>
                  <a:srgbClr val="1A2E52"/>
                </a:solidFill>
                <a:latin typeface="Colber"/>
              </a:rPr>
              <a:t>completed</a:t>
            </a:r>
            <a:r>
              <a:rPr lang="pl-PL" b="1">
                <a:solidFill>
                  <a:srgbClr val="1A2E52"/>
                </a:solidFill>
                <a:latin typeface="Colber"/>
              </a:rPr>
              <a:t> </a:t>
            </a:r>
            <a:r>
              <a:rPr lang="pl-PL" b="1" err="1">
                <a:solidFill>
                  <a:srgbClr val="1A2E52"/>
                </a:solidFill>
                <a:latin typeface="Colber"/>
              </a:rPr>
              <a:t>before</a:t>
            </a:r>
            <a:r>
              <a:rPr lang="pl-PL" b="1">
                <a:solidFill>
                  <a:srgbClr val="1A2E52"/>
                </a:solidFill>
                <a:latin typeface="Colber"/>
              </a:rPr>
              <a:t> Meeting 2?</a:t>
            </a:r>
          </a:p>
          <a:p>
            <a:pPr>
              <a:lnSpc>
                <a:spcPct val="150000"/>
              </a:lnSpc>
            </a:pPr>
            <a:r>
              <a:rPr lang="en-GB">
                <a:solidFill>
                  <a:srgbClr val="1A2E52"/>
                </a:solidFill>
                <a:latin typeface="Colber"/>
              </a:rPr>
              <a:t> x</a:t>
            </a:r>
            <a:r>
              <a:rPr lang="pl-PL">
                <a:solidFill>
                  <a:srgbClr val="1A2E52"/>
                </a:solidFill>
                <a:latin typeface="Colber"/>
              </a:rPr>
              <a:t> Literature review</a:t>
            </a:r>
          </a:p>
          <a:p>
            <a:pPr>
              <a:lnSpc>
                <a:spcPct val="150000"/>
              </a:lnSpc>
            </a:pPr>
            <a:r>
              <a:rPr lang="en-GB">
                <a:solidFill>
                  <a:srgbClr val="1A2E52"/>
                </a:solidFill>
                <a:latin typeface="Colber"/>
              </a:rPr>
              <a:t> x</a:t>
            </a:r>
            <a:r>
              <a:rPr lang="pl-PL">
                <a:solidFill>
                  <a:srgbClr val="1A2E52"/>
                </a:solidFill>
                <a:latin typeface="Colber"/>
              </a:rPr>
              <a:t> Sensor selection</a:t>
            </a:r>
          </a:p>
          <a:p>
            <a:pPr>
              <a:lnSpc>
                <a:spcPct val="150000"/>
              </a:lnSpc>
            </a:pPr>
            <a:r>
              <a:rPr lang="en-GB">
                <a:solidFill>
                  <a:srgbClr val="1A2E52"/>
                </a:solidFill>
                <a:latin typeface="Colber"/>
              </a:rPr>
              <a:t> x</a:t>
            </a:r>
            <a:r>
              <a:rPr lang="pl-PL">
                <a:solidFill>
                  <a:srgbClr val="1A2E52"/>
                </a:solidFill>
                <a:latin typeface="Colber"/>
              </a:rPr>
              <a:t> Measurement concept</a:t>
            </a:r>
          </a:p>
          <a:p>
            <a:pPr>
              <a:lnSpc>
                <a:spcPct val="150000"/>
              </a:lnSpc>
            </a:pPr>
            <a:r>
              <a:rPr lang="en-GB">
                <a:solidFill>
                  <a:srgbClr val="1A2E52"/>
                </a:solidFill>
                <a:latin typeface="Colber"/>
              </a:rPr>
              <a:t> x</a:t>
            </a:r>
            <a:r>
              <a:rPr lang="pl-PL">
                <a:solidFill>
                  <a:srgbClr val="1A2E52"/>
                </a:solidFill>
                <a:latin typeface="Colber"/>
              </a:rPr>
              <a:t> DAQ concept</a:t>
            </a:r>
          </a:p>
          <a:p>
            <a:pPr>
              <a:lnSpc>
                <a:spcPct val="150000"/>
              </a:lnSpc>
            </a:pPr>
            <a:r>
              <a:rPr lang="en-GB">
                <a:solidFill>
                  <a:srgbClr val="1A2E52"/>
                </a:solidFill>
                <a:latin typeface="Colber"/>
              </a:rPr>
              <a:t> x</a:t>
            </a:r>
            <a:r>
              <a:rPr lang="pl-PL">
                <a:solidFill>
                  <a:srgbClr val="1A2E52"/>
                </a:solidFill>
                <a:latin typeface="Colber"/>
              </a:rPr>
              <a:t> </a:t>
            </a:r>
            <a:r>
              <a:rPr lang="en-GB">
                <a:solidFill>
                  <a:srgbClr val="1A2E52"/>
                </a:solidFill>
                <a:latin typeface="Colber"/>
              </a:rPr>
              <a:t>Acquisition software</a:t>
            </a:r>
            <a:r>
              <a:rPr lang="pl-PL">
                <a:solidFill>
                  <a:srgbClr val="1A2E52"/>
                </a:solidFill>
                <a:latin typeface="Colber"/>
              </a:rPr>
              <a:t> concept</a:t>
            </a:r>
          </a:p>
          <a:p>
            <a:pPr>
              <a:lnSpc>
                <a:spcPct val="150000"/>
              </a:lnSpc>
            </a:pPr>
            <a:r>
              <a:rPr lang="pl-PL">
                <a:solidFill>
                  <a:srgbClr val="1A2E52"/>
                </a:solidFill>
                <a:latin typeface="Colber"/>
              </a:rPr>
              <a:t>☐ </a:t>
            </a:r>
            <a:r>
              <a:rPr lang="pl-PL" err="1">
                <a:solidFill>
                  <a:srgbClr val="1A2E52"/>
                </a:solidFill>
                <a:latin typeface="Colber"/>
              </a:rPr>
              <a:t>Experimental</a:t>
            </a:r>
            <a:r>
              <a:rPr lang="pl-PL">
                <a:solidFill>
                  <a:srgbClr val="1A2E52"/>
                </a:solidFill>
                <a:latin typeface="Colber"/>
              </a:rPr>
              <a:t> </a:t>
            </a:r>
            <a:r>
              <a:rPr lang="pl-PL" err="1">
                <a:solidFill>
                  <a:srgbClr val="1A2E52"/>
                </a:solidFill>
                <a:latin typeface="Colber"/>
              </a:rPr>
              <a:t>procedure</a:t>
            </a:r>
            <a:endParaRPr lang="pl-PL">
              <a:solidFill>
                <a:srgbClr val="1A2E52"/>
              </a:solidFill>
              <a:latin typeface="Colber"/>
            </a:endParaRPr>
          </a:p>
          <a:p>
            <a:pPr>
              <a:lnSpc>
                <a:spcPct val="150000"/>
              </a:lnSpc>
            </a:pPr>
            <a:r>
              <a:rPr lang="pl-PL">
                <a:solidFill>
                  <a:srgbClr val="1A2E52"/>
                </a:solidFill>
                <a:latin typeface="Colber"/>
              </a:rPr>
              <a:t>☐ </a:t>
            </a:r>
            <a:r>
              <a:rPr lang="pl-PL" err="1">
                <a:solidFill>
                  <a:srgbClr val="1A2E52"/>
                </a:solidFill>
                <a:latin typeface="Colber"/>
              </a:rPr>
              <a:t>Sustainability</a:t>
            </a:r>
            <a:r>
              <a:rPr lang="pl-PL">
                <a:solidFill>
                  <a:srgbClr val="1A2E52"/>
                </a:solidFill>
                <a:latin typeface="Colber"/>
              </a:rPr>
              <a:t> </a:t>
            </a:r>
            <a:r>
              <a:rPr lang="pl-PL" err="1">
                <a:solidFill>
                  <a:srgbClr val="1A2E52"/>
                </a:solidFill>
                <a:latin typeface="Colber"/>
              </a:rPr>
              <a:t>analysis</a:t>
            </a:r>
            <a:endParaRPr lang="pl-PL">
              <a:solidFill>
                <a:srgbClr val="1A2E52"/>
              </a:solidFill>
              <a:latin typeface="Colber"/>
            </a:endParaRPr>
          </a:p>
          <a:p>
            <a:pPr>
              <a:lnSpc>
                <a:spcPct val="150000"/>
              </a:lnSpc>
            </a:pPr>
            <a:r>
              <a:rPr lang="pl-PL">
                <a:solidFill>
                  <a:srgbClr val="1A2E52"/>
                </a:solidFill>
                <a:latin typeface="Colber"/>
              </a:rPr>
              <a:t>☐ </a:t>
            </a:r>
            <a:r>
              <a:rPr lang="pl-PL" err="1">
                <a:solidFill>
                  <a:srgbClr val="1A2E52"/>
                </a:solidFill>
                <a:latin typeface="Colber"/>
              </a:rPr>
              <a:t>Other</a:t>
            </a:r>
            <a:r>
              <a:rPr lang="pl-PL">
                <a:solidFill>
                  <a:srgbClr val="1A2E52"/>
                </a:solidFill>
                <a:latin typeface="Colber"/>
              </a:rPr>
              <a:t>:</a:t>
            </a:r>
          </a:p>
        </p:txBody>
      </p:sp>
    </p:spTree>
    <p:extLst>
      <p:ext uri="{BB962C8B-B14F-4D97-AF65-F5344CB8AC3E}">
        <p14:creationId xmlns:p14="http://schemas.microsoft.com/office/powerpoint/2010/main" val="272554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96D-3FFA-C38E-868B-CE873A4B2B6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A476FC5-042D-6040-CFA3-00FC06FF57F8}"/>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02A43634-4B2F-E55C-8F8B-6DA6610A1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254C83A2-7A3E-4F0A-DC2C-AD4FEB9A3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88097A7-6437-B326-563E-3C1F743970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BD072161-12D3-3DAB-DC56-E74AECF3277C}"/>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38D7FF7E-55FD-ADDD-7018-FD66B62AB5C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6EAD23ED-D057-0BE7-59C4-7976D708A7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0C2C38E0-984C-4341-5D9A-220F6096AB10}"/>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D4E05CF-39BB-F28F-2DB0-F6E5A1BA15D8}"/>
              </a:ext>
            </a:extLst>
          </p:cNvPr>
          <p:cNvSpPr txBox="1"/>
          <p:nvPr/>
        </p:nvSpPr>
        <p:spPr>
          <a:xfrm>
            <a:off x="577392" y="847567"/>
            <a:ext cx="6094428" cy="400110"/>
          </a:xfrm>
          <a:prstGeom prst="rect">
            <a:avLst/>
          </a:prstGeom>
          <a:noFill/>
        </p:spPr>
        <p:txBody>
          <a:bodyPr wrap="square">
            <a:spAutoFit/>
          </a:bodyPr>
          <a:lstStyle/>
          <a:p>
            <a:r>
              <a:rPr lang="en-US" sz="2000" b="1">
                <a:solidFill>
                  <a:srgbClr val="1A2E52"/>
                </a:solidFill>
                <a:latin typeface="Colber"/>
              </a:rPr>
              <a:t>Hardware Setup and Sensor Integration (Time: </a:t>
            </a:r>
            <a:r>
              <a:rPr lang="pl-PL" sz="2000" b="1">
                <a:solidFill>
                  <a:srgbClr val="1A2E52"/>
                </a:solidFill>
                <a:latin typeface="Colber"/>
              </a:rPr>
              <a:t>2</a:t>
            </a:r>
            <a:r>
              <a:rPr lang="en-US" sz="2000" b="1">
                <a:solidFill>
                  <a:srgbClr val="1A2E52"/>
                </a:solidFill>
                <a:latin typeface="Colber"/>
              </a:rPr>
              <a:t>5 min)</a:t>
            </a:r>
          </a:p>
        </p:txBody>
      </p:sp>
      <p:graphicFrame>
        <p:nvGraphicFramePr>
          <p:cNvPr id="13" name="Tabela 12">
            <a:extLst>
              <a:ext uri="{FF2B5EF4-FFF2-40B4-BE49-F238E27FC236}">
                <a16:creationId xmlns:a16="http://schemas.microsoft.com/office/drawing/2014/main" id="{E2885AB6-3600-DDB8-C93B-878D32B05076}"/>
              </a:ext>
            </a:extLst>
          </p:cNvPr>
          <p:cNvGraphicFramePr>
            <a:graphicFrameLocks noGrp="1"/>
          </p:cNvGraphicFramePr>
          <p:nvPr>
            <p:extLst>
              <p:ext uri="{D42A27DB-BD31-4B8C-83A1-F6EECF244321}">
                <p14:modId xmlns:p14="http://schemas.microsoft.com/office/powerpoint/2010/main" val="1724124495"/>
              </p:ext>
            </p:extLst>
          </p:nvPr>
        </p:nvGraphicFramePr>
        <p:xfrm>
          <a:off x="803195" y="1763146"/>
          <a:ext cx="10585610" cy="3749040"/>
        </p:xfrm>
        <a:graphic>
          <a:graphicData uri="http://schemas.openxmlformats.org/drawingml/2006/table">
            <a:tbl>
              <a:tblPr firstRow="1" bandCol="1">
                <a:tableStyleId>{B301B821-A1FF-4177-AEE7-76D212191A09}</a:tableStyleId>
              </a:tblPr>
              <a:tblGrid>
                <a:gridCol w="1476693">
                  <a:extLst>
                    <a:ext uri="{9D8B030D-6E8A-4147-A177-3AD203B41FA5}">
                      <a16:colId xmlns:a16="http://schemas.microsoft.com/office/drawing/2014/main" val="418723005"/>
                    </a:ext>
                  </a:extLst>
                </a:gridCol>
                <a:gridCol w="1424225">
                  <a:extLst>
                    <a:ext uri="{9D8B030D-6E8A-4147-A177-3AD203B41FA5}">
                      <a16:colId xmlns:a16="http://schemas.microsoft.com/office/drawing/2014/main" val="789089246"/>
                    </a:ext>
                  </a:extLst>
                </a:gridCol>
                <a:gridCol w="4357536">
                  <a:extLst>
                    <a:ext uri="{9D8B030D-6E8A-4147-A177-3AD203B41FA5}">
                      <a16:colId xmlns:a16="http://schemas.microsoft.com/office/drawing/2014/main" val="2261178936"/>
                    </a:ext>
                  </a:extLst>
                </a:gridCol>
                <a:gridCol w="3327156">
                  <a:extLst>
                    <a:ext uri="{9D8B030D-6E8A-4147-A177-3AD203B41FA5}">
                      <a16:colId xmlns:a16="http://schemas.microsoft.com/office/drawing/2014/main" val="1067291122"/>
                    </a:ext>
                  </a:extLst>
                </a:gridCol>
              </a:tblGrid>
              <a:tr h="0">
                <a:tc>
                  <a:txBody>
                    <a:bodyPr/>
                    <a:lstStyle/>
                    <a:p>
                      <a:pPr>
                        <a:buNone/>
                      </a:pPr>
                      <a:r>
                        <a:rPr lang="pl-PL"/>
                        <a:t>Component</a:t>
                      </a:r>
                    </a:p>
                  </a:txBody>
                  <a:tcPr anchor="ctr"/>
                </a:tc>
                <a:tc>
                  <a:txBody>
                    <a:bodyPr/>
                    <a:lstStyle/>
                    <a:p>
                      <a:pPr>
                        <a:buNone/>
                      </a:pPr>
                      <a:r>
                        <a:rPr lang="pl-PL"/>
                        <a:t>Model</a:t>
                      </a:r>
                    </a:p>
                  </a:txBody>
                  <a:tcPr anchor="ctr"/>
                </a:tc>
                <a:tc>
                  <a:txBody>
                    <a:bodyPr/>
                    <a:lstStyle/>
                    <a:p>
                      <a:pPr>
                        <a:buNone/>
                      </a:pPr>
                      <a:r>
                        <a:rPr lang="pl-PL" err="1"/>
                        <a:t>Purpose</a:t>
                      </a:r>
                      <a:endParaRPr lang="pl-PL"/>
                    </a:p>
                  </a:txBody>
                  <a:tcPr anchor="ctr"/>
                </a:tc>
                <a:tc>
                  <a:txBody>
                    <a:bodyPr/>
                    <a:lstStyle/>
                    <a:p>
                      <a:pPr>
                        <a:buNone/>
                      </a:pPr>
                      <a:r>
                        <a:rPr lang="pl-PL" err="1"/>
                        <a:t>Comments</a:t>
                      </a:r>
                      <a:endParaRPr lang="pl-PL"/>
                    </a:p>
                  </a:txBody>
                  <a:tcPr anchor="ctr"/>
                </a:tc>
                <a:extLst>
                  <a:ext uri="{0D108BD9-81ED-4DB2-BD59-A6C34878D82A}">
                    <a16:rowId xmlns:a16="http://schemas.microsoft.com/office/drawing/2014/main" val="2271464794"/>
                  </a:ext>
                </a:extLst>
              </a:tr>
              <a:tr h="0">
                <a:tc>
                  <a:txBody>
                    <a:bodyPr/>
                    <a:lstStyle/>
                    <a:p>
                      <a:pPr>
                        <a:buNone/>
                      </a:pPr>
                      <a:r>
                        <a:rPr lang="en-GB" b="0" err="1"/>
                        <a:t>Plany</a:t>
                      </a:r>
                      <a:endParaRPr lang="en-GB" b="0"/>
                    </a:p>
                  </a:txBody>
                  <a:tcPr anchor="ctr"/>
                </a:tc>
                <a:tc>
                  <a:txBody>
                    <a:bodyPr/>
                    <a:lstStyle/>
                    <a:p>
                      <a:pPr>
                        <a:buNone/>
                      </a:pPr>
                      <a:r>
                        <a:rPr lang="en-GB"/>
                        <a:t>CNC Machine</a:t>
                      </a:r>
                    </a:p>
                  </a:txBody>
                  <a:tcPr anchor="ctr"/>
                </a:tc>
                <a:tc>
                  <a:txBody>
                    <a:bodyPr/>
                    <a:lstStyle/>
                    <a:p>
                      <a:pPr>
                        <a:buNone/>
                      </a:pPr>
                      <a:r>
                        <a:rPr lang="en-GB"/>
                        <a:t>The physical system under observation / controlled equipment.</a:t>
                      </a:r>
                    </a:p>
                  </a:txBody>
                  <a:tcPr anchor="ctr"/>
                </a:tc>
                <a:tc>
                  <a:txBody>
                    <a:bodyPr/>
                    <a:lstStyle/>
                    <a:p>
                      <a:pPr>
                        <a:buNone/>
                      </a:pPr>
                      <a:r>
                        <a:rPr lang="en-GB"/>
                        <a:t>Experimental setup for machining operations (e.g., milling, turning).</a:t>
                      </a:r>
                    </a:p>
                  </a:txBody>
                  <a:tcPr anchor="ctr"/>
                </a:tc>
                <a:extLst>
                  <a:ext uri="{0D108BD9-81ED-4DB2-BD59-A6C34878D82A}">
                    <a16:rowId xmlns:a16="http://schemas.microsoft.com/office/drawing/2014/main" val="326115372"/>
                  </a:ext>
                </a:extLst>
              </a:tr>
              <a:tr h="0">
                <a:tc>
                  <a:txBody>
                    <a:bodyPr/>
                    <a:lstStyle/>
                    <a:p>
                      <a:pPr>
                        <a:buNone/>
                      </a:pPr>
                      <a:r>
                        <a:rPr lang="pl-PL"/>
                        <a:t>Sensor 1</a:t>
                      </a:r>
                    </a:p>
                  </a:txBody>
                  <a:tcPr anchor="ctr"/>
                </a:tc>
                <a:tc>
                  <a:txBody>
                    <a:bodyPr/>
                    <a:lstStyle/>
                    <a:p>
                      <a:pPr fontAlgn="base"/>
                      <a:r>
                        <a:rPr lang="en-GB" sz="1800" b="0" i="0" kern="1200">
                          <a:solidFill>
                            <a:schemeClr val="dk1"/>
                          </a:solidFill>
                          <a:effectLst/>
                          <a:latin typeface="+mn-lt"/>
                          <a:ea typeface="+mn-ea"/>
                          <a:cs typeface="+mn-cs"/>
                        </a:rPr>
                        <a:t>Model 601A02</a:t>
                      </a:r>
                    </a:p>
                  </a:txBody>
                  <a:tcPr anchor="ctr"/>
                </a:tc>
                <a:tc>
                  <a:txBody>
                    <a:bodyPr/>
                    <a:lstStyle/>
                    <a:p>
                      <a:pPr>
                        <a:buNone/>
                      </a:pPr>
                      <a:r>
                        <a:rPr lang="en-GB"/>
                        <a:t>Measures structural vibrations/accelerations on the CNC machine.</a:t>
                      </a:r>
                    </a:p>
                  </a:txBody>
                  <a:tcPr anchor="ctr"/>
                </a:tc>
                <a:tc>
                  <a:txBody>
                    <a:bodyPr/>
                    <a:lstStyle/>
                    <a:p>
                      <a:pPr>
                        <a:buNone/>
                      </a:pPr>
                      <a:r>
                        <a:rPr lang="en-GB"/>
                        <a:t>Industrial ICP®/IEPE accelerometer (500 mV/g sensitivity) mounted on the work table.</a:t>
                      </a:r>
                    </a:p>
                  </a:txBody>
                  <a:tcPr anchor="ctr"/>
                </a:tc>
                <a:extLst>
                  <a:ext uri="{0D108BD9-81ED-4DB2-BD59-A6C34878D82A}">
                    <a16:rowId xmlns:a16="http://schemas.microsoft.com/office/drawing/2014/main" val="1442910012"/>
                  </a:ext>
                </a:extLst>
              </a:tr>
              <a:tr h="0">
                <a:tc>
                  <a:txBody>
                    <a:bodyPr/>
                    <a:lstStyle/>
                    <a:p>
                      <a:pPr>
                        <a:buNone/>
                      </a:pPr>
                      <a:r>
                        <a:rPr lang="pl-PL"/>
                        <a:t>DAQ </a:t>
                      </a:r>
                      <a:r>
                        <a:rPr lang="pl-PL" err="1"/>
                        <a:t>device</a:t>
                      </a:r>
                      <a:endParaRPr lang="pl-PL"/>
                    </a:p>
                  </a:txBody>
                  <a:tcPr anchor="ctr"/>
                </a:tc>
                <a:tc>
                  <a:txBody>
                    <a:bodyPr/>
                    <a:lstStyle/>
                    <a:p>
                      <a:pPr>
                        <a:buNone/>
                      </a:pPr>
                      <a:r>
                        <a:rPr lang="en-GB"/>
                        <a:t>NI 9232</a:t>
                      </a:r>
                      <a:endParaRPr lang="pl-PL"/>
                    </a:p>
                  </a:txBody>
                  <a:tcPr anchor="ctr"/>
                </a:tc>
                <a:tc>
                  <a:txBody>
                    <a:bodyPr/>
                    <a:lstStyle/>
                    <a:p>
                      <a:pPr>
                        <a:buNone/>
                      </a:pPr>
                      <a:r>
                        <a:rPr lang="en-GB"/>
                        <a:t>High-speed dynamic signal acquisition and conditioning for the accelerometer.</a:t>
                      </a:r>
                    </a:p>
                  </a:txBody>
                  <a:tcPr anchor="ctr"/>
                </a:tc>
                <a:tc>
                  <a:txBody>
                    <a:bodyPr/>
                    <a:lstStyle/>
                    <a:p>
                      <a:pPr>
                        <a:buNone/>
                      </a:pPr>
                      <a:r>
                        <a:rPr lang="en-GB"/>
                        <a:t>3-channel, 24-bit software-selectable IEPE/AC/DC </a:t>
                      </a:r>
                      <a:r>
                        <a:rPr lang="en-GB" err="1"/>
                        <a:t>analog</a:t>
                      </a:r>
                      <a:r>
                        <a:rPr lang="en-GB"/>
                        <a:t> input module.</a:t>
                      </a:r>
                    </a:p>
                  </a:txBody>
                  <a:tcPr anchor="ctr"/>
                </a:tc>
                <a:extLst>
                  <a:ext uri="{0D108BD9-81ED-4DB2-BD59-A6C34878D82A}">
                    <a16:rowId xmlns:a16="http://schemas.microsoft.com/office/drawing/2014/main" val="3887355935"/>
                  </a:ext>
                </a:extLst>
              </a:tr>
              <a:tr h="0">
                <a:tc>
                  <a:txBody>
                    <a:bodyPr/>
                    <a:lstStyle/>
                    <a:p>
                      <a:pPr>
                        <a:buNone/>
                      </a:pPr>
                      <a:r>
                        <a:rPr lang="pl-PL"/>
                        <a:t>Controller</a:t>
                      </a:r>
                    </a:p>
                  </a:txBody>
                  <a:tcPr anchor="ctr"/>
                </a:tc>
                <a:tc>
                  <a:txBody>
                    <a:bodyPr/>
                    <a:lstStyle/>
                    <a:p>
                      <a:pPr>
                        <a:buNone/>
                      </a:pPr>
                      <a:r>
                        <a:rPr lang="en-GB"/>
                        <a:t>cDAQ-9171</a:t>
                      </a:r>
                      <a:endParaRPr lang="pl-PL"/>
                    </a:p>
                  </a:txBody>
                  <a:tcPr anchor="ctr"/>
                </a:tc>
                <a:tc>
                  <a:txBody>
                    <a:bodyPr/>
                    <a:lstStyle/>
                    <a:p>
                      <a:pPr>
                        <a:buNone/>
                      </a:pPr>
                      <a:r>
                        <a:rPr lang="en-GB"/>
                        <a:t>Houses the DAQ module and transfers data to the host PC via USB.</a:t>
                      </a:r>
                    </a:p>
                  </a:txBody>
                  <a:tcPr anchor="ctr"/>
                </a:tc>
                <a:tc>
                  <a:txBody>
                    <a:bodyPr/>
                    <a:lstStyle/>
                    <a:p>
                      <a:pPr>
                        <a:buNone/>
                      </a:pPr>
                      <a:r>
                        <a:rPr lang="en-GB"/>
                        <a:t>1-slot, bus-powered </a:t>
                      </a:r>
                      <a:r>
                        <a:rPr lang="en-GB" err="1"/>
                        <a:t>CompactDAQ</a:t>
                      </a:r>
                      <a:r>
                        <a:rPr lang="en-GB"/>
                        <a:t> USB chassis.</a:t>
                      </a:r>
                    </a:p>
                  </a:txBody>
                  <a:tcPr anchor="ctr"/>
                </a:tc>
                <a:extLst>
                  <a:ext uri="{0D108BD9-81ED-4DB2-BD59-A6C34878D82A}">
                    <a16:rowId xmlns:a16="http://schemas.microsoft.com/office/drawing/2014/main" val="2991565544"/>
                  </a:ext>
                </a:extLst>
              </a:tr>
            </a:tbl>
          </a:graphicData>
        </a:graphic>
      </p:graphicFrame>
      <p:sp>
        <p:nvSpPr>
          <p:cNvPr id="5" name="pole tekstowe 4">
            <a:extLst>
              <a:ext uri="{FF2B5EF4-FFF2-40B4-BE49-F238E27FC236}">
                <a16:creationId xmlns:a16="http://schemas.microsoft.com/office/drawing/2014/main" id="{E2D7C75E-F9EB-4801-BA34-B424FB4221B4}"/>
              </a:ext>
            </a:extLst>
          </p:cNvPr>
          <p:cNvSpPr txBox="1"/>
          <p:nvPr/>
        </p:nvSpPr>
        <p:spPr>
          <a:xfrm>
            <a:off x="577392" y="1254374"/>
            <a:ext cx="6094428" cy="369332"/>
          </a:xfrm>
          <a:prstGeom prst="rect">
            <a:avLst/>
          </a:prstGeom>
          <a:noFill/>
        </p:spPr>
        <p:txBody>
          <a:bodyPr wrap="square">
            <a:spAutoFit/>
          </a:bodyPr>
          <a:lstStyle/>
          <a:p>
            <a:r>
              <a:rPr lang="en-US" sz="1800" b="1">
                <a:solidFill>
                  <a:srgbClr val="1A2E52"/>
                </a:solidFill>
                <a:latin typeface="Colber"/>
              </a:rPr>
              <a:t>Selected Hardware</a:t>
            </a:r>
          </a:p>
        </p:txBody>
      </p:sp>
    </p:spTree>
    <p:extLst>
      <p:ext uri="{BB962C8B-B14F-4D97-AF65-F5344CB8AC3E}">
        <p14:creationId xmlns:p14="http://schemas.microsoft.com/office/powerpoint/2010/main" val="365812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7E8F-3EDC-A563-0E3E-E150642C11F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8F1E1987-0B8D-DE29-E2C1-206F2B840D1A}"/>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EAA90D21-9C4A-2619-7B07-1EE0401BC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D0076C67-EAD6-DC92-B581-933B19E54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8823835-C715-C4E0-9B0B-8489B7024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6DFD0DCC-41E2-3EAC-BA8C-5265D039DA4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BD1F889-0B53-79E7-6481-C233AA6DE16D}"/>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13F8F09-E79A-7152-0E54-4DA69C2618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5BC92CCA-FDA0-21E4-6A76-997CF70C2364}"/>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69439FB7-99D6-09F4-9037-75A920A32105}"/>
              </a:ext>
            </a:extLst>
          </p:cNvPr>
          <p:cNvSpPr txBox="1"/>
          <p:nvPr/>
        </p:nvSpPr>
        <p:spPr>
          <a:xfrm>
            <a:off x="577391" y="847567"/>
            <a:ext cx="7454245" cy="400110"/>
          </a:xfrm>
          <a:prstGeom prst="rect">
            <a:avLst/>
          </a:prstGeom>
          <a:noFill/>
        </p:spPr>
        <p:txBody>
          <a:bodyPr wrap="square">
            <a:spAutoFit/>
          </a:bodyPr>
          <a:lstStyle/>
          <a:p>
            <a:r>
              <a:rPr lang="en-US" sz="2000" b="1">
                <a:solidFill>
                  <a:srgbClr val="1A2E52"/>
                </a:solidFill>
                <a:latin typeface="Colber"/>
              </a:rPr>
              <a:t>Hardware Setup and Sensor Integration (Time</a:t>
            </a:r>
            <a:r>
              <a:rPr lang="pl-PL" sz="2000" b="1">
                <a:solidFill>
                  <a:srgbClr val="1A2E52"/>
                </a:solidFill>
                <a:latin typeface="Colber"/>
              </a:rPr>
              <a:t>: </a:t>
            </a:r>
            <a:r>
              <a:rPr lang="pl-PL" sz="2000" b="1" err="1">
                <a:solidFill>
                  <a:srgbClr val="1A2E52"/>
                </a:solidFill>
                <a:latin typeface="Colber"/>
              </a:rPr>
              <a:t>included</a:t>
            </a:r>
            <a:r>
              <a:rPr lang="pl-PL" sz="2000" b="1">
                <a:solidFill>
                  <a:srgbClr val="1A2E52"/>
                </a:solidFill>
                <a:latin typeface="Colber"/>
              </a:rPr>
              <a:t> in</a:t>
            </a:r>
            <a:r>
              <a:rPr lang="en-US" sz="2000" b="1">
                <a:solidFill>
                  <a:srgbClr val="1A2E52"/>
                </a:solidFill>
                <a:latin typeface="Colber"/>
              </a:rPr>
              <a:t> </a:t>
            </a:r>
            <a:r>
              <a:rPr lang="pl-PL" sz="2000" b="1">
                <a:solidFill>
                  <a:srgbClr val="1A2E52"/>
                </a:solidFill>
                <a:latin typeface="Colber"/>
              </a:rPr>
              <a:t>2</a:t>
            </a:r>
            <a:r>
              <a:rPr lang="en-US" sz="2000" b="1">
                <a:solidFill>
                  <a:srgbClr val="1A2E52"/>
                </a:solidFill>
                <a:latin typeface="Colber"/>
              </a:rPr>
              <a:t>5 min)</a:t>
            </a:r>
          </a:p>
        </p:txBody>
      </p:sp>
      <p:graphicFrame>
        <p:nvGraphicFramePr>
          <p:cNvPr id="13" name="Tabela 12">
            <a:extLst>
              <a:ext uri="{FF2B5EF4-FFF2-40B4-BE49-F238E27FC236}">
                <a16:creationId xmlns:a16="http://schemas.microsoft.com/office/drawing/2014/main" id="{7DA58163-F47F-E41F-686C-CCEFDC340237}"/>
              </a:ext>
            </a:extLst>
          </p:cNvPr>
          <p:cNvGraphicFramePr>
            <a:graphicFrameLocks noGrp="1"/>
          </p:cNvGraphicFramePr>
          <p:nvPr>
            <p:extLst>
              <p:ext uri="{D42A27DB-BD31-4B8C-83A1-F6EECF244321}">
                <p14:modId xmlns:p14="http://schemas.microsoft.com/office/powerpoint/2010/main" val="1716717009"/>
              </p:ext>
            </p:extLst>
          </p:nvPr>
        </p:nvGraphicFramePr>
        <p:xfrm>
          <a:off x="801994" y="2515226"/>
          <a:ext cx="11056925" cy="1554480"/>
        </p:xfrm>
        <a:graphic>
          <a:graphicData uri="http://schemas.openxmlformats.org/drawingml/2006/table">
            <a:tbl>
              <a:tblPr firstRow="1" bandCol="1">
                <a:tableStyleId>{B301B821-A1FF-4177-AEE7-76D212191A09}</a:tableStyleId>
              </a:tblPr>
              <a:tblGrid>
                <a:gridCol w="1948008">
                  <a:extLst>
                    <a:ext uri="{9D8B030D-6E8A-4147-A177-3AD203B41FA5}">
                      <a16:colId xmlns:a16="http://schemas.microsoft.com/office/drawing/2014/main" val="418723005"/>
                    </a:ext>
                  </a:extLst>
                </a:gridCol>
                <a:gridCol w="2633761">
                  <a:extLst>
                    <a:ext uri="{9D8B030D-6E8A-4147-A177-3AD203B41FA5}">
                      <a16:colId xmlns:a16="http://schemas.microsoft.com/office/drawing/2014/main" val="789089246"/>
                    </a:ext>
                  </a:extLst>
                </a:gridCol>
                <a:gridCol w="2892490">
                  <a:extLst>
                    <a:ext uri="{9D8B030D-6E8A-4147-A177-3AD203B41FA5}">
                      <a16:colId xmlns:a16="http://schemas.microsoft.com/office/drawing/2014/main" val="2261178936"/>
                    </a:ext>
                  </a:extLst>
                </a:gridCol>
                <a:gridCol w="3582666">
                  <a:extLst>
                    <a:ext uri="{9D8B030D-6E8A-4147-A177-3AD203B41FA5}">
                      <a16:colId xmlns:a16="http://schemas.microsoft.com/office/drawing/2014/main" val="1067291122"/>
                    </a:ext>
                  </a:extLst>
                </a:gridCol>
              </a:tblGrid>
              <a:tr h="0">
                <a:tc>
                  <a:txBody>
                    <a:bodyPr/>
                    <a:lstStyle/>
                    <a:p>
                      <a:pPr>
                        <a:buNone/>
                      </a:pPr>
                      <a:r>
                        <a:rPr lang="pl-PL"/>
                        <a:t>Channel</a:t>
                      </a:r>
                    </a:p>
                  </a:txBody>
                  <a:tcPr anchor="ctr"/>
                </a:tc>
                <a:tc>
                  <a:txBody>
                    <a:bodyPr/>
                    <a:lstStyle/>
                    <a:p>
                      <a:pPr>
                        <a:buNone/>
                      </a:pPr>
                      <a:r>
                        <a:rPr lang="pl-PL" err="1"/>
                        <a:t>Signal</a:t>
                      </a:r>
                      <a:endParaRPr lang="pl-PL"/>
                    </a:p>
                  </a:txBody>
                  <a:tcPr anchor="ctr"/>
                </a:tc>
                <a:tc>
                  <a:txBody>
                    <a:bodyPr/>
                    <a:lstStyle/>
                    <a:p>
                      <a:pPr>
                        <a:buNone/>
                      </a:pPr>
                      <a:r>
                        <a:rPr lang="pl-PL"/>
                        <a:t>Sensor</a:t>
                      </a:r>
                    </a:p>
                  </a:txBody>
                  <a:tcPr anchor="ctr"/>
                </a:tc>
                <a:tc>
                  <a:txBody>
                    <a:bodyPr/>
                    <a:lstStyle/>
                    <a:p>
                      <a:pPr>
                        <a:buNone/>
                      </a:pPr>
                      <a:r>
                        <a:rPr lang="pl-PL" err="1"/>
                        <a:t>Comments</a:t>
                      </a:r>
                      <a:endParaRPr lang="pl-PL"/>
                    </a:p>
                  </a:txBody>
                  <a:tcPr anchor="ctr"/>
                </a:tc>
                <a:extLst>
                  <a:ext uri="{0D108BD9-81ED-4DB2-BD59-A6C34878D82A}">
                    <a16:rowId xmlns:a16="http://schemas.microsoft.com/office/drawing/2014/main" val="2271464794"/>
                  </a:ext>
                </a:extLst>
              </a:tr>
              <a:tr h="0">
                <a:tc>
                  <a:txBody>
                    <a:bodyPr/>
                    <a:lstStyle/>
                    <a:p>
                      <a:pPr>
                        <a:buNone/>
                      </a:pPr>
                      <a:r>
                        <a:rPr lang="pl-PL"/>
                        <a:t>AI</a:t>
                      </a:r>
                      <a:r>
                        <a:rPr lang="en-GB"/>
                        <a:t>0</a:t>
                      </a:r>
                      <a:endParaRPr lang="pl-PL"/>
                    </a:p>
                  </a:txBody>
                  <a:tcPr anchor="ctr"/>
                </a:tc>
                <a:tc>
                  <a:txBody>
                    <a:bodyPr/>
                    <a:lstStyle/>
                    <a:p>
                      <a:pPr>
                        <a:buNone/>
                      </a:pPr>
                      <a:r>
                        <a:rPr lang="en-GB"/>
                        <a:t>Vibration (Acceleration)</a:t>
                      </a:r>
                    </a:p>
                  </a:txBody>
                  <a:tcPr anchor="ctr"/>
                </a:tc>
                <a:tc>
                  <a:txBody>
                    <a:bodyPr/>
                    <a:lstStyle/>
                    <a:p>
                      <a:pPr>
                        <a:buNone/>
                      </a:pPr>
                      <a:r>
                        <a:rPr lang="en-GB"/>
                        <a:t>Model 601A02</a:t>
                      </a:r>
                    </a:p>
                  </a:txBody>
                  <a:tcPr anchor="ctr"/>
                </a:tc>
                <a:tc>
                  <a:txBody>
                    <a:bodyPr/>
                    <a:lstStyle/>
                    <a:p>
                      <a:pPr>
                        <a:buNone/>
                      </a:pPr>
                      <a:r>
                        <a:rPr lang="en-GB"/>
                        <a:t>Requires IEPE excitation current (enabled via software) and AC coupling for dynamic vibration analysis.</a:t>
                      </a:r>
                    </a:p>
                  </a:txBody>
                  <a:tcPr anchor="ctr"/>
                </a:tc>
                <a:extLst>
                  <a:ext uri="{0D108BD9-81ED-4DB2-BD59-A6C34878D82A}">
                    <a16:rowId xmlns:a16="http://schemas.microsoft.com/office/drawing/2014/main" val="326115372"/>
                  </a:ext>
                </a:extLst>
              </a:tr>
            </a:tbl>
          </a:graphicData>
        </a:graphic>
      </p:graphicFrame>
      <p:sp>
        <p:nvSpPr>
          <p:cNvPr id="5" name="pole tekstowe 4">
            <a:extLst>
              <a:ext uri="{FF2B5EF4-FFF2-40B4-BE49-F238E27FC236}">
                <a16:creationId xmlns:a16="http://schemas.microsoft.com/office/drawing/2014/main" id="{880B3375-1C90-93D1-CD25-7F88A2BCECAB}"/>
              </a:ext>
            </a:extLst>
          </p:cNvPr>
          <p:cNvSpPr txBox="1"/>
          <p:nvPr/>
        </p:nvSpPr>
        <p:spPr>
          <a:xfrm>
            <a:off x="577392" y="1254374"/>
            <a:ext cx="6094428" cy="923330"/>
          </a:xfrm>
          <a:prstGeom prst="rect">
            <a:avLst/>
          </a:prstGeom>
          <a:noFill/>
        </p:spPr>
        <p:txBody>
          <a:bodyPr wrap="square">
            <a:spAutoFit/>
          </a:bodyPr>
          <a:lstStyle/>
          <a:p>
            <a:r>
              <a:rPr lang="en-US" sz="1800" b="1">
                <a:solidFill>
                  <a:srgbClr val="1A2E52"/>
                </a:solidFill>
                <a:latin typeface="Colber"/>
              </a:rPr>
              <a:t>Sensor Connections</a:t>
            </a:r>
            <a:endParaRPr lang="pl-PL" sz="1800" b="1">
              <a:solidFill>
                <a:srgbClr val="1A2E52"/>
              </a:solidFill>
              <a:latin typeface="Colber"/>
            </a:endParaRPr>
          </a:p>
          <a:p>
            <a:endParaRPr lang="pl-PL" sz="1800" b="1">
              <a:solidFill>
                <a:srgbClr val="1A2E52"/>
              </a:solidFill>
              <a:latin typeface="Colber"/>
            </a:endParaRPr>
          </a:p>
          <a:p>
            <a:r>
              <a:rPr lang="en-US" sz="1800">
                <a:solidFill>
                  <a:srgbClr val="1A2E52"/>
                </a:solidFill>
                <a:latin typeface="Colber"/>
              </a:rPr>
              <a:t>Input channels</a:t>
            </a:r>
          </a:p>
        </p:txBody>
      </p:sp>
    </p:spTree>
    <p:extLst>
      <p:ext uri="{BB962C8B-B14F-4D97-AF65-F5344CB8AC3E}">
        <p14:creationId xmlns:p14="http://schemas.microsoft.com/office/powerpoint/2010/main" val="250894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B197-9ADA-00B6-0AE3-B4BDF4D89C3A}"/>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ED70969D-D295-08C2-2C7A-263367C568FD}"/>
              </a:ext>
            </a:extLst>
          </p:cNvPr>
          <p:cNvSpPr>
            <a:spLocks noChangeAspect="1"/>
          </p:cNvSpPr>
          <p:nvPr/>
        </p:nvSpPr>
        <p:spPr>
          <a:xfrm>
            <a:off x="69377"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E31B722-9EA9-0FE8-C71F-DC0647CEE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1C2CE13-C962-AE83-0F62-719F9B89E9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BF960536-95FA-80F4-AA21-537106EC96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8D0A706B-8AAB-C325-4D79-6939EC51ECC7}"/>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60BDEBE4-0C72-2F3E-930B-5C267382840D}"/>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6D299EEE-75F6-047D-313D-D5C7876A14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BD59A5DD-F546-BD62-8AC8-EEDCE62B417D}"/>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591BFCD1-5A09-9E4A-2840-DC1AA701D507}"/>
              </a:ext>
            </a:extLst>
          </p:cNvPr>
          <p:cNvSpPr txBox="1"/>
          <p:nvPr/>
        </p:nvSpPr>
        <p:spPr>
          <a:xfrm>
            <a:off x="577391" y="847567"/>
            <a:ext cx="7454245" cy="400110"/>
          </a:xfrm>
          <a:prstGeom prst="rect">
            <a:avLst/>
          </a:prstGeom>
          <a:noFill/>
        </p:spPr>
        <p:txBody>
          <a:bodyPr wrap="square">
            <a:spAutoFit/>
          </a:bodyPr>
          <a:lstStyle/>
          <a:p>
            <a:r>
              <a:rPr lang="en-US" sz="2000" b="1">
                <a:solidFill>
                  <a:srgbClr val="1A2E52"/>
                </a:solidFill>
                <a:latin typeface="Colber"/>
              </a:rPr>
              <a:t>Sensor Calibration</a:t>
            </a:r>
            <a:r>
              <a:rPr lang="pl-PL" sz="2000" b="1">
                <a:solidFill>
                  <a:srgbClr val="1A2E52"/>
                </a:solidFill>
                <a:latin typeface="Colber"/>
              </a:rPr>
              <a:t> </a:t>
            </a:r>
            <a:r>
              <a:rPr lang="en-US" sz="2000" b="1">
                <a:solidFill>
                  <a:srgbClr val="1A2E52"/>
                </a:solidFill>
                <a:latin typeface="Colber"/>
              </a:rPr>
              <a:t>(Time</a:t>
            </a:r>
            <a:r>
              <a:rPr lang="pl-PL" sz="2000" b="1">
                <a:solidFill>
                  <a:srgbClr val="1A2E52"/>
                </a:solidFill>
                <a:latin typeface="Colber"/>
              </a:rPr>
              <a:t>: 20</a:t>
            </a:r>
            <a:r>
              <a:rPr lang="en-US" sz="2000" b="1">
                <a:solidFill>
                  <a:srgbClr val="1A2E52"/>
                </a:solidFill>
                <a:latin typeface="Colber"/>
              </a:rPr>
              <a:t> min)</a:t>
            </a:r>
          </a:p>
        </p:txBody>
      </p:sp>
      <p:sp>
        <p:nvSpPr>
          <p:cNvPr id="5" name="pole tekstowe 4">
            <a:extLst>
              <a:ext uri="{FF2B5EF4-FFF2-40B4-BE49-F238E27FC236}">
                <a16:creationId xmlns:a16="http://schemas.microsoft.com/office/drawing/2014/main" id="{0FA3F498-CD15-7D50-00DB-B4418C840DD2}"/>
              </a:ext>
            </a:extLst>
          </p:cNvPr>
          <p:cNvSpPr txBox="1"/>
          <p:nvPr/>
        </p:nvSpPr>
        <p:spPr>
          <a:xfrm>
            <a:off x="577392" y="1247117"/>
            <a:ext cx="6094428" cy="369332"/>
          </a:xfrm>
          <a:prstGeom prst="rect">
            <a:avLst/>
          </a:prstGeom>
          <a:noFill/>
          <a:ln>
            <a:solidFill>
              <a:srgbClr val="4472C4"/>
            </a:solidFill>
          </a:ln>
        </p:spPr>
        <p:txBody>
          <a:bodyPr wrap="square" lIns="91440" tIns="45720" rIns="91440" bIns="45720" anchor="t">
            <a:spAutoFit/>
          </a:bodyPr>
          <a:lstStyle/>
          <a:p>
            <a:r>
              <a:rPr lang="en-US" sz="1800" b="1">
                <a:solidFill>
                  <a:srgbClr val="1A2E52"/>
                </a:solidFill>
                <a:latin typeface="Colber"/>
              </a:rPr>
              <a:t>Sensor </a:t>
            </a:r>
            <a:r>
              <a:rPr lang="pl-PL" sz="1800" b="1">
                <a:solidFill>
                  <a:srgbClr val="1A2E52"/>
                </a:solidFill>
                <a:latin typeface="Colber"/>
              </a:rPr>
              <a:t>Calibration </a:t>
            </a:r>
            <a:r>
              <a:rPr lang="pl-PL" b="1">
                <a:solidFill>
                  <a:srgbClr val="1A2E52"/>
                </a:solidFill>
                <a:latin typeface="Colber"/>
              </a:rPr>
              <a:t>Setup</a:t>
            </a:r>
            <a:endParaRPr lang="en-US"/>
          </a:p>
        </p:txBody>
      </p:sp>
      <p:sp>
        <p:nvSpPr>
          <p:cNvPr id="7" name="pole tekstowe 6">
            <a:extLst>
              <a:ext uri="{FF2B5EF4-FFF2-40B4-BE49-F238E27FC236}">
                <a16:creationId xmlns:a16="http://schemas.microsoft.com/office/drawing/2014/main" id="{001B88FA-F474-871B-1E27-ABF78053D2B2}"/>
              </a:ext>
            </a:extLst>
          </p:cNvPr>
          <p:cNvSpPr txBox="1"/>
          <p:nvPr/>
        </p:nvSpPr>
        <p:spPr>
          <a:xfrm>
            <a:off x="512077" y="4084857"/>
            <a:ext cx="11120272" cy="2031325"/>
          </a:xfrm>
          <a:prstGeom prst="rect">
            <a:avLst/>
          </a:prstGeom>
          <a:noFill/>
        </p:spPr>
        <p:txBody>
          <a:bodyPr wrap="square">
            <a:spAutoFit/>
          </a:bodyPr>
          <a:lstStyle/>
          <a:p>
            <a:r>
              <a:rPr lang="pl-PL" b="1" err="1">
                <a:solidFill>
                  <a:srgbClr val="1A2E52"/>
                </a:solidFill>
                <a:latin typeface="Colber"/>
              </a:rPr>
              <a:t>Describe</a:t>
            </a:r>
            <a:r>
              <a:rPr lang="pl-PL" b="1">
                <a:solidFill>
                  <a:srgbClr val="1A2E52"/>
                </a:solidFill>
                <a:latin typeface="Colber"/>
              </a:rPr>
              <a:t> the </a:t>
            </a:r>
            <a:r>
              <a:rPr lang="pl-PL" b="1" err="1">
                <a:solidFill>
                  <a:srgbClr val="1A2E52"/>
                </a:solidFill>
                <a:latin typeface="Colber"/>
              </a:rPr>
              <a:t>planned</a:t>
            </a:r>
            <a:r>
              <a:rPr lang="pl-PL" b="1">
                <a:solidFill>
                  <a:srgbClr val="1A2E52"/>
                </a:solidFill>
                <a:latin typeface="Colber"/>
              </a:rPr>
              <a:t> </a:t>
            </a:r>
            <a:r>
              <a:rPr lang="pl-PL" b="1" err="1">
                <a:solidFill>
                  <a:srgbClr val="1A2E52"/>
                </a:solidFill>
                <a:latin typeface="Colber"/>
              </a:rPr>
              <a:t>experiment</a:t>
            </a:r>
            <a:r>
              <a:rPr lang="pl-PL" b="1">
                <a:solidFill>
                  <a:srgbClr val="1A2E52"/>
                </a:solidFill>
                <a:latin typeface="Colber"/>
              </a:rPr>
              <a:t>:</a:t>
            </a:r>
          </a:p>
          <a:p>
            <a:r>
              <a:rPr lang="en-GB"/>
              <a:t>To calibrate the test sensor (Model 601A02), we mount it directly onto the top of a precision reference sensor using a back-to-back method on a vibration shaker so both experience the exact same vibration. Connect the reference sensor and the test sensor to their own separate readout devices. Run the shaker at a stable reference frequency and acceleration level. Record the output voltage from the test sensor and the acceleration from the reference device simultaneously. Finally, calculate the actual sensitivity by dividing the test sensor's voltage by the reference acceleration, and use this new value to scale the sensor for future testing.</a:t>
            </a:r>
            <a:endParaRPr lang="pl-PL">
              <a:solidFill>
                <a:srgbClr val="1A2E52"/>
              </a:solidFill>
              <a:latin typeface="Colber"/>
            </a:endParaRPr>
          </a:p>
        </p:txBody>
      </p:sp>
      <p:pic>
        <p:nvPicPr>
          <p:cNvPr id="8" name="Picture 7" descr="Brak opisu.">
            <a:extLst>
              <a:ext uri="{FF2B5EF4-FFF2-40B4-BE49-F238E27FC236}">
                <a16:creationId xmlns:a16="http://schemas.microsoft.com/office/drawing/2014/main" id="{3EC2467B-1E0D-6785-784F-F01DD2EAEF17}"/>
              </a:ext>
            </a:extLst>
          </p:cNvPr>
          <p:cNvPicPr>
            <a:picLocks noChangeAspect="1"/>
          </p:cNvPicPr>
          <p:nvPr/>
        </p:nvPicPr>
        <p:blipFill>
          <a:blip r:embed="rId7"/>
          <a:srcRect l="256149" t="672078" r="-224919" b="-616883"/>
          <a:stretch>
            <a:fillRect/>
          </a:stretch>
        </p:blipFill>
        <p:spPr>
          <a:xfrm>
            <a:off x="15265862" y="24226776"/>
            <a:ext cx="3059021" cy="1497961"/>
          </a:xfrm>
          <a:prstGeom prst="rect">
            <a:avLst/>
          </a:prstGeom>
        </p:spPr>
      </p:pic>
      <p:pic>
        <p:nvPicPr>
          <p:cNvPr id="20" name="Picture 19" descr="Several electronic devices on a table&#10;&#10;AI-generated content may be incorrect.">
            <a:extLst>
              <a:ext uri="{FF2B5EF4-FFF2-40B4-BE49-F238E27FC236}">
                <a16:creationId xmlns:a16="http://schemas.microsoft.com/office/drawing/2014/main" id="{BFFFCCAB-E0F7-8A06-F531-86E7E39BD576}"/>
              </a:ext>
            </a:extLst>
          </p:cNvPr>
          <p:cNvPicPr>
            <a:picLocks noChangeAspect="1"/>
          </p:cNvPicPr>
          <p:nvPr/>
        </p:nvPicPr>
        <p:blipFill>
          <a:blip r:embed="rId8"/>
          <a:stretch>
            <a:fillRect/>
          </a:stretch>
        </p:blipFill>
        <p:spPr>
          <a:xfrm>
            <a:off x="4618944" y="1895475"/>
            <a:ext cx="2896054" cy="1833336"/>
          </a:xfrm>
          <a:prstGeom prst="rect">
            <a:avLst/>
          </a:prstGeom>
        </p:spPr>
      </p:pic>
    </p:spTree>
    <p:extLst>
      <p:ext uri="{BB962C8B-B14F-4D97-AF65-F5344CB8AC3E}">
        <p14:creationId xmlns:p14="http://schemas.microsoft.com/office/powerpoint/2010/main" val="313870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F915-BAA5-0F4A-4F12-60BDD1D15B52}"/>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67F5DDB-2A1B-F18C-AF8B-993F25C93342}"/>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6806F533-8B37-BB44-B3AF-644219453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3E69BCDD-6FD2-E152-2CA2-DFBC8D5DF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BE13FCC1-39D4-7704-5B1E-EBCD04382D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CF7AC116-CC48-B523-56B7-28653BD58519}"/>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19F9B9DF-1A92-7813-9025-8E03E7F8C8A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3C126A9-27D0-C8C7-2068-FE7C154026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33159CE5-5CCD-CDCA-BD63-3C7322AF456D}"/>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D8E2C577-CC0D-FFBA-A1D7-C49F60060683}"/>
              </a:ext>
            </a:extLst>
          </p:cNvPr>
          <p:cNvSpPr txBox="1"/>
          <p:nvPr/>
        </p:nvSpPr>
        <p:spPr>
          <a:xfrm>
            <a:off x="577391" y="847567"/>
            <a:ext cx="7454245" cy="400110"/>
          </a:xfrm>
          <a:prstGeom prst="rect">
            <a:avLst/>
          </a:prstGeom>
          <a:noFill/>
        </p:spPr>
        <p:txBody>
          <a:bodyPr wrap="square">
            <a:spAutoFit/>
          </a:bodyPr>
          <a:lstStyle/>
          <a:p>
            <a:r>
              <a:rPr lang="en-US" sz="2000" b="1">
                <a:solidFill>
                  <a:srgbClr val="1A2E52"/>
                </a:solidFill>
                <a:latin typeface="Colber"/>
              </a:rPr>
              <a:t>Sensor Calibration</a:t>
            </a:r>
            <a:r>
              <a:rPr lang="pl-PL" sz="2000" b="1">
                <a:solidFill>
                  <a:srgbClr val="1A2E52"/>
                </a:solidFill>
                <a:latin typeface="Colber"/>
              </a:rPr>
              <a:t> </a:t>
            </a:r>
            <a:r>
              <a:rPr lang="en-US" sz="2000" b="1">
                <a:solidFill>
                  <a:srgbClr val="1A2E52"/>
                </a:solidFill>
                <a:latin typeface="Colber"/>
              </a:rPr>
              <a:t>(Time</a:t>
            </a:r>
            <a:r>
              <a:rPr lang="pl-PL" sz="2000" b="1">
                <a:solidFill>
                  <a:srgbClr val="1A2E52"/>
                </a:solidFill>
                <a:latin typeface="Colber"/>
              </a:rPr>
              <a:t>: </a:t>
            </a:r>
            <a:r>
              <a:rPr lang="pl-PL" sz="2000" b="1" err="1">
                <a:solidFill>
                  <a:srgbClr val="1A2E52"/>
                </a:solidFill>
                <a:latin typeface="Colber"/>
              </a:rPr>
              <a:t>included</a:t>
            </a:r>
            <a:r>
              <a:rPr lang="pl-PL" sz="2000" b="1">
                <a:solidFill>
                  <a:srgbClr val="1A2E52"/>
                </a:solidFill>
                <a:latin typeface="Colber"/>
              </a:rPr>
              <a:t> in</a:t>
            </a:r>
            <a:r>
              <a:rPr lang="en-US" sz="2000" b="1">
                <a:solidFill>
                  <a:srgbClr val="1A2E52"/>
                </a:solidFill>
                <a:latin typeface="Colber"/>
              </a:rPr>
              <a:t> </a:t>
            </a:r>
            <a:r>
              <a:rPr lang="pl-PL" sz="2000" b="1">
                <a:solidFill>
                  <a:srgbClr val="1A2E52"/>
                </a:solidFill>
                <a:latin typeface="Colber"/>
              </a:rPr>
              <a:t>20</a:t>
            </a:r>
            <a:r>
              <a:rPr lang="en-US" sz="2000" b="1">
                <a:solidFill>
                  <a:srgbClr val="1A2E52"/>
                </a:solidFill>
                <a:latin typeface="Colber"/>
              </a:rPr>
              <a:t> min)</a:t>
            </a:r>
          </a:p>
        </p:txBody>
      </p:sp>
      <p:graphicFrame>
        <p:nvGraphicFramePr>
          <p:cNvPr id="13" name="Tabela 12">
            <a:extLst>
              <a:ext uri="{FF2B5EF4-FFF2-40B4-BE49-F238E27FC236}">
                <a16:creationId xmlns:a16="http://schemas.microsoft.com/office/drawing/2014/main" id="{101C3699-F9D3-4CEA-1DE4-AC1C5D9576BC}"/>
              </a:ext>
            </a:extLst>
          </p:cNvPr>
          <p:cNvGraphicFramePr>
            <a:graphicFrameLocks noGrp="1"/>
          </p:cNvGraphicFramePr>
          <p:nvPr>
            <p:extLst>
              <p:ext uri="{D42A27DB-BD31-4B8C-83A1-F6EECF244321}">
                <p14:modId xmlns:p14="http://schemas.microsoft.com/office/powerpoint/2010/main" val="510648971"/>
              </p:ext>
            </p:extLst>
          </p:nvPr>
        </p:nvGraphicFramePr>
        <p:xfrm>
          <a:off x="801994" y="2515226"/>
          <a:ext cx="11056925" cy="1828800"/>
        </p:xfrm>
        <a:graphic>
          <a:graphicData uri="http://schemas.openxmlformats.org/drawingml/2006/table">
            <a:tbl>
              <a:tblPr firstRow="1" bandCol="1">
                <a:tableStyleId>{B301B821-A1FF-4177-AEE7-76D212191A09}</a:tableStyleId>
              </a:tblPr>
              <a:tblGrid>
                <a:gridCol w="1728438">
                  <a:extLst>
                    <a:ext uri="{9D8B030D-6E8A-4147-A177-3AD203B41FA5}">
                      <a16:colId xmlns:a16="http://schemas.microsoft.com/office/drawing/2014/main" val="418723005"/>
                    </a:ext>
                  </a:extLst>
                </a:gridCol>
                <a:gridCol w="2135836">
                  <a:extLst>
                    <a:ext uri="{9D8B030D-6E8A-4147-A177-3AD203B41FA5}">
                      <a16:colId xmlns:a16="http://schemas.microsoft.com/office/drawing/2014/main" val="789089246"/>
                    </a:ext>
                  </a:extLst>
                </a:gridCol>
                <a:gridCol w="2177592">
                  <a:extLst>
                    <a:ext uri="{9D8B030D-6E8A-4147-A177-3AD203B41FA5}">
                      <a16:colId xmlns:a16="http://schemas.microsoft.com/office/drawing/2014/main" val="2261178936"/>
                    </a:ext>
                  </a:extLst>
                </a:gridCol>
                <a:gridCol w="2111604">
                  <a:extLst>
                    <a:ext uri="{9D8B030D-6E8A-4147-A177-3AD203B41FA5}">
                      <a16:colId xmlns:a16="http://schemas.microsoft.com/office/drawing/2014/main" val="1067291122"/>
                    </a:ext>
                  </a:extLst>
                </a:gridCol>
                <a:gridCol w="2903455">
                  <a:extLst>
                    <a:ext uri="{9D8B030D-6E8A-4147-A177-3AD203B41FA5}">
                      <a16:colId xmlns:a16="http://schemas.microsoft.com/office/drawing/2014/main" val="1888708406"/>
                    </a:ext>
                  </a:extLst>
                </a:gridCol>
              </a:tblGrid>
              <a:tr h="0">
                <a:tc>
                  <a:txBody>
                    <a:bodyPr/>
                    <a:lstStyle/>
                    <a:p>
                      <a:pPr>
                        <a:buNone/>
                      </a:pPr>
                      <a:r>
                        <a:rPr lang="pl-PL"/>
                        <a:t>Sensor</a:t>
                      </a:r>
                    </a:p>
                  </a:txBody>
                  <a:tcPr anchor="ctr"/>
                </a:tc>
                <a:tc>
                  <a:txBody>
                    <a:bodyPr/>
                    <a:lstStyle/>
                    <a:p>
                      <a:pPr>
                        <a:buNone/>
                      </a:pPr>
                      <a:r>
                        <a:rPr lang="pl-PL"/>
                        <a:t>Reference </a:t>
                      </a:r>
                      <a:r>
                        <a:rPr lang="pl-PL" err="1"/>
                        <a:t>value</a:t>
                      </a:r>
                      <a:endParaRPr lang="pl-PL"/>
                    </a:p>
                  </a:txBody>
                  <a:tcPr anchor="ctr"/>
                </a:tc>
                <a:tc>
                  <a:txBody>
                    <a:bodyPr/>
                    <a:lstStyle/>
                    <a:p>
                      <a:pPr>
                        <a:buNone/>
                      </a:pPr>
                      <a:r>
                        <a:rPr lang="pl-PL" err="1"/>
                        <a:t>Measured</a:t>
                      </a:r>
                      <a:r>
                        <a:rPr lang="pl-PL"/>
                        <a:t> </a:t>
                      </a:r>
                      <a:r>
                        <a:rPr lang="pl-PL" err="1"/>
                        <a:t>value</a:t>
                      </a:r>
                      <a:endParaRPr lang="pl-PL"/>
                    </a:p>
                  </a:txBody>
                  <a:tcPr anchor="ctr"/>
                </a:tc>
                <a:tc>
                  <a:txBody>
                    <a:bodyPr/>
                    <a:lstStyle/>
                    <a:p>
                      <a:pPr>
                        <a:buNone/>
                      </a:pPr>
                      <a:r>
                        <a:rPr lang="pl-PL"/>
                        <a:t>Error</a:t>
                      </a:r>
                    </a:p>
                  </a:txBody>
                  <a:tcPr anchor="ctr"/>
                </a:tc>
                <a:tc>
                  <a:txBody>
                    <a:bodyPr/>
                    <a:lstStyle/>
                    <a:p>
                      <a:pPr>
                        <a:buNone/>
                      </a:pPr>
                      <a:r>
                        <a:rPr lang="pl-PL" err="1"/>
                        <a:t>Comments</a:t>
                      </a:r>
                      <a:endParaRPr lang="pl-PL"/>
                    </a:p>
                  </a:txBody>
                  <a:tcPr anchor="ctr"/>
                </a:tc>
                <a:extLst>
                  <a:ext uri="{0D108BD9-81ED-4DB2-BD59-A6C34878D82A}">
                    <a16:rowId xmlns:a16="http://schemas.microsoft.com/office/drawing/2014/main" val="2271464794"/>
                  </a:ext>
                </a:extLst>
              </a:tr>
              <a:tr h="0">
                <a:tc>
                  <a:txBody>
                    <a:bodyPr/>
                    <a:lstStyle/>
                    <a:p>
                      <a:pPr>
                        <a:buNone/>
                      </a:pPr>
                      <a:r>
                        <a:rPr lang="en-GB"/>
                        <a:t>Model 601A02</a:t>
                      </a:r>
                      <a:endParaRPr lang="pl-PL"/>
                    </a:p>
                  </a:txBody>
                  <a:tcPr anchor="ctr"/>
                </a:tc>
                <a:tc>
                  <a:txBody>
                    <a:bodyPr/>
                    <a:lstStyle/>
                    <a:p>
                      <a:pPr>
                        <a:buNone/>
                      </a:pPr>
                      <a:r>
                        <a:rPr lang="en-GB"/>
                        <a:t>500mv/g</a:t>
                      </a:r>
                      <a:endParaRPr lang="pl-PL"/>
                    </a:p>
                  </a:txBody>
                  <a:tcPr anchor="ctr"/>
                </a:tc>
                <a:tc>
                  <a:txBody>
                    <a:bodyPr/>
                    <a:lstStyle/>
                    <a:p>
                      <a:pPr>
                        <a:buNone/>
                      </a:pPr>
                      <a:r>
                        <a:rPr lang="en-GB"/>
                        <a:t>542mv/g</a:t>
                      </a:r>
                      <a:endParaRPr lang="pl-PL"/>
                    </a:p>
                  </a:txBody>
                  <a:tcPr anchor="ctr"/>
                </a:tc>
                <a:tc>
                  <a:txBody>
                    <a:bodyPr/>
                    <a:lstStyle/>
                    <a:p>
                      <a:pPr>
                        <a:buNone/>
                      </a:pPr>
                      <a:r>
                        <a:rPr lang="en-GB"/>
                        <a:t>42mv/g</a:t>
                      </a:r>
                      <a:endParaRPr lang="pl-PL"/>
                    </a:p>
                  </a:txBody>
                  <a:tcPr anchor="ctr"/>
                </a:tc>
                <a:tc>
                  <a:txBody>
                    <a:bodyPr/>
                    <a:lstStyle/>
                    <a:p>
                      <a:pPr>
                        <a:buNone/>
                      </a:pPr>
                      <a:r>
                        <a:rPr lang="en-GB"/>
                        <a:t>8.4% error. The sensor is more sensitive than the nominal factory rating. We can update software scaling to 542 mV/g.</a:t>
                      </a:r>
                      <a:endParaRPr lang="pl-PL"/>
                    </a:p>
                  </a:txBody>
                  <a:tcPr anchor="ctr"/>
                </a:tc>
                <a:extLst>
                  <a:ext uri="{0D108BD9-81ED-4DB2-BD59-A6C34878D82A}">
                    <a16:rowId xmlns:a16="http://schemas.microsoft.com/office/drawing/2014/main" val="326115372"/>
                  </a:ext>
                </a:extLst>
              </a:tr>
            </a:tbl>
          </a:graphicData>
        </a:graphic>
      </p:graphicFrame>
      <p:sp>
        <p:nvSpPr>
          <p:cNvPr id="5" name="pole tekstowe 4">
            <a:extLst>
              <a:ext uri="{FF2B5EF4-FFF2-40B4-BE49-F238E27FC236}">
                <a16:creationId xmlns:a16="http://schemas.microsoft.com/office/drawing/2014/main" id="{DB13BF4D-4B75-FB5A-6E86-F9CB415186BE}"/>
              </a:ext>
            </a:extLst>
          </p:cNvPr>
          <p:cNvSpPr txBox="1"/>
          <p:nvPr/>
        </p:nvSpPr>
        <p:spPr>
          <a:xfrm>
            <a:off x="577392" y="1254374"/>
            <a:ext cx="6094428" cy="646331"/>
          </a:xfrm>
          <a:prstGeom prst="rect">
            <a:avLst/>
          </a:prstGeom>
          <a:noFill/>
        </p:spPr>
        <p:txBody>
          <a:bodyPr wrap="square">
            <a:spAutoFit/>
          </a:bodyPr>
          <a:lstStyle/>
          <a:p>
            <a:r>
              <a:rPr lang="en-US" sz="1800" b="1">
                <a:solidFill>
                  <a:srgbClr val="1A2E52"/>
                </a:solidFill>
                <a:latin typeface="Colber"/>
              </a:rPr>
              <a:t>Calibration Results</a:t>
            </a:r>
            <a:endParaRPr lang="pl-PL" sz="1800" b="1">
              <a:solidFill>
                <a:srgbClr val="1A2E52"/>
              </a:solidFill>
              <a:latin typeface="Colber"/>
            </a:endParaRPr>
          </a:p>
          <a:p>
            <a:r>
              <a:rPr lang="en-US" sz="1800">
                <a:solidFill>
                  <a:srgbClr val="1A2E52"/>
                </a:solidFill>
                <a:latin typeface="Colber"/>
              </a:rPr>
              <a:t>Input channels</a:t>
            </a:r>
          </a:p>
        </p:txBody>
      </p:sp>
    </p:spTree>
    <p:extLst>
      <p:ext uri="{BB962C8B-B14F-4D97-AF65-F5344CB8AC3E}">
        <p14:creationId xmlns:p14="http://schemas.microsoft.com/office/powerpoint/2010/main" val="2435292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D2FB-24C5-EE99-E12F-3D5D4BC4E719}"/>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852FB3C-C946-8AA6-1CA4-1FBDB16362C3}"/>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1EE53D9-C469-AACE-8A1E-9A0EFDFC2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6ED06204-9E8A-B59C-6648-BCEC09EE1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4D6F608-03CA-22AC-16F8-C742523DC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4BE9B08-ADA9-6A04-5A2C-73D0B0D7B64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1949162-CCA6-5F45-80E0-15074C341B4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2B82A00-7DBE-1379-30A1-36A418E068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7C7C7471-E8F5-CE71-3B77-FF58DBCC8EF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4149A52-7158-4FD7-F7D1-377599F4E5EF}"/>
              </a:ext>
            </a:extLst>
          </p:cNvPr>
          <p:cNvSpPr txBox="1"/>
          <p:nvPr/>
        </p:nvSpPr>
        <p:spPr>
          <a:xfrm>
            <a:off x="577392" y="932410"/>
            <a:ext cx="6094428" cy="400110"/>
          </a:xfrm>
          <a:prstGeom prst="rect">
            <a:avLst/>
          </a:prstGeom>
          <a:noFill/>
        </p:spPr>
        <p:txBody>
          <a:bodyPr wrap="square">
            <a:spAutoFit/>
          </a:bodyPr>
          <a:lstStyle/>
          <a:p>
            <a:r>
              <a:rPr lang="en-US" sz="2000" b="1">
                <a:solidFill>
                  <a:srgbClr val="1A2E52"/>
                </a:solidFill>
                <a:latin typeface="Colber"/>
              </a:rPr>
              <a:t>DAQ Configuration</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a:t>
            </a:r>
            <a:r>
              <a:rPr lang="en-US" sz="2000" b="1">
                <a:solidFill>
                  <a:srgbClr val="1A2E52"/>
                </a:solidFill>
                <a:latin typeface="Colber"/>
              </a:rPr>
              <a:t>5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E0B25F33-86E9-9C0C-9B3E-9B70760D6305}"/>
              </a:ext>
            </a:extLst>
          </p:cNvPr>
          <p:cNvSpPr txBox="1"/>
          <p:nvPr/>
        </p:nvSpPr>
        <p:spPr>
          <a:xfrm>
            <a:off x="695620" y="1222508"/>
            <a:ext cx="10800760" cy="4308872"/>
          </a:xfrm>
          <a:prstGeom prst="rect">
            <a:avLst/>
          </a:prstGeom>
          <a:noFill/>
        </p:spPr>
        <p:txBody>
          <a:bodyPr wrap="square">
            <a:spAutoFit/>
          </a:bodyPr>
          <a:lstStyle/>
          <a:p>
            <a:r>
              <a:rPr lang="pl-PL" sz="2000" b="1">
                <a:solidFill>
                  <a:srgbClr val="1A2E52"/>
                </a:solidFill>
              </a:rPr>
              <a:t>DAQ </a:t>
            </a:r>
            <a:r>
              <a:rPr lang="pl-PL" sz="2000" b="1" err="1">
                <a:solidFill>
                  <a:srgbClr val="1A2E52"/>
                </a:solidFill>
              </a:rPr>
              <a:t>Parameters</a:t>
            </a:r>
            <a:endParaRPr lang="pl-PL" sz="2000" b="1">
              <a:solidFill>
                <a:srgbClr val="1A2E52"/>
              </a:solidFill>
            </a:endParaRPr>
          </a:p>
          <a:p>
            <a:endParaRPr lang="pl-PL" sz="2000" b="1">
              <a:solidFill>
                <a:srgbClr val="1A2E52"/>
              </a:solidFill>
            </a:endParaRPr>
          </a:p>
          <a:p>
            <a:r>
              <a:rPr lang="pl-PL" b="1" err="1">
                <a:solidFill>
                  <a:srgbClr val="1A2E52"/>
                </a:solidFill>
              </a:rPr>
              <a:t>Acquisition</a:t>
            </a:r>
            <a:r>
              <a:rPr lang="pl-PL" b="1">
                <a:solidFill>
                  <a:srgbClr val="1A2E52"/>
                </a:solidFill>
              </a:rPr>
              <a:t> </a:t>
            </a:r>
            <a:r>
              <a:rPr lang="pl-PL" b="1" err="1">
                <a:solidFill>
                  <a:srgbClr val="1A2E52"/>
                </a:solidFill>
              </a:rPr>
              <a:t>mode</a:t>
            </a:r>
            <a:endParaRPr lang="pl-PL" b="1">
              <a:solidFill>
                <a:srgbClr val="1A2E52"/>
              </a:solidFill>
            </a:endParaRPr>
          </a:p>
          <a:p>
            <a:r>
              <a:rPr lang="en-GB">
                <a:solidFill>
                  <a:srgbClr val="1A2E52"/>
                </a:solidFill>
              </a:rPr>
              <a:t> x</a:t>
            </a:r>
            <a:r>
              <a:rPr lang="pl-PL">
                <a:solidFill>
                  <a:srgbClr val="1A2E52"/>
                </a:solidFill>
              </a:rPr>
              <a:t> </a:t>
            </a:r>
            <a:r>
              <a:rPr lang="en-GB">
                <a:solidFill>
                  <a:srgbClr val="1A2E52"/>
                </a:solidFill>
              </a:rPr>
              <a:t> </a:t>
            </a:r>
            <a:r>
              <a:rPr lang="pl-PL">
                <a:solidFill>
                  <a:srgbClr val="1A2E52"/>
                </a:solidFill>
              </a:rPr>
              <a:t>Continuous</a:t>
            </a:r>
            <a:r>
              <a:rPr lang="en-GB">
                <a:solidFill>
                  <a:srgbClr val="1A2E52"/>
                </a:solidFill>
              </a:rPr>
              <a:t> (windowed around the trigger)</a:t>
            </a:r>
            <a:endParaRPr lang="pl-PL">
              <a:solidFill>
                <a:srgbClr val="1A2E52"/>
              </a:solidFill>
            </a:endParaRPr>
          </a:p>
          <a:p>
            <a:r>
              <a:rPr lang="pl-PL">
                <a:solidFill>
                  <a:srgbClr val="1A2E52"/>
                </a:solidFill>
              </a:rPr>
              <a:t>☐ Finite samples</a:t>
            </a:r>
          </a:p>
          <a:p>
            <a:r>
              <a:rPr lang="pl-PL" b="1">
                <a:solidFill>
                  <a:srgbClr val="1A2E52"/>
                </a:solidFill>
              </a:rPr>
              <a:t>Sampling frequency:  </a:t>
            </a:r>
            <a:r>
              <a:rPr lang="en-GB" b="1">
                <a:solidFill>
                  <a:srgbClr val="1A2E52"/>
                </a:solidFill>
              </a:rPr>
              <a:t>10000</a:t>
            </a:r>
            <a:r>
              <a:rPr lang="pl-PL">
                <a:solidFill>
                  <a:srgbClr val="1A2E52"/>
                </a:solidFill>
              </a:rPr>
              <a:t> Hz</a:t>
            </a:r>
          </a:p>
          <a:p>
            <a:r>
              <a:rPr lang="pl-PL" b="1">
                <a:solidFill>
                  <a:srgbClr val="1A2E52"/>
                </a:solidFill>
              </a:rPr>
              <a:t>Number of samples: </a:t>
            </a:r>
            <a:r>
              <a:rPr lang="en-GB" b="1">
                <a:solidFill>
                  <a:srgbClr val="1A2E52"/>
                </a:solidFill>
              </a:rPr>
              <a:t>5000</a:t>
            </a:r>
            <a:endParaRPr lang="pl-PL">
              <a:solidFill>
                <a:srgbClr val="1A2E52"/>
              </a:solidFill>
            </a:endParaRPr>
          </a:p>
          <a:p>
            <a:r>
              <a:rPr lang="pl-PL" b="1">
                <a:solidFill>
                  <a:srgbClr val="1A2E52"/>
                </a:solidFill>
              </a:rPr>
              <a:t>Number of channels: </a:t>
            </a:r>
            <a:r>
              <a:rPr lang="en-GB" b="1">
                <a:solidFill>
                  <a:srgbClr val="1A2E52"/>
                </a:solidFill>
              </a:rPr>
              <a:t>1</a:t>
            </a:r>
            <a:endParaRPr lang="pl-PL">
              <a:solidFill>
                <a:srgbClr val="1A2E52"/>
              </a:solidFill>
            </a:endParaRPr>
          </a:p>
          <a:p>
            <a:r>
              <a:rPr lang="pl-PL" b="1">
                <a:solidFill>
                  <a:srgbClr val="1A2E52"/>
                </a:solidFill>
              </a:rPr>
              <a:t>Measurement duration: </a:t>
            </a:r>
            <a:r>
              <a:rPr lang="en-GB" b="1">
                <a:solidFill>
                  <a:srgbClr val="1A2E52"/>
                </a:solidFill>
              </a:rPr>
              <a:t>500ms (250ms before and 250ms after trigger event)</a:t>
            </a:r>
            <a:r>
              <a:rPr lang="pl-PL" b="1">
                <a:solidFill>
                  <a:srgbClr val="1A2E52"/>
                </a:solidFill>
              </a:rPr>
              <a:t> </a:t>
            </a:r>
            <a:endParaRPr lang="en-GB" b="1">
              <a:solidFill>
                <a:srgbClr val="1A2E52"/>
              </a:solidFill>
            </a:endParaRPr>
          </a:p>
          <a:p>
            <a:endParaRPr lang="pl-PL" b="1">
              <a:solidFill>
                <a:srgbClr val="1A2E52"/>
              </a:solidFill>
            </a:endParaRPr>
          </a:p>
          <a:p>
            <a:r>
              <a:rPr lang="pl-PL" b="1" err="1">
                <a:solidFill>
                  <a:srgbClr val="1A2E52"/>
                </a:solidFill>
              </a:rPr>
              <a:t>Comments</a:t>
            </a:r>
            <a:r>
              <a:rPr lang="pl-PL" b="1">
                <a:solidFill>
                  <a:srgbClr val="1A2E52"/>
                </a:solidFill>
              </a:rPr>
              <a:t>:</a:t>
            </a:r>
          </a:p>
          <a:p>
            <a:r>
              <a:rPr lang="en-GB"/>
              <a:t>The system is configured for pre- and post-trigger event capturing. A 5,000-sample window is acquired at a sampling rate of 10,000 Hz, which yields exactly 500 </a:t>
            </a:r>
            <a:r>
              <a:rPr lang="en-GB" err="1"/>
              <a:t>ms</a:t>
            </a:r>
            <a:r>
              <a:rPr lang="en-GB"/>
              <a:t> of data. Using a 50% pre-trigger buffer allows the system to save 250 </a:t>
            </a:r>
            <a:r>
              <a:rPr lang="en-GB" err="1"/>
              <a:t>ms</a:t>
            </a:r>
            <a:r>
              <a:rPr lang="en-GB"/>
              <a:t> of data leading up to the trigger event and 250 </a:t>
            </a:r>
            <a:r>
              <a:rPr lang="en-GB" err="1"/>
              <a:t>ms</a:t>
            </a:r>
            <a:r>
              <a:rPr lang="en-GB"/>
              <a:t> of data immediately following it, which is ideal for capturing transient phenomena or faults on the CNC machine.</a:t>
            </a:r>
            <a:endParaRPr lang="pl-PL" sz="2000">
              <a:solidFill>
                <a:srgbClr val="C00000"/>
              </a:solidFill>
            </a:endParaRPr>
          </a:p>
        </p:txBody>
      </p:sp>
    </p:spTree>
    <p:extLst>
      <p:ext uri="{BB962C8B-B14F-4D97-AF65-F5344CB8AC3E}">
        <p14:creationId xmlns:p14="http://schemas.microsoft.com/office/powerpoint/2010/main" val="89500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6B7D-1935-2FC1-5EFE-4DAC7D0C4B4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DC6934E6-6332-8E35-148F-192186DC971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C83AD2CA-5696-30F6-8841-E0FFFABA1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FDE93772-D97C-5FE1-5F16-DABDD1A14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70439CF-2095-C62A-49BE-BF34D6301A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C2E9EC5D-D567-72A9-A0C1-488079C6283C}"/>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CF545090-EA2E-85D7-EDE4-4E2C681AD44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C1044557-4E88-8A43-4CCE-42C9D3117D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836A9CB-FE09-C146-6021-EE0A1D4D16E0}"/>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895F7234-FD7D-221A-2036-B0A807141CD4}"/>
              </a:ext>
            </a:extLst>
          </p:cNvPr>
          <p:cNvSpPr txBox="1"/>
          <p:nvPr/>
        </p:nvSpPr>
        <p:spPr>
          <a:xfrm>
            <a:off x="577392" y="932410"/>
            <a:ext cx="6094428"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4A6E2341-856C-8357-8F5B-A9CC8B9CA806}"/>
              </a:ext>
            </a:extLst>
          </p:cNvPr>
          <p:cNvSpPr txBox="1"/>
          <p:nvPr/>
        </p:nvSpPr>
        <p:spPr>
          <a:xfrm>
            <a:off x="695620" y="1222508"/>
            <a:ext cx="10800760" cy="4555093"/>
          </a:xfrm>
          <a:prstGeom prst="rect">
            <a:avLst/>
          </a:prstGeom>
          <a:noFill/>
        </p:spPr>
        <p:txBody>
          <a:bodyPr wrap="square">
            <a:spAutoFit/>
          </a:bodyPr>
          <a:lstStyle/>
          <a:p>
            <a:r>
              <a:rPr lang="pl-PL" sz="2000" b="1">
                <a:solidFill>
                  <a:srgbClr val="1A2E52"/>
                </a:solidFill>
              </a:rPr>
              <a:t>Current </a:t>
            </a:r>
            <a:r>
              <a:rPr lang="en-GB" sz="2000" b="1">
                <a:solidFill>
                  <a:srgbClr val="1A2E52"/>
                </a:solidFill>
              </a:rPr>
              <a:t>Acquisition Software</a:t>
            </a:r>
            <a:r>
              <a:rPr lang="pl-PL" sz="2000" b="1">
                <a:solidFill>
                  <a:srgbClr val="1A2E52"/>
                </a:solidFill>
              </a:rPr>
              <a:t> Functions</a:t>
            </a:r>
          </a:p>
          <a:p>
            <a:r>
              <a:rPr lang="en-GB">
                <a:solidFill>
                  <a:srgbClr val="1A2E52"/>
                </a:solidFill>
              </a:rPr>
              <a:t> x</a:t>
            </a:r>
            <a:r>
              <a:rPr lang="pl-PL">
                <a:solidFill>
                  <a:srgbClr val="1A2E52"/>
                </a:solidFill>
              </a:rPr>
              <a:t> Data acquisition</a:t>
            </a:r>
          </a:p>
          <a:p>
            <a:r>
              <a:rPr lang="en-GB">
                <a:solidFill>
                  <a:srgbClr val="1A2E52"/>
                </a:solidFill>
              </a:rPr>
              <a:t> x</a:t>
            </a:r>
            <a:r>
              <a:rPr lang="pl-PL">
                <a:solidFill>
                  <a:srgbClr val="1A2E52"/>
                </a:solidFill>
              </a:rPr>
              <a:t> Real-time display</a:t>
            </a:r>
            <a:r>
              <a:rPr lang="en-GB">
                <a:solidFill>
                  <a:srgbClr val="1A2E52"/>
                </a:solidFill>
              </a:rPr>
              <a:t> </a:t>
            </a:r>
            <a:endParaRPr lang="pl-PL">
              <a:solidFill>
                <a:srgbClr val="1A2E52"/>
              </a:solidFill>
            </a:endParaRPr>
          </a:p>
          <a:p>
            <a:r>
              <a:rPr lang="en-GB">
                <a:solidFill>
                  <a:srgbClr val="1A2E52"/>
                </a:solidFill>
              </a:rPr>
              <a:t> x</a:t>
            </a:r>
            <a:r>
              <a:rPr lang="pl-PL">
                <a:solidFill>
                  <a:srgbClr val="1A2E52"/>
                </a:solidFill>
              </a:rPr>
              <a:t> Data logging</a:t>
            </a:r>
          </a:p>
          <a:p>
            <a:r>
              <a:rPr lang="pl-PL">
                <a:solidFill>
                  <a:srgbClr val="1A2E52"/>
                </a:solidFill>
              </a:rPr>
              <a:t>☐ Alarm system</a:t>
            </a:r>
          </a:p>
          <a:p>
            <a:r>
              <a:rPr lang="en-GB">
                <a:solidFill>
                  <a:srgbClr val="1A2E52"/>
                </a:solidFill>
              </a:rPr>
              <a:t> x</a:t>
            </a:r>
            <a:r>
              <a:rPr lang="pl-PL">
                <a:solidFill>
                  <a:srgbClr val="1A2E52"/>
                </a:solidFill>
              </a:rPr>
              <a:t> Signal processing</a:t>
            </a:r>
          </a:p>
          <a:p>
            <a:r>
              <a:rPr lang="en-GB">
                <a:solidFill>
                  <a:srgbClr val="1A2E52"/>
                </a:solidFill>
              </a:rPr>
              <a:t> x</a:t>
            </a:r>
            <a:r>
              <a:rPr lang="pl-PL">
                <a:solidFill>
                  <a:srgbClr val="1A2E52"/>
                </a:solidFill>
              </a:rPr>
              <a:t> FFT</a:t>
            </a:r>
          </a:p>
          <a:p>
            <a:r>
              <a:rPr lang="pl-PL">
                <a:solidFill>
                  <a:srgbClr val="1A2E52"/>
                </a:solidFill>
              </a:rPr>
              <a:t>☐ RMS</a:t>
            </a:r>
          </a:p>
          <a:p>
            <a:r>
              <a:rPr lang="pl-PL">
                <a:solidFill>
                  <a:srgbClr val="1A2E52"/>
                </a:solidFill>
              </a:rPr>
              <a:t>☐ Trend </a:t>
            </a:r>
            <a:r>
              <a:rPr lang="pl-PL" err="1">
                <a:solidFill>
                  <a:srgbClr val="1A2E52"/>
                </a:solidFill>
              </a:rPr>
              <a:t>analysis</a:t>
            </a:r>
            <a:endParaRPr lang="pl-PL">
              <a:solidFill>
                <a:srgbClr val="1A2E52"/>
              </a:solidFill>
            </a:endParaRPr>
          </a:p>
          <a:p>
            <a:r>
              <a:rPr lang="pl-PL">
                <a:solidFill>
                  <a:srgbClr val="1A2E52"/>
                </a:solidFill>
              </a:rPr>
              <a:t>☐ </a:t>
            </a:r>
            <a:r>
              <a:rPr lang="pl-PL" err="1">
                <a:solidFill>
                  <a:srgbClr val="1A2E52"/>
                </a:solidFill>
              </a:rPr>
              <a:t>Other</a:t>
            </a:r>
            <a:endParaRPr lang="pl-PL">
              <a:solidFill>
                <a:srgbClr val="1A2E52"/>
              </a:solidFill>
            </a:endParaRPr>
          </a:p>
          <a:p>
            <a:r>
              <a:rPr lang="pl-PL" b="1" err="1">
                <a:solidFill>
                  <a:srgbClr val="1A2E52"/>
                </a:solidFill>
              </a:rPr>
              <a:t>Comments</a:t>
            </a:r>
            <a:r>
              <a:rPr lang="pl-PL" b="1">
                <a:solidFill>
                  <a:srgbClr val="1A2E52"/>
                </a:solidFill>
              </a:rPr>
              <a:t>:</a:t>
            </a:r>
          </a:p>
          <a:p>
            <a:r>
              <a:rPr lang="en-GB"/>
              <a:t>The software operates on an event-driven display mode. Rather than constantly streaming live data, the display updates only after a trigger event occurs. Once triggered, the software captures the full data window, processes the Fast Fourier Transform (FFT) to convert the vibration data into the frequency domain, and then displays both the time-domain signal and the frequency spectrum simultaneously. This allows for a detailed review of the specific event that tripped the trigger.</a:t>
            </a:r>
            <a:endParaRPr lang="pl-PL" sz="2000">
              <a:solidFill>
                <a:srgbClr val="C00000"/>
              </a:solidFill>
            </a:endParaRPr>
          </a:p>
        </p:txBody>
      </p:sp>
    </p:spTree>
    <p:extLst>
      <p:ext uri="{BB962C8B-B14F-4D97-AF65-F5344CB8AC3E}">
        <p14:creationId xmlns:p14="http://schemas.microsoft.com/office/powerpoint/2010/main" val="1617711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AFCF-9DC3-E1C9-A28B-C449BED69402}"/>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D66A4B7D-A943-AF57-6335-5DBDB93183F4}"/>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s-ES">
              <a:ea typeface="Calibri"/>
              <a:cs typeface="Calibri"/>
            </a:endParaRPr>
          </a:p>
        </p:txBody>
      </p:sp>
      <p:pic>
        <p:nvPicPr>
          <p:cNvPr id="16" name="Imagen 15" descr="Texto, Logotipo&#10;&#10;El contenido generado por IA puede ser incorrecto.">
            <a:extLst>
              <a:ext uri="{FF2B5EF4-FFF2-40B4-BE49-F238E27FC236}">
                <a16:creationId xmlns:a16="http://schemas.microsoft.com/office/drawing/2014/main" id="{74928360-DDF6-45DD-DD0D-0891290977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2889E781-C5B2-2F0E-2D7B-0B3CB2E679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ECA33CDB-A809-29E0-D8C3-7730B6CAAD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720A1281-B4FB-39F2-6822-12C132277879}"/>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2C7B6602-122C-889D-CEE5-9A43C8EC60E6}"/>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6CFF6C6F-7B90-F7B4-C449-927C72893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098243A-1D0E-CC76-598F-5E198A702FCD}"/>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73BB9B0-EA49-0F96-EEB6-7BCBF4C68462}"/>
              </a:ext>
            </a:extLst>
          </p:cNvPr>
          <p:cNvSpPr txBox="1"/>
          <p:nvPr/>
        </p:nvSpPr>
        <p:spPr>
          <a:xfrm>
            <a:off x="577391" y="932410"/>
            <a:ext cx="8145229"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84E5F62B-286F-C79B-E32C-AB30BA3985FD}"/>
              </a:ext>
            </a:extLst>
          </p:cNvPr>
          <p:cNvSpPr txBox="1"/>
          <p:nvPr/>
        </p:nvSpPr>
        <p:spPr>
          <a:xfrm>
            <a:off x="695620" y="1222508"/>
            <a:ext cx="10800760" cy="5416868"/>
          </a:xfrm>
          <a:prstGeom prst="rect">
            <a:avLst/>
          </a:prstGeom>
          <a:noFill/>
        </p:spPr>
        <p:txBody>
          <a:bodyPr wrap="square" lIns="91440" tIns="45720" rIns="91440" bIns="45720" anchor="t">
            <a:spAutoFit/>
          </a:bodyPr>
          <a:lstStyle/>
          <a:p>
            <a:r>
              <a:rPr lang="pl-PL" sz="2000" b="1">
                <a:solidFill>
                  <a:srgbClr val="1A2E52"/>
                </a:solidFill>
              </a:rPr>
              <a:t>Front Panel Design</a:t>
            </a:r>
            <a:endParaRPr lang="en-US" sz="2000">
              <a:solidFill>
                <a:srgbClr val="000000"/>
              </a:solidFill>
              <a:ea typeface="Calibri"/>
              <a:cs typeface="Calibri"/>
            </a:endParaRPr>
          </a:p>
          <a:p>
            <a:r>
              <a:rPr lang="pl-PL" b="1">
                <a:solidFill>
                  <a:srgbClr val="1A2E52"/>
                </a:solidFill>
              </a:rPr>
              <a:t>Screenshot of current FP</a:t>
            </a:r>
            <a:endParaRPr lang="en-US">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r>
              <a:rPr lang="pl-PL" b="1">
                <a:solidFill>
                  <a:srgbClr val="1A2E52"/>
                </a:solidFill>
                <a:ea typeface="Calibri"/>
                <a:cs typeface="Calibri"/>
              </a:rPr>
              <a:t>Comments:</a:t>
            </a:r>
            <a:endParaRPr lang="en-US">
              <a:solidFill>
                <a:srgbClr val="000000"/>
              </a:solidFill>
              <a:ea typeface="Calibri"/>
              <a:cs typeface="Calibri"/>
            </a:endParaRPr>
          </a:p>
          <a:p>
            <a:r>
              <a:rPr lang="en-US">
                <a:solidFill>
                  <a:srgbClr val="000000"/>
                </a:solidFill>
                <a:ea typeface="Calibri"/>
                <a:cs typeface="Calibri"/>
              </a:rPr>
              <a:t>"New Experiment" section allows the user to configure sensors and channel settings </a:t>
            </a:r>
            <a:endParaRPr lang="pl-PL">
              <a:solidFill>
                <a:srgbClr val="000000"/>
              </a:solidFill>
              <a:ea typeface="Calibri"/>
              <a:cs typeface="Calibri"/>
            </a:endParaRPr>
          </a:p>
          <a:p>
            <a:endParaRPr lang="pl-PL">
              <a:solidFill>
                <a:srgbClr val="C00000"/>
              </a:solidFill>
              <a:ea typeface="Calibri"/>
              <a:cs typeface="Calibri"/>
            </a:endParaRPr>
          </a:p>
          <a:p>
            <a:endParaRPr lang="pl-PL" sz="2000" b="1">
              <a:solidFill>
                <a:srgbClr val="1A2E52"/>
              </a:solidFill>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ED55CA01-9CD3-3217-BF75-51B067CE88A0}"/>
              </a:ext>
            </a:extLst>
          </p:cNvPr>
          <p:cNvPicPr>
            <a:picLocks noChangeAspect="1"/>
          </p:cNvPicPr>
          <p:nvPr/>
        </p:nvPicPr>
        <p:blipFill>
          <a:blip r:embed="rId7"/>
          <a:stretch>
            <a:fillRect/>
          </a:stretch>
        </p:blipFill>
        <p:spPr>
          <a:xfrm>
            <a:off x="2126341" y="1890643"/>
            <a:ext cx="7329717" cy="3541169"/>
          </a:xfrm>
          <a:prstGeom prst="rect">
            <a:avLst/>
          </a:prstGeom>
        </p:spPr>
      </p:pic>
    </p:spTree>
    <p:extLst>
      <p:ext uri="{BB962C8B-B14F-4D97-AF65-F5344CB8AC3E}">
        <p14:creationId xmlns:p14="http://schemas.microsoft.com/office/powerpoint/2010/main" val="314707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D3D8-1C8A-BA27-6B30-3AE96C4D9C05}"/>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A0A80836-1CFC-8CED-9681-8E837F2DB5FF}"/>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C0CEBC0C-7CE9-60D1-1780-01A074E22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C49078C-5020-2BB0-0AD3-CE1460D291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1EFAD6D-0898-E56E-0134-2B6E7FB663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55EB9A36-A468-AAA3-2CC4-52F79CC8F257}"/>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3738345-1516-2C00-A3F2-691B1A47B1D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B76B4156-23F9-C2F8-31A5-4E818BE40D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093802DE-E626-A0DE-5B2E-DBE1A4A52F38}"/>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7F820F82-7254-0ABA-98B4-1CF1A1E7A636}"/>
              </a:ext>
            </a:extLst>
          </p:cNvPr>
          <p:cNvSpPr txBox="1"/>
          <p:nvPr/>
        </p:nvSpPr>
        <p:spPr>
          <a:xfrm>
            <a:off x="577391" y="932410"/>
            <a:ext cx="8145229"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D2748FF9-6612-B1FB-1A71-8A332E583AC4}"/>
              </a:ext>
            </a:extLst>
          </p:cNvPr>
          <p:cNvSpPr txBox="1"/>
          <p:nvPr/>
        </p:nvSpPr>
        <p:spPr>
          <a:xfrm>
            <a:off x="695620" y="1222508"/>
            <a:ext cx="10800760" cy="5447645"/>
          </a:xfrm>
          <a:prstGeom prst="rect">
            <a:avLst/>
          </a:prstGeom>
          <a:noFill/>
        </p:spPr>
        <p:txBody>
          <a:bodyPr wrap="square" lIns="91440" tIns="45720" rIns="91440" bIns="45720" anchor="t">
            <a:spAutoFit/>
          </a:bodyPr>
          <a:lstStyle/>
          <a:p>
            <a:r>
              <a:rPr lang="pl-PL" sz="2000" b="1">
                <a:solidFill>
                  <a:srgbClr val="1A2E52"/>
                </a:solidFill>
              </a:rPr>
              <a:t>Front Panel Design</a:t>
            </a:r>
            <a:endParaRPr lang="en-US" sz="2000">
              <a:solidFill>
                <a:srgbClr val="000000"/>
              </a:solidFill>
              <a:ea typeface="Calibri"/>
              <a:cs typeface="Calibri"/>
            </a:endParaRPr>
          </a:p>
          <a:p>
            <a:r>
              <a:rPr lang="pl-PL" b="1">
                <a:solidFill>
                  <a:srgbClr val="1A2E52"/>
                </a:solidFill>
              </a:rPr>
              <a:t>Screenshot of current FP</a:t>
            </a:r>
            <a:endParaRPr lang="en-US">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endParaRPr lang="pl-PL">
              <a:solidFill>
                <a:srgbClr val="000000"/>
              </a:solidFill>
              <a:ea typeface="Calibri"/>
              <a:cs typeface="Calibri"/>
            </a:endParaRPr>
          </a:p>
          <a:p>
            <a:r>
              <a:rPr lang="pl-PL" b="1">
                <a:solidFill>
                  <a:srgbClr val="1A2E52"/>
                </a:solidFill>
                <a:ea typeface="Calibri"/>
                <a:cs typeface="Calibri"/>
              </a:rPr>
              <a:t>Comments:</a:t>
            </a:r>
            <a:endParaRPr lang="en-US">
              <a:solidFill>
                <a:srgbClr val="000000"/>
              </a:solidFill>
              <a:ea typeface="Calibri"/>
              <a:cs typeface="Calibri"/>
            </a:endParaRPr>
          </a:p>
          <a:p>
            <a:r>
              <a:rPr lang="pl-PL">
                <a:ea typeface="Calibri"/>
                <a:cs typeface="Calibri"/>
              </a:rPr>
              <a:t>"Load Expermients" section allows the user to display previously saved data</a:t>
            </a:r>
          </a:p>
          <a:p>
            <a:endParaRPr lang="pl-PL" sz="2000">
              <a:solidFill>
                <a:srgbClr val="000000"/>
              </a:solidFill>
              <a:ea typeface="Calibri"/>
              <a:cs typeface="Calibri"/>
            </a:endParaRPr>
          </a:p>
          <a:p>
            <a:endParaRPr lang="pl-PL" sz="2000" b="1">
              <a:solidFill>
                <a:srgbClr val="1A2E52"/>
              </a:solidFill>
              <a:ea typeface="Calibri" panose="020F0502020204030204"/>
              <a:cs typeface="Calibri" panose="020F0502020204030204"/>
            </a:endParaRPr>
          </a:p>
        </p:txBody>
      </p:sp>
      <p:pic>
        <p:nvPicPr>
          <p:cNvPr id="5" name="Picture 4" descr="A black rectangular object with a black stripe&#10;&#10;AI-generated content may be incorrect.">
            <a:extLst>
              <a:ext uri="{FF2B5EF4-FFF2-40B4-BE49-F238E27FC236}">
                <a16:creationId xmlns:a16="http://schemas.microsoft.com/office/drawing/2014/main" id="{B07DD57E-CD5D-603F-511A-CEDC89B0ECC8}"/>
              </a:ext>
            </a:extLst>
          </p:cNvPr>
          <p:cNvPicPr>
            <a:picLocks noChangeAspect="1"/>
          </p:cNvPicPr>
          <p:nvPr/>
        </p:nvPicPr>
        <p:blipFill>
          <a:blip r:embed="rId7"/>
          <a:stretch>
            <a:fillRect/>
          </a:stretch>
        </p:blipFill>
        <p:spPr>
          <a:xfrm>
            <a:off x="834571" y="2206887"/>
            <a:ext cx="10087430" cy="1754798"/>
          </a:xfrm>
          <a:prstGeom prst="rect">
            <a:avLst/>
          </a:prstGeom>
        </p:spPr>
      </p:pic>
    </p:spTree>
    <p:extLst>
      <p:ext uri="{BB962C8B-B14F-4D97-AF65-F5344CB8AC3E}">
        <p14:creationId xmlns:p14="http://schemas.microsoft.com/office/powerpoint/2010/main" val="793750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A274-557D-A8C2-DFEA-C3B8DB4645D1}"/>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0373EA26-9F15-F471-5C98-2E540C8F3AC6}"/>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B13DF1B1-AC86-50E8-550D-DC7F026977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535CA17C-F929-91E5-F43C-1BB0EE2BA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97B7BC17-E796-28CC-5C8B-B64D58EC55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816F1568-FEEF-0CAE-97B3-566790F355AB}"/>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20A7AAE7-F234-951C-0B73-CDF6E9BCD89A}"/>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D559F885-E7D4-1BF8-50D9-009BFA8253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2C4D252-D084-0B69-0935-D639B475FD5D}"/>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22DE39C-DC65-A42D-C0FF-47CBC0F47E23}"/>
              </a:ext>
            </a:extLst>
          </p:cNvPr>
          <p:cNvSpPr txBox="1"/>
          <p:nvPr/>
        </p:nvSpPr>
        <p:spPr>
          <a:xfrm>
            <a:off x="577391" y="932410"/>
            <a:ext cx="8145229"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8FDEF805-2689-903C-7F33-4DDDC9ACA078}"/>
              </a:ext>
            </a:extLst>
          </p:cNvPr>
          <p:cNvSpPr txBox="1"/>
          <p:nvPr/>
        </p:nvSpPr>
        <p:spPr>
          <a:xfrm>
            <a:off x="695620" y="1222508"/>
            <a:ext cx="10800760" cy="5416868"/>
          </a:xfrm>
          <a:prstGeom prst="rect">
            <a:avLst/>
          </a:prstGeom>
          <a:noFill/>
        </p:spPr>
        <p:txBody>
          <a:bodyPr wrap="square" lIns="91440" tIns="45720" rIns="91440" bIns="45720" anchor="t">
            <a:spAutoFit/>
          </a:bodyPr>
          <a:lstStyle/>
          <a:p>
            <a:r>
              <a:rPr lang="pl-PL" sz="2000" b="1">
                <a:solidFill>
                  <a:srgbClr val="1A2E52"/>
                </a:solidFill>
              </a:rPr>
              <a:t>Front Panel Design</a:t>
            </a:r>
          </a:p>
          <a:p>
            <a:r>
              <a:rPr lang="pl-PL" b="1">
                <a:solidFill>
                  <a:srgbClr val="1A2E52"/>
                </a:solidFill>
              </a:rPr>
              <a:t>Screenshot of current FP</a:t>
            </a:r>
          </a:p>
          <a:p>
            <a:endParaRPr lang="pl-PL">
              <a:solidFill>
                <a:srgbClr val="C00000"/>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r>
              <a:rPr lang="pl-PL" b="1">
                <a:solidFill>
                  <a:srgbClr val="1A2E52"/>
                </a:solidFill>
              </a:rPr>
              <a:t>Comments:</a:t>
            </a:r>
          </a:p>
          <a:p>
            <a:r>
              <a:rPr lang="pl-PL">
                <a:ea typeface="Calibri" panose="020F0502020204030204"/>
                <a:cs typeface="Calibri" panose="020F0502020204030204"/>
              </a:rPr>
              <a:t>"Results" section displays the data aqcuired during the experiment on a plot. User can change between FFT, Time Domain and PSD plot representations (FFT plot)</a:t>
            </a:r>
          </a:p>
          <a:p>
            <a:r>
              <a:rPr lang="pl-PL" sz="2000">
                <a:solidFill>
                  <a:srgbClr val="C00000"/>
                </a:solidFill>
                <a:ea typeface="Calibri"/>
                <a:cs typeface="Calibri"/>
              </a:rPr>
              <a:t>)</a:t>
            </a:r>
            <a:endParaRPr lang="pl-PL" sz="2000">
              <a:solidFill>
                <a:srgbClr val="C00000"/>
              </a:solidFill>
            </a:endParaRPr>
          </a:p>
        </p:txBody>
      </p:sp>
      <p:pic>
        <p:nvPicPr>
          <p:cNvPr id="2" name="Picture 1" descr="A screen shot of a graph&#10;&#10;AI-generated content may be incorrect.">
            <a:extLst>
              <a:ext uri="{FF2B5EF4-FFF2-40B4-BE49-F238E27FC236}">
                <a16:creationId xmlns:a16="http://schemas.microsoft.com/office/drawing/2014/main" id="{0B287D97-7B76-4EC5-12CE-735C1F3E694F}"/>
              </a:ext>
            </a:extLst>
          </p:cNvPr>
          <p:cNvPicPr>
            <a:picLocks noChangeAspect="1"/>
          </p:cNvPicPr>
          <p:nvPr/>
        </p:nvPicPr>
        <p:blipFill>
          <a:blip r:embed="rId7"/>
          <a:stretch>
            <a:fillRect/>
          </a:stretch>
        </p:blipFill>
        <p:spPr>
          <a:xfrm>
            <a:off x="2503713" y="2136963"/>
            <a:ext cx="7278917" cy="3360589"/>
          </a:xfrm>
          <a:prstGeom prst="rect">
            <a:avLst/>
          </a:prstGeom>
        </p:spPr>
      </p:pic>
    </p:spTree>
    <p:extLst>
      <p:ext uri="{BB962C8B-B14F-4D97-AF65-F5344CB8AC3E}">
        <p14:creationId xmlns:p14="http://schemas.microsoft.com/office/powerpoint/2010/main" val="141075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37229-AC5F-EA24-CFA1-821FD7B9DA04}"/>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BA994C6D-59BB-CD4D-67C0-EEB25EB79EF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DC37319-FA3C-2A77-8FE1-4415894D3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DFCAE77-5EFA-5FF6-F9FB-8F1C7CAB46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B565EE2F-2D5D-2EC1-F975-3537FA519F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1C049C67-58DE-ED6F-3C59-256C40E1269E}"/>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CC8B351D-EC57-9A21-0002-203FB8AE80EE}"/>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C0B79E9B-F2F2-919F-EC66-88EE8C2AFC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04D8E74E-8B95-1381-1CDC-0125EFD018B6}"/>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BC202781-029A-B5AA-0E4C-31058BD33040}"/>
              </a:ext>
            </a:extLst>
          </p:cNvPr>
          <p:cNvSpPr txBox="1"/>
          <p:nvPr/>
        </p:nvSpPr>
        <p:spPr>
          <a:xfrm>
            <a:off x="577391" y="932410"/>
            <a:ext cx="8145229"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929BD138-F752-7716-6D42-802B5708BED4}"/>
              </a:ext>
            </a:extLst>
          </p:cNvPr>
          <p:cNvSpPr txBox="1"/>
          <p:nvPr/>
        </p:nvSpPr>
        <p:spPr>
          <a:xfrm>
            <a:off x="695620" y="1222508"/>
            <a:ext cx="10800760" cy="5201424"/>
          </a:xfrm>
          <a:prstGeom prst="rect">
            <a:avLst/>
          </a:prstGeom>
          <a:noFill/>
        </p:spPr>
        <p:txBody>
          <a:bodyPr wrap="square" lIns="91440" tIns="45720" rIns="91440" bIns="45720" anchor="t">
            <a:spAutoFit/>
          </a:bodyPr>
          <a:lstStyle/>
          <a:p>
            <a:r>
              <a:rPr lang="pl-PL" sz="2000" b="1">
                <a:solidFill>
                  <a:srgbClr val="1A2E52"/>
                </a:solidFill>
              </a:rPr>
              <a:t>Front Panel Design</a:t>
            </a:r>
          </a:p>
          <a:p>
            <a:r>
              <a:rPr lang="pl-PL" b="1">
                <a:solidFill>
                  <a:srgbClr val="1A2E52"/>
                </a:solidFill>
              </a:rPr>
              <a:t>Screenshot of current FP</a:t>
            </a:r>
          </a:p>
          <a:p>
            <a:endParaRPr lang="pl-PL">
              <a:solidFill>
                <a:srgbClr val="C00000"/>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r>
              <a:rPr lang="pl-PL" b="1">
                <a:solidFill>
                  <a:srgbClr val="1A2E52"/>
                </a:solidFill>
              </a:rPr>
              <a:t>Comments:</a:t>
            </a:r>
          </a:p>
          <a:p>
            <a:r>
              <a:rPr lang="pl-PL">
                <a:ea typeface="Calibri"/>
                <a:cs typeface="Calibri"/>
              </a:rPr>
              <a:t>(Power Spectrum Density plot)</a:t>
            </a:r>
          </a:p>
          <a:p>
            <a:endParaRPr lang="pl-PL" sz="2000">
              <a:solidFill>
                <a:srgbClr val="C00000"/>
              </a:solidFill>
            </a:endParaRPr>
          </a:p>
        </p:txBody>
      </p:sp>
      <p:pic>
        <p:nvPicPr>
          <p:cNvPr id="2" name="Picture 1" descr="A screenshot of a computer&#10;&#10;AI-generated content may be incorrect.">
            <a:extLst>
              <a:ext uri="{FF2B5EF4-FFF2-40B4-BE49-F238E27FC236}">
                <a16:creationId xmlns:a16="http://schemas.microsoft.com/office/drawing/2014/main" id="{44A7A169-348A-2321-AB4C-D592524752C9}"/>
              </a:ext>
            </a:extLst>
          </p:cNvPr>
          <p:cNvPicPr>
            <a:picLocks noChangeAspect="1"/>
          </p:cNvPicPr>
          <p:nvPr/>
        </p:nvPicPr>
        <p:blipFill>
          <a:blip r:embed="rId7"/>
          <a:stretch>
            <a:fillRect/>
          </a:stretch>
        </p:blipFill>
        <p:spPr>
          <a:xfrm>
            <a:off x="2496456" y="2070272"/>
            <a:ext cx="7053945" cy="3443170"/>
          </a:xfrm>
          <a:prstGeom prst="rect">
            <a:avLst/>
          </a:prstGeom>
        </p:spPr>
      </p:pic>
    </p:spTree>
    <p:extLst>
      <p:ext uri="{BB962C8B-B14F-4D97-AF65-F5344CB8AC3E}">
        <p14:creationId xmlns:p14="http://schemas.microsoft.com/office/powerpoint/2010/main" val="3896834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B7133-A2B1-0A6C-7520-19E142A5345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C6ADAC95-53FD-7BB2-05F7-49C680F59C59}"/>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5D6FCDB2-8E45-B9DE-2367-4CCA74B18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AA8E5176-B03F-26E3-8E1C-069ED27E0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66A068FE-48BF-E1FF-9453-DA246FE2A2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7FC8ECC1-90AD-FDD9-EDF2-733239FBBABC}"/>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18D4F052-0464-90B2-8535-F23F0EA4949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0794C8FF-7250-12F3-BA2D-A8C215F2D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3DCEBE5B-03BC-A9DF-B15F-0958CEEB1D40}"/>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68934AEE-6189-378D-694E-D1D75E906957}"/>
              </a:ext>
            </a:extLst>
          </p:cNvPr>
          <p:cNvSpPr txBox="1"/>
          <p:nvPr/>
        </p:nvSpPr>
        <p:spPr>
          <a:xfrm>
            <a:off x="577391" y="932410"/>
            <a:ext cx="8145229" cy="400110"/>
          </a:xfrm>
          <a:prstGeom prst="rect">
            <a:avLst/>
          </a:prstGeom>
          <a:noFill/>
        </p:spPr>
        <p:txBody>
          <a:bodyPr wrap="square">
            <a:spAutoFit/>
          </a:bodyPr>
          <a:lstStyle/>
          <a:p>
            <a:r>
              <a:rPr lang="en-GB" sz="2000" b="1">
                <a:solidFill>
                  <a:srgbClr val="1A2E52"/>
                </a:solidFill>
              </a:rPr>
              <a:t>Acquisition Software</a:t>
            </a:r>
            <a:r>
              <a:rPr lang="en-US" sz="2000" b="1">
                <a:solidFill>
                  <a:srgbClr val="1A2E52"/>
                </a:solidFill>
                <a:latin typeface="Colber"/>
              </a:rPr>
              <a:t>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CD765FC6-EF0F-D1BF-5AF1-1B7459098995}"/>
              </a:ext>
            </a:extLst>
          </p:cNvPr>
          <p:cNvSpPr txBox="1"/>
          <p:nvPr/>
        </p:nvSpPr>
        <p:spPr>
          <a:xfrm>
            <a:off x="695620" y="1222508"/>
            <a:ext cx="10800760" cy="5201424"/>
          </a:xfrm>
          <a:prstGeom prst="rect">
            <a:avLst/>
          </a:prstGeom>
          <a:noFill/>
        </p:spPr>
        <p:txBody>
          <a:bodyPr wrap="square" lIns="91440" tIns="45720" rIns="91440" bIns="45720" anchor="t">
            <a:spAutoFit/>
          </a:bodyPr>
          <a:lstStyle/>
          <a:p>
            <a:r>
              <a:rPr lang="pl-PL" sz="2000" b="1">
                <a:solidFill>
                  <a:srgbClr val="1A2E52"/>
                </a:solidFill>
              </a:rPr>
              <a:t>Front Panel Design</a:t>
            </a:r>
          </a:p>
          <a:p>
            <a:r>
              <a:rPr lang="pl-PL" b="1">
                <a:solidFill>
                  <a:srgbClr val="1A2E52"/>
                </a:solidFill>
              </a:rPr>
              <a:t>Screenshot of current FP</a:t>
            </a:r>
          </a:p>
          <a:p>
            <a:endParaRPr lang="pl-PL">
              <a:solidFill>
                <a:srgbClr val="C00000"/>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r>
              <a:rPr lang="pl-PL" b="1">
                <a:solidFill>
                  <a:srgbClr val="1A2E52"/>
                </a:solidFill>
              </a:rPr>
              <a:t>Comments:</a:t>
            </a:r>
          </a:p>
          <a:p>
            <a:r>
              <a:rPr lang="pl-PL">
                <a:ea typeface="Calibri"/>
                <a:cs typeface="Calibri"/>
              </a:rPr>
              <a:t>Hovering over a point on the plot displays the values (Time Domain plot)</a:t>
            </a:r>
          </a:p>
          <a:p>
            <a:endParaRPr lang="pl-PL" sz="2000">
              <a:solidFill>
                <a:srgbClr val="C00000"/>
              </a:solidFill>
            </a:endParaRPr>
          </a:p>
        </p:txBody>
      </p:sp>
      <p:pic>
        <p:nvPicPr>
          <p:cNvPr id="5" name="Picture 4" descr="A screen shot of a graph&#10;&#10;AI-generated content may be incorrect.">
            <a:extLst>
              <a:ext uri="{FF2B5EF4-FFF2-40B4-BE49-F238E27FC236}">
                <a16:creationId xmlns:a16="http://schemas.microsoft.com/office/drawing/2014/main" id="{393E8D91-81A9-9D59-44D8-14CEC6F711A5}"/>
              </a:ext>
            </a:extLst>
          </p:cNvPr>
          <p:cNvPicPr>
            <a:picLocks noChangeAspect="1"/>
          </p:cNvPicPr>
          <p:nvPr/>
        </p:nvPicPr>
        <p:blipFill>
          <a:blip r:embed="rId7"/>
          <a:stretch>
            <a:fillRect/>
          </a:stretch>
        </p:blipFill>
        <p:spPr>
          <a:xfrm>
            <a:off x="2532742" y="2162813"/>
            <a:ext cx="7104746" cy="3323402"/>
          </a:xfrm>
          <a:prstGeom prst="rect">
            <a:avLst/>
          </a:prstGeom>
        </p:spPr>
      </p:pic>
    </p:spTree>
    <p:extLst>
      <p:ext uri="{BB962C8B-B14F-4D97-AF65-F5344CB8AC3E}">
        <p14:creationId xmlns:p14="http://schemas.microsoft.com/office/powerpoint/2010/main" val="2085547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FEC0D-8842-34A9-6424-9C1C819083F1}"/>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BB08ABAD-6488-A1FA-6928-5F0CDA592D3A}"/>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CC780A4B-4A8A-7692-559B-582BFBD5E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00043DB1-529D-9469-027B-A2527F9A5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04BBD6D7-6FFE-A2F2-717E-FF03DDB3BD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2F54C777-9580-0B61-824C-0E4A3083A44B}"/>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16A6CCDF-A159-BD69-42CB-075C65926C27}"/>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A048C5E8-B720-D7D7-04C2-51369C9DF9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A214227F-6A07-0412-0660-377F8A6D0CC7}"/>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978DE111-57C3-031C-917D-221432FB3888}"/>
              </a:ext>
            </a:extLst>
          </p:cNvPr>
          <p:cNvSpPr txBox="1"/>
          <p:nvPr/>
        </p:nvSpPr>
        <p:spPr>
          <a:xfrm>
            <a:off x="628192" y="932410"/>
            <a:ext cx="7124942" cy="400110"/>
          </a:xfrm>
          <a:prstGeom prst="rect">
            <a:avLst/>
          </a:prstGeom>
          <a:noFill/>
        </p:spPr>
        <p:txBody>
          <a:bodyPr wrap="square">
            <a:spAutoFit/>
          </a:bodyPr>
          <a:lstStyle/>
          <a:p>
            <a:r>
              <a:rPr lang="en-US" sz="2000" b="1">
                <a:solidFill>
                  <a:srgbClr val="1A2E52"/>
                </a:solidFill>
                <a:latin typeface="Colber"/>
              </a:rPr>
              <a:t>LabVIEW Development</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77BDD975-74AA-1582-251A-B2A6BD741C22}"/>
              </a:ext>
            </a:extLst>
          </p:cNvPr>
          <p:cNvSpPr txBox="1"/>
          <p:nvPr/>
        </p:nvSpPr>
        <p:spPr>
          <a:xfrm>
            <a:off x="695620" y="1222508"/>
            <a:ext cx="10800760" cy="5693866"/>
          </a:xfrm>
          <a:prstGeom prst="rect">
            <a:avLst/>
          </a:prstGeom>
          <a:noFill/>
        </p:spPr>
        <p:txBody>
          <a:bodyPr wrap="square" lIns="91440" tIns="45720" rIns="91440" bIns="45720" anchor="t">
            <a:spAutoFit/>
          </a:bodyPr>
          <a:lstStyle/>
          <a:p>
            <a:r>
              <a:rPr lang="pl-PL" sz="2000" b="1">
                <a:solidFill>
                  <a:srgbClr val="1A2E52"/>
                </a:solidFill>
              </a:rPr>
              <a:t>Block Diagram Design</a:t>
            </a:r>
          </a:p>
          <a:p>
            <a:r>
              <a:rPr lang="pl-PL" b="1">
                <a:solidFill>
                  <a:srgbClr val="1A2E52"/>
                </a:solidFill>
              </a:rPr>
              <a:t>Screenshot of current BD</a:t>
            </a:r>
          </a:p>
          <a:p>
            <a:endParaRPr lang="pl-PL">
              <a:solidFill>
                <a:srgbClr val="C00000"/>
              </a:solidFill>
              <a:ea typeface="Calibri"/>
              <a:cs typeface="Calibri"/>
            </a:endParaRPr>
          </a:p>
          <a:p>
            <a:endParaRPr lang="pl-PL">
              <a:solidFill>
                <a:srgbClr val="C00000"/>
              </a:solidFill>
              <a:ea typeface="Calibri"/>
              <a:cs typeface="Calibri"/>
            </a:endParaRPr>
          </a:p>
          <a:p>
            <a:endParaRPr lang="pl-PL">
              <a:solidFill>
                <a:srgbClr val="C00000"/>
              </a:solidFill>
              <a:ea typeface="Calibri"/>
              <a:cs typeface="Calibri"/>
            </a:endParaRPr>
          </a:p>
          <a:p>
            <a:endParaRPr lang="pl-PL">
              <a:solidFill>
                <a:srgbClr val="C00000"/>
              </a:solidFill>
              <a:ea typeface="Calibri"/>
              <a:cs typeface="Calibri"/>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endParaRPr lang="pl-PL" b="1">
              <a:solidFill>
                <a:srgbClr val="1A2E52"/>
              </a:solidFill>
            </a:endParaRPr>
          </a:p>
          <a:p>
            <a:r>
              <a:rPr lang="pl-PL" b="1">
                <a:solidFill>
                  <a:srgbClr val="1A2E52"/>
                </a:solidFill>
              </a:rPr>
              <a:t>Comments:</a:t>
            </a:r>
          </a:p>
          <a:p>
            <a:r>
              <a:rPr lang="en-GB" sz="1500">
                <a:solidFill>
                  <a:srgbClr val="000000"/>
                </a:solidFill>
              </a:rPr>
              <a:t>The system operates by continuously buffering </a:t>
            </a:r>
            <a:r>
              <a:rPr lang="en-GB" sz="1500" err="1">
                <a:solidFill>
                  <a:srgbClr val="000000"/>
                </a:solidFill>
              </a:rPr>
              <a:t>analog</a:t>
            </a:r>
            <a:r>
              <a:rPr lang="en-GB" sz="1500">
                <a:solidFill>
                  <a:srgbClr val="000000"/>
                </a:solidFill>
              </a:rPr>
              <a:t> vibration data in a C# backend until a physical strike triggers a precise pre- and post-trigger snapshot. The raw wave data is permanently saved to an TDMS file, while calculated results (such as FFT peak frequencies) and user configurations are logged into an Excel file. To tie everything together, an SQLite database acts as a master registry, storing experimental metadata alongside the absolute file locations of the generated TDMS and Excel reports. Finally, a web frontend queries this SQLite registry to locate the files, extract the data, and visualize the structural performance charts.</a:t>
            </a:r>
            <a:endParaRPr lang="pl-PL" sz="1500">
              <a:solidFill>
                <a:srgbClr val="000000"/>
              </a:solidFill>
            </a:endParaRPr>
          </a:p>
          <a:p>
            <a:endParaRPr lang="pl-PL" sz="1500">
              <a:solidFill>
                <a:srgbClr val="000000"/>
              </a:solidFill>
            </a:endParaRPr>
          </a:p>
          <a:p>
            <a:endParaRPr lang="pl-PL">
              <a:solidFill>
                <a:srgbClr val="C00000"/>
              </a:solidFill>
              <a:ea typeface="Calibri"/>
              <a:cs typeface="Calibri"/>
            </a:endParaRPr>
          </a:p>
          <a:p>
            <a:endParaRPr lang="pl-PL" sz="2000">
              <a:solidFill>
                <a:srgbClr val="C00000"/>
              </a:solidFill>
            </a:endParaRPr>
          </a:p>
        </p:txBody>
      </p:sp>
      <p:pic>
        <p:nvPicPr>
          <p:cNvPr id="5" name="Picture 4" descr="A diagram of a computer program&#10;&#10;AI-generated content may be incorrect.">
            <a:extLst>
              <a:ext uri="{FF2B5EF4-FFF2-40B4-BE49-F238E27FC236}">
                <a16:creationId xmlns:a16="http://schemas.microsoft.com/office/drawing/2014/main" id="{C75F3F96-4070-442B-81F8-2D6F9EA8307A}"/>
              </a:ext>
            </a:extLst>
          </p:cNvPr>
          <p:cNvPicPr>
            <a:picLocks noChangeAspect="1"/>
          </p:cNvPicPr>
          <p:nvPr/>
        </p:nvPicPr>
        <p:blipFill>
          <a:blip r:embed="rId7"/>
          <a:stretch>
            <a:fillRect/>
          </a:stretch>
        </p:blipFill>
        <p:spPr>
          <a:xfrm>
            <a:off x="858611" y="1840820"/>
            <a:ext cx="8943522" cy="2661104"/>
          </a:xfrm>
          <a:prstGeom prst="rect">
            <a:avLst/>
          </a:prstGeom>
        </p:spPr>
      </p:pic>
    </p:spTree>
    <p:extLst>
      <p:ext uri="{BB962C8B-B14F-4D97-AF65-F5344CB8AC3E}">
        <p14:creationId xmlns:p14="http://schemas.microsoft.com/office/powerpoint/2010/main" val="2526182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CB2FF-DF3F-019B-5AB3-D8430A1ED20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C52EA4D1-0570-B1BD-298E-E313B9D278A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6325565-61F0-C1A6-1EA1-83B95EF59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A963338B-2426-B4EA-1017-8B503A957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50FB208A-2400-14F8-818A-403E4AF226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5115246E-CEB0-D0BE-008A-B1E5D0FB98ED}"/>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601B95D-8E50-9098-3DC1-96155DE81FF6}"/>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2B9509AB-A934-7C6C-79F9-A021B72239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3C61AFFF-794D-0D03-9069-4E7EB3F6E05E}"/>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2B6C65C9-5048-1780-5990-A713603795CC}"/>
              </a:ext>
            </a:extLst>
          </p:cNvPr>
          <p:cNvSpPr txBox="1"/>
          <p:nvPr/>
        </p:nvSpPr>
        <p:spPr>
          <a:xfrm>
            <a:off x="577392" y="932410"/>
            <a:ext cx="6094428" cy="400110"/>
          </a:xfrm>
          <a:prstGeom prst="rect">
            <a:avLst/>
          </a:prstGeom>
          <a:noFill/>
        </p:spPr>
        <p:txBody>
          <a:bodyPr wrap="square">
            <a:spAutoFit/>
          </a:bodyPr>
          <a:lstStyle/>
          <a:p>
            <a:r>
              <a:rPr lang="en-US" sz="2000" b="1">
                <a:solidFill>
                  <a:srgbClr val="1A2E52"/>
                </a:solidFill>
                <a:latin typeface="Colber"/>
              </a:rPr>
              <a:t>Preliminary Measurements</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9365B1B4-3349-1C62-9548-EC94F7D4EE3F}"/>
              </a:ext>
            </a:extLst>
          </p:cNvPr>
          <p:cNvSpPr txBox="1"/>
          <p:nvPr/>
        </p:nvSpPr>
        <p:spPr>
          <a:xfrm>
            <a:off x="695620" y="1222508"/>
            <a:ext cx="10800760" cy="4893647"/>
          </a:xfrm>
          <a:prstGeom prst="rect">
            <a:avLst/>
          </a:prstGeom>
          <a:noFill/>
        </p:spPr>
        <p:txBody>
          <a:bodyPr wrap="square" lIns="91440" tIns="45720" rIns="91440" bIns="45720" anchor="t">
            <a:spAutoFit/>
          </a:bodyPr>
          <a:lstStyle/>
          <a:p>
            <a:r>
              <a:rPr lang="pl-PL" sz="2000" b="1">
                <a:solidFill>
                  <a:srgbClr val="1A2E52"/>
                </a:solidFill>
              </a:rPr>
              <a:t>Measurement Scenario</a:t>
            </a:r>
          </a:p>
          <a:p>
            <a:r>
              <a:rPr lang="pl-PL">
                <a:ea typeface="+mn-lt"/>
                <a:cs typeface="+mn-lt"/>
              </a:rPr>
              <a:t>We performed a modal analysis on the CNC machine structure. By manually striking the machine bed with an impact hammer, we excited the structure to see how it vibrates naturally. This allowed us to isolate the machine's internal structural properties without the background noise of the spindle running.</a:t>
            </a:r>
            <a:endParaRPr lang="pl-PL">
              <a:ea typeface="Calibri"/>
              <a:cs typeface="Calibri"/>
            </a:endParaRPr>
          </a:p>
          <a:p>
            <a:endParaRPr lang="pl-PL" sz="2000">
              <a:solidFill>
                <a:srgbClr val="1A2E52"/>
              </a:solidFill>
              <a:ea typeface="Calibri"/>
              <a:cs typeface="Calibri"/>
            </a:endParaRPr>
          </a:p>
          <a:p>
            <a:r>
              <a:rPr lang="pl-PL" b="1">
                <a:solidFill>
                  <a:srgbClr val="1A2E52"/>
                </a:solidFill>
              </a:rPr>
              <a:t>Measurement objective</a:t>
            </a:r>
          </a:p>
          <a:p>
            <a:r>
              <a:rPr lang="pl-PL">
                <a:ea typeface="+mn-lt"/>
                <a:cs typeface="+mn-lt"/>
              </a:rPr>
              <a:t>The goal was to identify the CNC machine’s natural resonance frequencies and its damping ratio. By knowing exactly at which frequencies the machine naturally "wants" to vibrate, we can warn operators to avoid those specific RPM ranges, which prevents chatter and reduces mechanical wear.</a:t>
            </a:r>
            <a:endParaRPr lang="pl-PL"/>
          </a:p>
          <a:p>
            <a:endParaRPr lang="pl-PL">
              <a:solidFill>
                <a:srgbClr val="C00000"/>
              </a:solidFill>
            </a:endParaRPr>
          </a:p>
          <a:p>
            <a:r>
              <a:rPr lang="pl-PL"/>
              <a:t>Test conditions</a:t>
            </a:r>
            <a:endParaRPr lang="pl-PL">
              <a:ea typeface="Calibri"/>
              <a:cs typeface="Calibri"/>
            </a:endParaRPr>
          </a:p>
          <a:p>
            <a:r>
              <a:rPr lang="pl-PL">
                <a:ea typeface="+mn-lt"/>
                <a:cs typeface="+mn-lt"/>
              </a:rPr>
              <a:t>Excitation: Controlled mechanical hammer impact on the machine bed.</a:t>
            </a:r>
            <a:endParaRPr lang="pl-PL">
              <a:ea typeface="Calibri"/>
              <a:cs typeface="Calibri"/>
            </a:endParaRPr>
          </a:p>
          <a:p>
            <a:r>
              <a:rPr lang="pl-PL">
                <a:ea typeface="+mn-lt"/>
                <a:cs typeface="+mn-lt"/>
              </a:rPr>
              <a:t>Setup: PCB Piezotronics 601A02 accelerometer mounted to the bed</a:t>
            </a:r>
            <a:endParaRPr lang="pl-PL">
              <a:ea typeface="Calibri"/>
              <a:cs typeface="Calibri"/>
            </a:endParaRPr>
          </a:p>
          <a:p>
            <a:r>
              <a:rPr lang="pl-PL">
                <a:ea typeface="+mn-lt"/>
                <a:cs typeface="+mn-lt"/>
              </a:rPr>
              <a:t>Capture Logic: Our C# software used an automated trigger; it listened for the impact signal and saved a 500ms window (250ms before/after the hit)</a:t>
            </a:r>
            <a:endParaRPr lang="pl-PL">
              <a:ea typeface="Calibri"/>
              <a:cs typeface="Calibri"/>
            </a:endParaRPr>
          </a:p>
          <a:p>
            <a:endParaRPr lang="pl-PL">
              <a:solidFill>
                <a:srgbClr val="C00000"/>
              </a:solidFill>
              <a:ea typeface="Calibri"/>
              <a:cs typeface="Calibri"/>
            </a:endParaRPr>
          </a:p>
          <a:p>
            <a:endParaRPr lang="pl-PL" sz="2000">
              <a:solidFill>
                <a:srgbClr val="C00000"/>
              </a:solidFill>
              <a:ea typeface="Calibri"/>
              <a:cs typeface="Calibri"/>
            </a:endParaRPr>
          </a:p>
        </p:txBody>
      </p:sp>
    </p:spTree>
    <p:extLst>
      <p:ext uri="{BB962C8B-B14F-4D97-AF65-F5344CB8AC3E}">
        <p14:creationId xmlns:p14="http://schemas.microsoft.com/office/powerpoint/2010/main" val="3655611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6D756-9462-33AE-A1C6-E2B74401485C}"/>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442F6229-85F3-AEC0-AC4F-74FEC71E30C7}"/>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C1F62BA-46A3-CE08-25A4-962F0C5AE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F88C5A09-8F84-90C9-9643-E198576DD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58013FB5-6BF3-C278-DF62-679B3806EA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72DA7812-06FA-89D5-472E-9A63D5B8527F}"/>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74468DB-8DA8-C8F4-3356-DC1D90E58D93}"/>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722F8E46-014D-D253-780E-B042A82C5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D7FC99CD-BA51-7CA3-F668-F9121C49D9C7}"/>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7C23AB0-9DA2-5504-4247-E0361601DEA6}"/>
              </a:ext>
            </a:extLst>
          </p:cNvPr>
          <p:cNvSpPr txBox="1"/>
          <p:nvPr/>
        </p:nvSpPr>
        <p:spPr>
          <a:xfrm>
            <a:off x="628192" y="830810"/>
            <a:ext cx="6450028" cy="400110"/>
          </a:xfrm>
          <a:prstGeom prst="rect">
            <a:avLst/>
          </a:prstGeom>
          <a:noFill/>
        </p:spPr>
        <p:txBody>
          <a:bodyPr wrap="square">
            <a:spAutoFit/>
          </a:bodyPr>
          <a:lstStyle/>
          <a:p>
            <a:r>
              <a:rPr lang="en-US" sz="2000" b="1">
                <a:solidFill>
                  <a:srgbClr val="1A2E52"/>
                </a:solidFill>
                <a:latin typeface="Colber"/>
              </a:rPr>
              <a:t>Preliminary Measurements</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25</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4B2021D1-D5DF-A0B3-5320-CD5FE90EB292}"/>
              </a:ext>
            </a:extLst>
          </p:cNvPr>
          <p:cNvSpPr txBox="1"/>
          <p:nvPr/>
        </p:nvSpPr>
        <p:spPr>
          <a:xfrm>
            <a:off x="695620" y="1222508"/>
            <a:ext cx="10800760" cy="5324535"/>
          </a:xfrm>
          <a:prstGeom prst="rect">
            <a:avLst/>
          </a:prstGeom>
          <a:noFill/>
        </p:spPr>
        <p:txBody>
          <a:bodyPr wrap="square" lIns="91440" tIns="45720" rIns="91440" bIns="45720" anchor="t">
            <a:spAutoFit/>
          </a:bodyPr>
          <a:lstStyle/>
          <a:p>
            <a:r>
              <a:rPr lang="pl-PL" sz="2000" b="1">
                <a:solidFill>
                  <a:srgbClr val="1A2E52"/>
                </a:solidFill>
              </a:rPr>
              <a:t>First Measurement Results</a:t>
            </a: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ndParaRPr>
          </a:p>
          <a:p>
            <a:endParaRPr lang="pl-PL">
              <a:solidFill>
                <a:srgbClr val="C00000"/>
              </a:solidFill>
              <a:ea typeface="Calibri" panose="020F0502020204030204"/>
              <a:cs typeface="Calibri" panose="020F0502020204030204"/>
            </a:endParaRPr>
          </a:p>
          <a:p>
            <a:endParaRPr lang="pl-PL">
              <a:solidFill>
                <a:srgbClr val="C00000"/>
              </a:solidFill>
            </a:endParaRPr>
          </a:p>
          <a:p>
            <a:endParaRPr lang="pl-PL">
              <a:solidFill>
                <a:srgbClr val="C00000"/>
              </a:solidFill>
            </a:endParaRPr>
          </a:p>
          <a:p>
            <a:r>
              <a:rPr lang="pl-PL" b="1">
                <a:solidFill>
                  <a:srgbClr val="1A2E52"/>
                </a:solidFill>
              </a:rPr>
              <a:t>Initial observations</a:t>
            </a:r>
          </a:p>
          <a:p>
            <a:r>
              <a:rPr lang="pl-PL" sz="1600">
                <a:ea typeface="+mn-lt"/>
                <a:cs typeface="+mn-lt"/>
              </a:rPr>
              <a:t>Dominant Resonance: We identified a clear structural resonance peak near 350 Hz across all configurations.</a:t>
            </a:r>
            <a:endParaRPr lang="pl-PL" sz="1600">
              <a:ea typeface="Calibri"/>
              <a:cs typeface="Calibri"/>
            </a:endParaRPr>
          </a:p>
          <a:p>
            <a:r>
              <a:rPr lang="pl-PL" sz="1600">
                <a:ea typeface="+mn-lt"/>
                <a:cs typeface="+mn-lt"/>
              </a:rPr>
              <a:t>Position Sensitivity: The natural frequency shifted by about 12% depending on where the table was placed, proving that the machine's stiffness changes with the axis position.</a:t>
            </a:r>
            <a:endParaRPr lang="pl-PL" sz="1600">
              <a:ea typeface="Calibri"/>
              <a:cs typeface="Calibri"/>
            </a:endParaRPr>
          </a:p>
          <a:p>
            <a:endParaRPr lang="pl-PL" sz="2000">
              <a:solidFill>
                <a:srgbClr val="C00000"/>
              </a:solidFill>
            </a:endParaRPr>
          </a:p>
        </p:txBody>
      </p:sp>
      <p:pic>
        <p:nvPicPr>
          <p:cNvPr id="2" name="Picture 1">
            <a:extLst>
              <a:ext uri="{FF2B5EF4-FFF2-40B4-BE49-F238E27FC236}">
                <a16:creationId xmlns:a16="http://schemas.microsoft.com/office/drawing/2014/main" id="{AC968C7F-70B1-3495-2F86-6E185686272C}"/>
              </a:ext>
            </a:extLst>
          </p:cNvPr>
          <p:cNvPicPr>
            <a:picLocks noChangeAspect="1"/>
          </p:cNvPicPr>
          <p:nvPr/>
        </p:nvPicPr>
        <p:blipFill>
          <a:blip r:embed="rId7"/>
          <a:stretch>
            <a:fillRect/>
          </a:stretch>
        </p:blipFill>
        <p:spPr>
          <a:xfrm>
            <a:off x="2714170" y="1738346"/>
            <a:ext cx="6749145" cy="3388568"/>
          </a:xfrm>
          <a:prstGeom prst="rect">
            <a:avLst/>
          </a:prstGeom>
        </p:spPr>
      </p:pic>
    </p:spTree>
    <p:extLst>
      <p:ext uri="{BB962C8B-B14F-4D97-AF65-F5344CB8AC3E}">
        <p14:creationId xmlns:p14="http://schemas.microsoft.com/office/powerpoint/2010/main" val="1592917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FF580-421C-23AD-6DA4-B62690C275C0}"/>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3BE241AC-9ADA-0A4A-92E1-A773A545D3B0}"/>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682A3019-118B-5F29-830A-3FD9BFEBF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1419FEB5-5F9F-8F0E-3791-0C2A10C3B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E2CE274-8AB4-2550-C621-D74C482ED0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11BF7E62-DDCD-3DAE-1191-A0528684474F}"/>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E0A1F938-0CD9-1BC3-DD76-0BD74778375E}"/>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D9ABCDB5-2CF6-AFD0-4AB3-782DC106C0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B3B0E0E3-0692-D25F-BA7C-A612C5A4BACE}"/>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EE284C2-95A1-6471-9D49-01545E615C86}"/>
              </a:ext>
            </a:extLst>
          </p:cNvPr>
          <p:cNvSpPr txBox="1"/>
          <p:nvPr/>
        </p:nvSpPr>
        <p:spPr>
          <a:xfrm>
            <a:off x="628192" y="932410"/>
            <a:ext cx="6493570" cy="400110"/>
          </a:xfrm>
          <a:prstGeom prst="rect">
            <a:avLst/>
          </a:prstGeom>
          <a:noFill/>
        </p:spPr>
        <p:txBody>
          <a:bodyPr wrap="square">
            <a:spAutoFit/>
          </a:bodyPr>
          <a:lstStyle/>
          <a:p>
            <a:r>
              <a:rPr lang="en-US" sz="2000" b="1">
                <a:solidFill>
                  <a:srgbClr val="1A2E52"/>
                </a:solidFill>
                <a:latin typeface="Colber"/>
              </a:rPr>
              <a:t>Preliminary Measurements</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40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1FFD0ED2-48C9-0C9C-2DE3-FDA2B705B454}"/>
              </a:ext>
            </a:extLst>
          </p:cNvPr>
          <p:cNvSpPr txBox="1"/>
          <p:nvPr/>
        </p:nvSpPr>
        <p:spPr>
          <a:xfrm>
            <a:off x="695620" y="1222508"/>
            <a:ext cx="10800760" cy="5164491"/>
          </a:xfrm>
          <a:prstGeom prst="rect">
            <a:avLst/>
          </a:prstGeom>
          <a:noFill/>
        </p:spPr>
        <p:txBody>
          <a:bodyPr wrap="square" lIns="91440" tIns="45720" rIns="91440" bIns="45720" anchor="t">
            <a:spAutoFit/>
          </a:bodyPr>
          <a:lstStyle/>
          <a:p>
            <a:r>
              <a:rPr lang="pl-PL" sz="2000" b="1">
                <a:solidFill>
                  <a:srgbClr val="1A2E52"/>
                </a:solidFill>
              </a:rPr>
              <a:t>Data Quality Assessment</a:t>
            </a:r>
          </a:p>
          <a:p>
            <a:pPr>
              <a:lnSpc>
                <a:spcPct val="120000"/>
              </a:lnSpc>
            </a:pPr>
            <a:r>
              <a:rPr lang="pl-PL" b="1">
                <a:solidFill>
                  <a:srgbClr val="1A2E52"/>
                </a:solidFill>
              </a:rPr>
              <a:t>Signal quality</a:t>
            </a:r>
          </a:p>
          <a:p>
            <a:pPr>
              <a:lnSpc>
                <a:spcPct val="120000"/>
              </a:lnSpc>
            </a:pPr>
            <a:r>
              <a:rPr lang="en-GB">
                <a:solidFill>
                  <a:srgbClr val="1A2E52"/>
                </a:solidFill>
              </a:rPr>
              <a:t> x</a:t>
            </a:r>
            <a:r>
              <a:rPr lang="pl-PL">
                <a:solidFill>
                  <a:srgbClr val="1A2E52"/>
                </a:solidFill>
              </a:rPr>
              <a:t> Excellent</a:t>
            </a:r>
          </a:p>
          <a:p>
            <a:pPr>
              <a:lnSpc>
                <a:spcPct val="120000"/>
              </a:lnSpc>
            </a:pPr>
            <a:r>
              <a:rPr lang="pl-PL">
                <a:solidFill>
                  <a:srgbClr val="1A2E52"/>
                </a:solidFill>
              </a:rPr>
              <a:t>☐ Good</a:t>
            </a:r>
          </a:p>
          <a:p>
            <a:pPr>
              <a:lnSpc>
                <a:spcPct val="120000"/>
              </a:lnSpc>
            </a:pPr>
            <a:r>
              <a:rPr lang="pl-PL">
                <a:solidFill>
                  <a:srgbClr val="1A2E52"/>
                </a:solidFill>
              </a:rPr>
              <a:t>☐ Acceptable</a:t>
            </a:r>
          </a:p>
          <a:p>
            <a:pPr>
              <a:lnSpc>
                <a:spcPct val="120000"/>
              </a:lnSpc>
            </a:pPr>
            <a:r>
              <a:rPr lang="pl-PL">
                <a:solidFill>
                  <a:srgbClr val="1A2E52"/>
                </a:solidFill>
              </a:rPr>
              <a:t>☐ Poor</a:t>
            </a:r>
          </a:p>
          <a:p>
            <a:pPr>
              <a:lnSpc>
                <a:spcPct val="120000"/>
              </a:lnSpc>
            </a:pPr>
            <a:r>
              <a:rPr lang="pl-PL" b="1">
                <a:solidFill>
                  <a:srgbClr val="1A2E52"/>
                </a:solidFill>
              </a:rPr>
              <a:t>Sources of uncertainty</a:t>
            </a:r>
          </a:p>
          <a:p>
            <a:pPr>
              <a:lnSpc>
                <a:spcPct val="120000"/>
              </a:lnSpc>
            </a:pPr>
            <a:r>
              <a:rPr lang="pl-PL">
                <a:solidFill>
                  <a:srgbClr val="1A2E52"/>
                </a:solidFill>
              </a:rPr>
              <a:t>☐ Noise</a:t>
            </a:r>
          </a:p>
          <a:p>
            <a:pPr>
              <a:lnSpc>
                <a:spcPct val="120000"/>
              </a:lnSpc>
            </a:pPr>
            <a:r>
              <a:rPr lang="en-GB">
                <a:solidFill>
                  <a:srgbClr val="1A2E52"/>
                </a:solidFill>
              </a:rPr>
              <a:t> x</a:t>
            </a:r>
            <a:r>
              <a:rPr lang="pl-PL">
                <a:solidFill>
                  <a:srgbClr val="1A2E52"/>
                </a:solidFill>
              </a:rPr>
              <a:t> Sensor accuracy</a:t>
            </a:r>
          </a:p>
          <a:p>
            <a:pPr>
              <a:lnSpc>
                <a:spcPct val="120000"/>
              </a:lnSpc>
            </a:pPr>
            <a:r>
              <a:rPr lang="pl-PL">
                <a:solidFill>
                  <a:srgbClr val="1A2E52"/>
                </a:solidFill>
              </a:rPr>
              <a:t>☐ DAQ limitations</a:t>
            </a:r>
          </a:p>
          <a:p>
            <a:pPr>
              <a:lnSpc>
                <a:spcPct val="120000"/>
              </a:lnSpc>
            </a:pPr>
            <a:r>
              <a:rPr lang="en-GB">
                <a:solidFill>
                  <a:srgbClr val="1A2E52"/>
                </a:solidFill>
              </a:rPr>
              <a:t> x</a:t>
            </a:r>
            <a:r>
              <a:rPr lang="pl-PL">
                <a:solidFill>
                  <a:srgbClr val="1A2E52"/>
                </a:solidFill>
              </a:rPr>
              <a:t> Experimental setup</a:t>
            </a:r>
          </a:p>
          <a:p>
            <a:pPr>
              <a:lnSpc>
                <a:spcPct val="120000"/>
              </a:lnSpc>
            </a:pPr>
            <a:r>
              <a:rPr lang="en-GB">
                <a:solidFill>
                  <a:srgbClr val="1A2E52"/>
                </a:solidFill>
              </a:rPr>
              <a:t> x</a:t>
            </a:r>
            <a:r>
              <a:rPr lang="pl-PL">
                <a:solidFill>
                  <a:srgbClr val="1A2E52"/>
                </a:solidFill>
              </a:rPr>
              <a:t> Other</a:t>
            </a:r>
            <a:r>
              <a:rPr lang="en-GB">
                <a:solidFill>
                  <a:srgbClr val="1A2E52"/>
                </a:solidFill>
              </a:rPr>
              <a:t>: experimental procedure (human error)</a:t>
            </a:r>
            <a:endParaRPr lang="pl-PL">
              <a:solidFill>
                <a:srgbClr val="1A2E52"/>
              </a:solidFill>
            </a:endParaRPr>
          </a:p>
          <a:p>
            <a:r>
              <a:rPr lang="pl-PL" b="1">
                <a:solidFill>
                  <a:srgbClr val="1A2E52"/>
                </a:solidFill>
              </a:rPr>
              <a:t>Conclusions</a:t>
            </a:r>
          </a:p>
          <a:p>
            <a:r>
              <a:rPr lang="pl-PL">
                <a:ea typeface="+mn-lt"/>
                <a:cs typeface="+mn-lt"/>
              </a:rPr>
              <a:t>The signal quality is excellent, with high measurement repeatability and strong correlation between experimental trials. The primary uncertainties stem from the sensitivity of the sensor, the rigid mounting requirements of the experimental setup, and the inherent variability introduced by manual hammer impacts.</a:t>
            </a:r>
            <a:endParaRPr lang="pl-PL">
              <a:ea typeface="Calibri" panose="020F0502020204030204"/>
              <a:cs typeface="Calibri" panose="020F0502020204030204"/>
            </a:endParaRPr>
          </a:p>
        </p:txBody>
      </p:sp>
    </p:spTree>
    <p:extLst>
      <p:ext uri="{BB962C8B-B14F-4D97-AF65-F5344CB8AC3E}">
        <p14:creationId xmlns:p14="http://schemas.microsoft.com/office/powerpoint/2010/main" val="3671289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2410-72B2-11AD-5ADD-544E13A8024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22DCCE6-ED7C-8DE3-6350-C6F8D01523E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B03F764-4BA5-6983-83C4-2DD14968F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2835AC4-44CA-ED2F-2976-67149285F7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B1F58F18-0C33-CD9A-867D-8C781FC02E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0DA66599-0694-7559-9FCD-40540158412D}"/>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299B7DB8-7169-202C-8FA5-3653B26DEF41}"/>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8C9F12F-054C-094F-9E8E-5EB6DD5CD6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C9AE5259-CAB4-AA8F-60A2-561BD186BE84}"/>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618F58C5-99A2-BCA8-25A7-8529CE4C9DFE}"/>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Sustainability</a:t>
            </a:r>
            <a:r>
              <a:rPr lang="pl-PL" sz="2000" b="1">
                <a:solidFill>
                  <a:srgbClr val="1A2E52"/>
                </a:solidFill>
                <a:latin typeface="Colber"/>
              </a:rPr>
              <a:t> </a:t>
            </a:r>
            <a:r>
              <a:rPr lang="pl-PL" sz="2000" b="1" err="1">
                <a:solidFill>
                  <a:srgbClr val="1A2E52"/>
                </a:solidFill>
                <a:latin typeface="Colber"/>
              </a:rPr>
              <a:t>Impact</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10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F2D87C8E-029E-95FC-D9E0-2C1B25AA761D}"/>
              </a:ext>
            </a:extLst>
          </p:cNvPr>
          <p:cNvSpPr txBox="1"/>
          <p:nvPr/>
        </p:nvSpPr>
        <p:spPr>
          <a:xfrm>
            <a:off x="695620" y="1222508"/>
            <a:ext cx="10800760" cy="5016758"/>
          </a:xfrm>
          <a:prstGeom prst="rect">
            <a:avLst/>
          </a:prstGeom>
          <a:noFill/>
        </p:spPr>
        <p:txBody>
          <a:bodyPr wrap="square" lIns="91440" tIns="45720" rIns="91440" bIns="45720" anchor="t">
            <a:spAutoFit/>
          </a:bodyPr>
          <a:lstStyle/>
          <a:p>
            <a:pPr>
              <a:lnSpc>
                <a:spcPct val="120000"/>
              </a:lnSpc>
            </a:pPr>
            <a:endParaRPr lang="pl-PL" sz="2000" b="1">
              <a:solidFill>
                <a:srgbClr val="1A2E52"/>
              </a:solidFill>
            </a:endParaRPr>
          </a:p>
          <a:p>
            <a:pPr>
              <a:lnSpc>
                <a:spcPct val="120000"/>
              </a:lnSpc>
            </a:pPr>
            <a:r>
              <a:rPr lang="pl-PL" sz="2000" b="1">
                <a:solidFill>
                  <a:srgbClr val="1A2E52"/>
                </a:solidFill>
              </a:rPr>
              <a:t>Based on current results, how can the project contribute to sustainability?</a:t>
            </a:r>
          </a:p>
          <a:p>
            <a:pPr>
              <a:lnSpc>
                <a:spcPct val="120000"/>
              </a:lnSpc>
            </a:pPr>
            <a:r>
              <a:rPr lang="pl-PL" sz="2000">
                <a:solidFill>
                  <a:srgbClr val="1A2E52"/>
                </a:solidFill>
              </a:rPr>
              <a:t>☐ Reduced energy consumption</a:t>
            </a:r>
          </a:p>
          <a:p>
            <a:pPr>
              <a:lnSpc>
                <a:spcPct val="120000"/>
              </a:lnSpc>
            </a:pPr>
            <a:r>
              <a:rPr lang="pl-PL" sz="2000">
                <a:solidFill>
                  <a:srgbClr val="1A2E52"/>
                </a:solidFill>
              </a:rPr>
              <a:t>☐ Reduced water consumption</a:t>
            </a:r>
          </a:p>
          <a:p>
            <a:pPr>
              <a:lnSpc>
                <a:spcPct val="120000"/>
              </a:lnSpc>
            </a:pPr>
            <a:r>
              <a:rPr lang="pl-PL" sz="2000">
                <a:solidFill>
                  <a:srgbClr val="1A2E52"/>
                </a:solidFill>
              </a:rPr>
              <a:t> X Reduced waste</a:t>
            </a:r>
          </a:p>
          <a:p>
            <a:pPr>
              <a:lnSpc>
                <a:spcPct val="120000"/>
              </a:lnSpc>
            </a:pPr>
            <a:r>
              <a:rPr lang="pl-PL" sz="2000">
                <a:solidFill>
                  <a:srgbClr val="1A2E52"/>
                </a:solidFill>
              </a:rPr>
              <a:t> X Extended equipment lifetime</a:t>
            </a:r>
          </a:p>
          <a:p>
            <a:pPr>
              <a:lnSpc>
                <a:spcPct val="120000"/>
              </a:lnSpc>
            </a:pPr>
            <a:r>
              <a:rPr lang="pl-PL" sz="2000">
                <a:solidFill>
                  <a:srgbClr val="1A2E52"/>
                </a:solidFill>
              </a:rPr>
              <a:t> X Predictive maintenance</a:t>
            </a:r>
          </a:p>
          <a:p>
            <a:pPr>
              <a:lnSpc>
                <a:spcPct val="120000"/>
              </a:lnSpc>
            </a:pPr>
            <a:r>
              <a:rPr lang="pl-PL" sz="2000">
                <a:solidFill>
                  <a:srgbClr val="1A2E52"/>
                </a:solidFill>
              </a:rPr>
              <a:t> X Reduced losses</a:t>
            </a:r>
          </a:p>
          <a:p>
            <a:r>
              <a:rPr lang="pl-PL" b="1">
                <a:solidFill>
                  <a:srgbClr val="1A2E52"/>
                </a:solidFill>
              </a:rPr>
              <a:t>Preliminary conclusions</a:t>
            </a:r>
          </a:p>
          <a:p>
            <a:r>
              <a:rPr lang="pl-PL">
                <a:ea typeface="+mn-lt"/>
                <a:cs typeface="+mn-lt"/>
              </a:rPr>
              <a:t>Our experiments confirm that the CNC machine's dynamic behavior changes significantly with its table position, with a critical resonance zone near 350 Hz. By using our custom C# software to identify these frequencies, operators can avoid resonant speeds, which directly contributes to sustainability by reducing material waste from surface defects, minimizing energy losses from vibration, and extending the machine's service life through reduced structural fatigue.</a:t>
            </a:r>
            <a:endParaRPr lang="pl-PL">
              <a:ea typeface="Calibri"/>
              <a:cs typeface="Calibri"/>
            </a:endParaRPr>
          </a:p>
          <a:p>
            <a:endParaRPr lang="pl-PL" sz="2000">
              <a:solidFill>
                <a:srgbClr val="C00000"/>
              </a:solidFill>
            </a:endParaRPr>
          </a:p>
        </p:txBody>
      </p:sp>
    </p:spTree>
    <p:extLst>
      <p:ext uri="{BB962C8B-B14F-4D97-AF65-F5344CB8AC3E}">
        <p14:creationId xmlns:p14="http://schemas.microsoft.com/office/powerpoint/2010/main" val="2712061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33ED1-D5FB-892F-4067-6F3EEA88DA51}"/>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0BEB3ABF-655E-27EC-BB26-2F166A032DF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6A1AB83F-3865-10B3-6CE7-3A02A71AD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12BDAA7F-D5D8-1025-828B-060ACFF4C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33BAC582-3306-D0A8-2CCB-8090E0E6BF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95933B15-752D-932C-2E11-A5C6AB14151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BCA59FC-2111-A9D9-D6D7-9049D52F5F7C}"/>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69746A0E-3ECF-7CDF-26AF-506D4ED6FA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A2A82B54-1351-DC0A-9FC4-0B819CAF3CFA}"/>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ED07688B-6CE8-F425-F788-A16520EBD0D6}"/>
              </a:ext>
            </a:extLst>
          </p:cNvPr>
          <p:cNvSpPr txBox="1"/>
          <p:nvPr/>
        </p:nvSpPr>
        <p:spPr>
          <a:xfrm>
            <a:off x="577392" y="932410"/>
            <a:ext cx="6094428" cy="400110"/>
          </a:xfrm>
          <a:prstGeom prst="rect">
            <a:avLst/>
          </a:prstGeom>
          <a:noFill/>
        </p:spPr>
        <p:txBody>
          <a:bodyPr wrap="square">
            <a:spAutoFit/>
          </a:bodyPr>
          <a:lstStyle/>
          <a:p>
            <a:r>
              <a:rPr lang="pl-PL" sz="2000" b="1">
                <a:solidFill>
                  <a:srgbClr val="1A2E52"/>
                </a:solidFill>
                <a:latin typeface="Colber"/>
              </a:rPr>
              <a:t>Technical </a:t>
            </a:r>
            <a:r>
              <a:rPr lang="pl-PL" sz="2000" b="1" err="1">
                <a:solidFill>
                  <a:srgbClr val="1A2E52"/>
                </a:solidFill>
                <a:latin typeface="Colber"/>
              </a:rPr>
              <a:t>Challenges</a:t>
            </a:r>
            <a:r>
              <a:rPr lang="pl-PL" sz="2000" b="1">
                <a:solidFill>
                  <a:srgbClr val="1A2E52"/>
                </a:solidFill>
                <a:latin typeface="Colber"/>
              </a:rPr>
              <a:t> – Team </a:t>
            </a:r>
            <a:r>
              <a:rPr lang="pl-PL" sz="2000" b="1" err="1">
                <a:solidFill>
                  <a:srgbClr val="1A2E52"/>
                </a:solidFill>
                <a:latin typeface="Colber"/>
              </a:rPr>
              <a:t>Discussion</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10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F7F2F93D-1F9C-846C-6BE1-3361D8D33410}"/>
              </a:ext>
            </a:extLst>
          </p:cNvPr>
          <p:cNvSpPr txBox="1"/>
          <p:nvPr/>
        </p:nvSpPr>
        <p:spPr>
          <a:xfrm>
            <a:off x="695620" y="1222508"/>
            <a:ext cx="10800760" cy="769441"/>
          </a:xfrm>
          <a:prstGeom prst="rect">
            <a:avLst/>
          </a:prstGeom>
          <a:noFill/>
        </p:spPr>
        <p:txBody>
          <a:bodyPr wrap="square">
            <a:spAutoFit/>
          </a:bodyPr>
          <a:lstStyle/>
          <a:p>
            <a:pPr>
              <a:lnSpc>
                <a:spcPct val="120000"/>
              </a:lnSpc>
            </a:pPr>
            <a:endParaRPr lang="pl-PL" sz="2000" b="1">
              <a:solidFill>
                <a:srgbClr val="1A2E52"/>
              </a:solidFill>
            </a:endParaRPr>
          </a:p>
          <a:p>
            <a:endParaRPr lang="pl-PL" sz="2000">
              <a:solidFill>
                <a:srgbClr val="C00000"/>
              </a:solidFill>
            </a:endParaRPr>
          </a:p>
        </p:txBody>
      </p:sp>
      <p:graphicFrame>
        <p:nvGraphicFramePr>
          <p:cNvPr id="5" name="Table 4">
            <a:extLst>
              <a:ext uri="{FF2B5EF4-FFF2-40B4-BE49-F238E27FC236}">
                <a16:creationId xmlns:a16="http://schemas.microsoft.com/office/drawing/2014/main" id="{7B5EF538-E8DF-ADB3-C138-B0CDEAD7700B}"/>
              </a:ext>
            </a:extLst>
          </p:cNvPr>
          <p:cNvGraphicFramePr>
            <a:graphicFrameLocks noGrp="1"/>
          </p:cNvGraphicFramePr>
          <p:nvPr>
            <p:extLst>
              <p:ext uri="{D42A27DB-BD31-4B8C-83A1-F6EECF244321}">
                <p14:modId xmlns:p14="http://schemas.microsoft.com/office/powerpoint/2010/main" val="408217033"/>
              </p:ext>
            </p:extLst>
          </p:nvPr>
        </p:nvGraphicFramePr>
        <p:xfrm>
          <a:off x="847725" y="1734185"/>
          <a:ext cx="10496550" cy="3389630"/>
        </p:xfrm>
        <a:graphic>
          <a:graphicData uri="http://schemas.openxmlformats.org/drawingml/2006/table">
            <a:tbl>
              <a:tblPr firstRow="1" bandRow="1">
                <a:tableStyleId>{5C22544A-7EE6-4342-B048-85BDC9FD1C3A}</a:tableStyleId>
              </a:tblPr>
              <a:tblGrid>
                <a:gridCol w="2943225">
                  <a:extLst>
                    <a:ext uri="{9D8B030D-6E8A-4147-A177-3AD203B41FA5}">
                      <a16:colId xmlns:a16="http://schemas.microsoft.com/office/drawing/2014/main" val="2441981219"/>
                    </a:ext>
                  </a:extLst>
                </a:gridCol>
                <a:gridCol w="1962150">
                  <a:extLst>
                    <a:ext uri="{9D8B030D-6E8A-4147-A177-3AD203B41FA5}">
                      <a16:colId xmlns:a16="http://schemas.microsoft.com/office/drawing/2014/main" val="1101879375"/>
                    </a:ext>
                  </a:extLst>
                </a:gridCol>
                <a:gridCol w="5591175">
                  <a:extLst>
                    <a:ext uri="{9D8B030D-6E8A-4147-A177-3AD203B41FA5}">
                      <a16:colId xmlns:a16="http://schemas.microsoft.com/office/drawing/2014/main" val="1099666831"/>
                    </a:ext>
                  </a:extLst>
                </a:gridCol>
              </a:tblGrid>
              <a:tr h="0">
                <a:tc>
                  <a:txBody>
                    <a:bodyPr/>
                    <a:lstStyle/>
                    <a:p>
                      <a:pPr marL="0" fontAlgn="base">
                        <a:lnSpc>
                          <a:spcPts val="2175"/>
                        </a:lnSpc>
                        <a:buNone/>
                      </a:pPr>
                      <a:r>
                        <a:rPr lang="pl-PL" sz="1800" b="1">
                          <a:solidFill>
                            <a:srgbClr val="FFFFFF"/>
                          </a:solidFill>
                          <a:effectLst/>
                          <a:latin typeface="Calibri" panose="020F0502020204030204" pitchFamily="34" charset="0"/>
                        </a:rPr>
                        <a:t>Element</a:t>
                      </a:r>
                      <a:endParaRPr lang="en-US" b="1">
                        <a:solidFill>
                          <a:srgbClr val="FFFFFF"/>
                        </a:solidFill>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tc>
                  <a:txBody>
                    <a:bodyPr/>
                    <a:lstStyle/>
                    <a:p>
                      <a:pPr marL="0" fontAlgn="base">
                        <a:lnSpc>
                          <a:spcPts val="2175"/>
                        </a:lnSpc>
                        <a:buNone/>
                      </a:pPr>
                      <a:r>
                        <a:rPr lang="pl-PL" sz="1800" b="1">
                          <a:solidFill>
                            <a:srgbClr val="FFFFFF"/>
                          </a:solidFill>
                          <a:effectLst/>
                          <a:latin typeface="Calibri" panose="020F0502020204030204" pitchFamily="34" charset="0"/>
                        </a:rPr>
                        <a:t>Status</a:t>
                      </a:r>
                      <a:endParaRPr lang="en-US" b="1">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tc>
                  <a:txBody>
                    <a:bodyPr/>
                    <a:lstStyle/>
                    <a:p>
                      <a:pPr marL="0" fontAlgn="base">
                        <a:lnSpc>
                          <a:spcPts val="2175"/>
                        </a:lnSpc>
                        <a:buNone/>
                      </a:pPr>
                      <a:r>
                        <a:rPr lang="pl-PL" sz="1800" b="1">
                          <a:solidFill>
                            <a:srgbClr val="FFFFFF"/>
                          </a:solidFill>
                          <a:effectLst/>
                          <a:latin typeface="Calibri" panose="020F0502020204030204" pitchFamily="34" charset="0"/>
                        </a:rPr>
                        <a:t>Comments</a:t>
                      </a:r>
                      <a:endParaRPr lang="en-US" b="1">
                        <a:solidFill>
                          <a:srgbClr val="FFFFFF"/>
                        </a:solidFill>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50020310"/>
                  </a:ext>
                </a:extLst>
              </a:tr>
              <a:tr h="0">
                <a:tc>
                  <a:txBody>
                    <a:bodyPr/>
                    <a:lstStyle/>
                    <a:p>
                      <a:pPr marL="0" fontAlgn="base">
                        <a:lnSpc>
                          <a:spcPts val="2175"/>
                        </a:lnSpc>
                        <a:buNone/>
                      </a:pPr>
                      <a:r>
                        <a:rPr lang="pl-PL" sz="1800" b="1">
                          <a:effectLst/>
                          <a:latin typeface="Calibri" panose="020F0502020204030204" pitchFamily="34" charset="0"/>
                        </a:rPr>
                        <a:t>Sensors</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marL="0" fontAlgn="base">
                        <a:lnSpc>
                          <a:spcPts val="2175"/>
                        </a:lnSpc>
                        <a:buNone/>
                      </a:pPr>
                      <a:r>
                        <a:rPr lang="en-GB" sz="1800">
                          <a:effectLst/>
                          <a:latin typeface="Calibri" panose="020F0502020204030204" pitchFamily="34" charset="0"/>
                        </a:rPr>
                        <a:t>x</a:t>
                      </a:r>
                      <a:r>
                        <a:rPr lang="pl-PL" sz="1800">
                          <a:effectLst/>
                          <a:latin typeface="Calibri" panose="020F0502020204030204" pitchFamily="34" charset="0"/>
                        </a:rPr>
                        <a:t> OK / ☐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fontAlgn="ctr">
                        <a:buNone/>
                      </a:pP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3053051773"/>
                  </a:ext>
                </a:extLst>
              </a:tr>
              <a:tr h="0">
                <a:tc>
                  <a:txBody>
                    <a:bodyPr/>
                    <a:lstStyle/>
                    <a:p>
                      <a:pPr marL="0" fontAlgn="base">
                        <a:lnSpc>
                          <a:spcPts val="2175"/>
                        </a:lnSpc>
                        <a:buNone/>
                      </a:pPr>
                      <a:r>
                        <a:rPr lang="pl-PL" sz="1800" b="1">
                          <a:effectLst/>
                          <a:latin typeface="Calibri" panose="020F0502020204030204" pitchFamily="34" charset="0"/>
                        </a:rPr>
                        <a:t>DAQ connection</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tc>
                  <a:txBody>
                    <a:bodyPr/>
                    <a:lstStyle/>
                    <a:p>
                      <a:pPr marL="0" fontAlgn="base">
                        <a:lnSpc>
                          <a:spcPts val="2175"/>
                        </a:lnSpc>
                        <a:buNone/>
                      </a:pPr>
                      <a:r>
                        <a:rPr lang="en-GB" sz="1800">
                          <a:effectLst/>
                          <a:latin typeface="Calibri" panose="020F0502020204030204" pitchFamily="34" charset="0"/>
                        </a:rPr>
                        <a:t>x</a:t>
                      </a:r>
                      <a:r>
                        <a:rPr lang="pl-PL" sz="1800">
                          <a:effectLst/>
                          <a:latin typeface="Calibri" panose="020F0502020204030204" pitchFamily="34" charset="0"/>
                        </a:rPr>
                        <a:t> OK / ☐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tc>
                  <a:txBody>
                    <a:bodyPr/>
                    <a:lstStyle/>
                    <a:p>
                      <a:pPr fontAlgn="ctr">
                        <a:buNone/>
                      </a:pP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959133306"/>
                  </a:ext>
                </a:extLst>
              </a:tr>
              <a:tr h="0">
                <a:tc>
                  <a:txBody>
                    <a:bodyPr/>
                    <a:lstStyle/>
                    <a:p>
                      <a:pPr marL="0" fontAlgn="base">
                        <a:lnSpc>
                          <a:spcPts val="2175"/>
                        </a:lnSpc>
                        <a:buNone/>
                      </a:pPr>
                      <a:r>
                        <a:rPr lang="en-GB" sz="1800" b="1">
                          <a:effectLst/>
                          <a:latin typeface="Calibri" panose="020F0502020204030204" pitchFamily="34" charset="0"/>
                        </a:rPr>
                        <a:t>Acquisition</a:t>
                      </a:r>
                      <a:r>
                        <a:rPr lang="pl-PL" sz="1800" b="1">
                          <a:effectLst/>
                          <a:latin typeface="Calibri" panose="020F0502020204030204" pitchFamily="34" charset="0"/>
                        </a:rPr>
                        <a:t> application</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marL="0" fontAlgn="base">
                        <a:lnSpc>
                          <a:spcPts val="2175"/>
                        </a:lnSpc>
                        <a:buNone/>
                      </a:pPr>
                      <a:r>
                        <a:rPr lang="en-GB" sz="1800">
                          <a:effectLst/>
                          <a:latin typeface="Calibri" panose="020F0502020204030204" pitchFamily="34" charset="0"/>
                        </a:rPr>
                        <a:t>x</a:t>
                      </a:r>
                      <a:r>
                        <a:rPr lang="pl-PL" sz="1800">
                          <a:effectLst/>
                          <a:latin typeface="Calibri" panose="020F0502020204030204" pitchFamily="34" charset="0"/>
                        </a:rPr>
                        <a:t> OK / ☐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fontAlgn="ctr">
                        <a:buNone/>
                      </a:pP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703245912"/>
                  </a:ext>
                </a:extLst>
              </a:tr>
              <a:tr h="0">
                <a:tc>
                  <a:txBody>
                    <a:bodyPr/>
                    <a:lstStyle/>
                    <a:p>
                      <a:pPr marL="0" fontAlgn="base">
                        <a:lnSpc>
                          <a:spcPts val="2175"/>
                        </a:lnSpc>
                        <a:buNone/>
                      </a:pPr>
                      <a:r>
                        <a:rPr lang="pl-PL" sz="1800" b="1">
                          <a:effectLst/>
                          <a:latin typeface="Calibri" panose="020F0502020204030204" pitchFamily="34" charset="0"/>
                        </a:rPr>
                        <a:t>Data logging</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tc>
                  <a:txBody>
                    <a:bodyPr/>
                    <a:lstStyle/>
                    <a:p>
                      <a:pPr marL="0" fontAlgn="base">
                        <a:lnSpc>
                          <a:spcPts val="2175"/>
                        </a:lnSpc>
                        <a:buNone/>
                      </a:pPr>
                      <a:r>
                        <a:rPr lang="en-GB" sz="1800">
                          <a:effectLst/>
                          <a:latin typeface="Calibri" panose="020F0502020204030204" pitchFamily="34" charset="0"/>
                        </a:rPr>
                        <a:t>x</a:t>
                      </a:r>
                      <a:r>
                        <a:rPr lang="pl-PL" sz="1800">
                          <a:effectLst/>
                          <a:latin typeface="Calibri" panose="020F0502020204030204" pitchFamily="34" charset="0"/>
                        </a:rPr>
                        <a:t> OK / ☐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tc>
                  <a:txBody>
                    <a:bodyPr/>
                    <a:lstStyle/>
                    <a:p>
                      <a:pPr fontAlgn="ctr">
                        <a:buNone/>
                      </a:pP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627880688"/>
                  </a:ext>
                </a:extLst>
              </a:tr>
              <a:tr h="0">
                <a:tc>
                  <a:txBody>
                    <a:bodyPr/>
                    <a:lstStyle/>
                    <a:p>
                      <a:pPr marL="0" fontAlgn="base">
                        <a:lnSpc>
                          <a:spcPts val="2175"/>
                        </a:lnSpc>
                        <a:buNone/>
                      </a:pPr>
                      <a:r>
                        <a:rPr lang="pl-PL" sz="1800" b="1">
                          <a:effectLst/>
                          <a:latin typeface="Calibri" panose="020F0502020204030204" pitchFamily="34" charset="0"/>
                        </a:rPr>
                        <a:t>Power supply / connections</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marL="0" fontAlgn="base">
                        <a:lnSpc>
                          <a:spcPts val="2175"/>
                        </a:lnSpc>
                        <a:buNone/>
                      </a:pPr>
                      <a:r>
                        <a:rPr lang="en-GB" sz="1800">
                          <a:effectLst/>
                          <a:latin typeface="Calibri" panose="020F0502020204030204" pitchFamily="34" charset="0"/>
                        </a:rPr>
                        <a:t> </a:t>
                      </a:r>
                      <a:r>
                        <a:rPr lang="pl-PL" sz="1800">
                          <a:effectLst/>
                          <a:latin typeface="Calibri" panose="020F0502020204030204" pitchFamily="34" charset="0"/>
                        </a:rPr>
                        <a:t>☐ OK / x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tc>
                  <a:txBody>
                    <a:bodyPr/>
                    <a:lstStyle/>
                    <a:p>
                      <a:pPr marL="0" fontAlgn="base">
                        <a:lnSpc>
                          <a:spcPts val="2175"/>
                        </a:lnSpc>
                        <a:buNone/>
                      </a:pPr>
                      <a:r>
                        <a:rPr lang="pl-PL" sz="1800">
                          <a:effectLst/>
                          <a:latin typeface="Calibri" panose="020F0502020204030204" pitchFamily="34" charset="0"/>
                        </a:rPr>
                        <a:t>Sometimes the connection with CNC machine gets lost especially during spindle spin-up, likely due to EMI interferences. After exchanging the cable for a different one we did not encounter this problem anymore</a:t>
                      </a: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2395402373"/>
                  </a:ext>
                </a:extLst>
              </a:tr>
              <a:tr h="0">
                <a:tc>
                  <a:txBody>
                    <a:bodyPr/>
                    <a:lstStyle/>
                    <a:p>
                      <a:pPr marL="0" fontAlgn="base">
                        <a:lnSpc>
                          <a:spcPts val="2175"/>
                        </a:lnSpc>
                        <a:buNone/>
                      </a:pPr>
                      <a:r>
                        <a:rPr lang="pl-PL" sz="1800" b="1">
                          <a:effectLst/>
                          <a:latin typeface="Calibri" panose="020F0502020204030204" pitchFamily="34" charset="0"/>
                        </a:rPr>
                        <a:t>Experimental setup</a:t>
                      </a:r>
                      <a:endParaRPr lang="en-US" b="1">
                        <a:effectLst/>
                      </a:endParaRPr>
                    </a:p>
                  </a:txBody>
                  <a:tcPr anchor="ctr">
                    <a:lnL w="9525" cap="flat" cmpd="sng" algn="ctr">
                      <a:solidFill>
                        <a:srgbClr val="4472C4"/>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tc>
                  <a:txBody>
                    <a:bodyPr/>
                    <a:lstStyle/>
                    <a:p>
                      <a:pPr marL="0" fontAlgn="base">
                        <a:lnSpc>
                          <a:spcPts val="2175"/>
                        </a:lnSpc>
                        <a:buNone/>
                      </a:pPr>
                      <a:r>
                        <a:rPr lang="en-GB" sz="1800">
                          <a:effectLst/>
                          <a:latin typeface="Calibri" panose="020F0502020204030204" pitchFamily="34" charset="0"/>
                        </a:rPr>
                        <a:t>x</a:t>
                      </a:r>
                      <a:r>
                        <a:rPr lang="pl-PL" sz="1800">
                          <a:effectLst/>
                          <a:latin typeface="Calibri" panose="020F0502020204030204" pitchFamily="34" charset="0"/>
                        </a:rPr>
                        <a:t> OK / ☐ Problem</a:t>
                      </a:r>
                      <a:endParaRPr lang="en-US">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tcPr>
                </a:tc>
                <a:tc>
                  <a:txBody>
                    <a:bodyPr/>
                    <a:lstStyle/>
                    <a:p>
                      <a:pPr fontAlgn="ctr">
                        <a:buNone/>
                      </a:pPr>
                      <a:endParaRPr lang="en-US">
                        <a:effectLst/>
                      </a:endParaRPr>
                    </a:p>
                  </a:txBody>
                  <a:tcPr anchor="ctr">
                    <a:lnL w="12700" cap="flat" cmpd="sng" algn="ctr">
                      <a:solidFill>
                        <a:srgbClr val="FFFFFF"/>
                      </a:solidFill>
                      <a:prstDash val="solid"/>
                      <a:round/>
                      <a:headEnd type="none" w="med" len="med"/>
                      <a:tailEnd type="none" w="med" len="med"/>
                    </a:lnL>
                    <a:lnR w="9525" cap="flat" cmpd="sng" algn="ctr">
                      <a:solidFill>
                        <a:srgbClr val="4472C4"/>
                      </a:solidFill>
                      <a:prstDash val="solid"/>
                      <a:round/>
                      <a:headEnd type="none" w="med" len="med"/>
                      <a:tailEnd type="none" w="med" len="med"/>
                    </a:lnR>
                    <a:lnT w="9525" cap="flat" cmpd="sng" algn="ctr">
                      <a:solidFill>
                        <a:srgbClr val="4472C4"/>
                      </a:solidFill>
                      <a:prstDash val="solid"/>
                      <a:round/>
                      <a:headEnd type="none" w="med" len="med"/>
                      <a:tailEnd type="none" w="med" len="med"/>
                    </a:lnT>
                    <a:lnB w="9525"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407776658"/>
                  </a:ext>
                </a:extLst>
              </a:tr>
            </a:tbl>
          </a:graphicData>
        </a:graphic>
      </p:graphicFrame>
    </p:spTree>
    <p:extLst>
      <p:ext uri="{BB962C8B-B14F-4D97-AF65-F5344CB8AC3E}">
        <p14:creationId xmlns:p14="http://schemas.microsoft.com/office/powerpoint/2010/main" val="2487099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C4676-37A0-A10C-BB06-49886BFD81CC}"/>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D238527E-FB58-5CD7-D250-A192B3758C46}"/>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E84FEA2B-B87F-1BEB-FC39-36E68EA38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12935840-7316-7D3E-65A0-6A8329714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84E6D92-D688-987F-5291-7E3F8FDC17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229C1F38-4BC4-E566-6445-309497BC5F15}"/>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6C53894-62D6-9FDE-6C91-E7F44EE065DD}"/>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F6557C83-0F94-146F-89FF-47351A9BF6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4980A229-F37A-E9F4-06EC-ED04F356833F}"/>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2F6451D3-BB93-6663-A57D-0F6BA0552B3B}"/>
              </a:ext>
            </a:extLst>
          </p:cNvPr>
          <p:cNvSpPr txBox="1"/>
          <p:nvPr/>
        </p:nvSpPr>
        <p:spPr>
          <a:xfrm>
            <a:off x="577392" y="932410"/>
            <a:ext cx="6094428" cy="400110"/>
          </a:xfrm>
          <a:prstGeom prst="rect">
            <a:avLst/>
          </a:prstGeom>
          <a:noFill/>
        </p:spPr>
        <p:txBody>
          <a:bodyPr wrap="square">
            <a:spAutoFit/>
          </a:bodyPr>
          <a:lstStyle/>
          <a:p>
            <a:r>
              <a:rPr lang="pl-PL" sz="2000" b="1">
                <a:solidFill>
                  <a:srgbClr val="1A2E52"/>
                </a:solidFill>
                <a:latin typeface="Colber"/>
              </a:rPr>
              <a:t>Meeting 2 </a:t>
            </a:r>
            <a:r>
              <a:rPr lang="pl-PL" sz="2000" b="1" err="1">
                <a:solidFill>
                  <a:srgbClr val="1A2E52"/>
                </a:solidFill>
                <a:latin typeface="Colber"/>
              </a:rPr>
              <a:t>Summary</a:t>
            </a:r>
            <a:r>
              <a:rPr lang="pl-PL" sz="2000" b="1">
                <a:solidFill>
                  <a:srgbClr val="1A2E52"/>
                </a:solidFill>
                <a:latin typeface="Colber"/>
              </a:rPr>
              <a:t> (</a:t>
            </a:r>
            <a:r>
              <a:rPr lang="en-US" sz="2000" b="1">
                <a:solidFill>
                  <a:srgbClr val="1A2E52"/>
                </a:solidFill>
                <a:latin typeface="Colber"/>
              </a:rPr>
              <a:t>Time:</a:t>
            </a:r>
            <a:r>
              <a:rPr lang="pl-PL" sz="2000" b="1">
                <a:solidFill>
                  <a:srgbClr val="1A2E52"/>
                </a:solidFill>
                <a:latin typeface="Colber"/>
              </a:rPr>
              <a:t> </a:t>
            </a:r>
            <a:r>
              <a:rPr lang="pl-PL" sz="2000" b="1" err="1">
                <a:solidFill>
                  <a:srgbClr val="1A2E52"/>
                </a:solidFill>
                <a:latin typeface="Colber"/>
              </a:rPr>
              <a:t>included</a:t>
            </a:r>
            <a:r>
              <a:rPr lang="pl-PL" sz="2000" b="1">
                <a:solidFill>
                  <a:srgbClr val="1A2E52"/>
                </a:solidFill>
                <a:latin typeface="Colber"/>
              </a:rPr>
              <a:t> in 10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D856F7D1-3CE0-3455-676C-51132C12963F}"/>
              </a:ext>
            </a:extLst>
          </p:cNvPr>
          <p:cNvSpPr txBox="1"/>
          <p:nvPr/>
        </p:nvSpPr>
        <p:spPr>
          <a:xfrm>
            <a:off x="695620" y="1222508"/>
            <a:ext cx="10800760" cy="4697248"/>
          </a:xfrm>
          <a:prstGeom prst="rect">
            <a:avLst/>
          </a:prstGeom>
          <a:noFill/>
        </p:spPr>
        <p:txBody>
          <a:bodyPr wrap="square">
            <a:spAutoFit/>
          </a:bodyPr>
          <a:lstStyle/>
          <a:p>
            <a:endParaRPr lang="pl-PL" sz="2000" b="1"/>
          </a:p>
          <a:p>
            <a:pPr>
              <a:lnSpc>
                <a:spcPct val="120000"/>
              </a:lnSpc>
            </a:pPr>
            <a:r>
              <a:rPr lang="pl-PL" b="1" err="1">
                <a:solidFill>
                  <a:srgbClr val="1A2E52"/>
                </a:solidFill>
                <a:latin typeface="Colber"/>
              </a:rPr>
              <a:t>Today</a:t>
            </a:r>
            <a:r>
              <a:rPr lang="pl-PL" b="1">
                <a:solidFill>
                  <a:srgbClr val="1A2E52"/>
                </a:solidFill>
                <a:latin typeface="Colber"/>
              </a:rPr>
              <a:t> we </a:t>
            </a:r>
            <a:r>
              <a:rPr lang="pl-PL" b="1" err="1">
                <a:solidFill>
                  <a:srgbClr val="1A2E52"/>
                </a:solidFill>
                <a:latin typeface="Colber"/>
              </a:rPr>
              <a:t>completed</a:t>
            </a:r>
            <a:endParaRPr lang="pl-PL" b="1">
              <a:solidFill>
                <a:srgbClr val="1A2E52"/>
              </a:solidFill>
              <a:latin typeface="Colber"/>
            </a:endParaRPr>
          </a:p>
          <a:p>
            <a:pPr>
              <a:lnSpc>
                <a:spcPct val="120000"/>
              </a:lnSpc>
            </a:pPr>
            <a:r>
              <a:rPr lang="en-GB">
                <a:solidFill>
                  <a:srgbClr val="1A2E52"/>
                </a:solidFill>
                <a:latin typeface="Colber"/>
              </a:rPr>
              <a:t> x</a:t>
            </a:r>
            <a:r>
              <a:rPr lang="pl-PL">
                <a:solidFill>
                  <a:srgbClr val="1A2E52"/>
                </a:solidFill>
                <a:latin typeface="Colber"/>
              </a:rPr>
              <a:t> Hardware setup</a:t>
            </a:r>
          </a:p>
          <a:p>
            <a:pPr>
              <a:lnSpc>
                <a:spcPct val="120000"/>
              </a:lnSpc>
            </a:pPr>
            <a:r>
              <a:rPr lang="en-GB">
                <a:solidFill>
                  <a:srgbClr val="1A2E52"/>
                </a:solidFill>
                <a:latin typeface="Colber"/>
              </a:rPr>
              <a:t> x</a:t>
            </a:r>
            <a:r>
              <a:rPr lang="pl-PL">
                <a:solidFill>
                  <a:srgbClr val="1A2E52"/>
                </a:solidFill>
                <a:latin typeface="Colber"/>
              </a:rPr>
              <a:t> Sensor integration</a:t>
            </a:r>
          </a:p>
          <a:p>
            <a:pPr>
              <a:lnSpc>
                <a:spcPct val="120000"/>
              </a:lnSpc>
            </a:pPr>
            <a:r>
              <a:rPr lang="en-GB">
                <a:solidFill>
                  <a:srgbClr val="1A2E52"/>
                </a:solidFill>
                <a:latin typeface="Colber"/>
              </a:rPr>
              <a:t> x</a:t>
            </a:r>
            <a:r>
              <a:rPr lang="pl-PL">
                <a:solidFill>
                  <a:srgbClr val="1A2E52"/>
                </a:solidFill>
                <a:latin typeface="Colber"/>
              </a:rPr>
              <a:t> Calibration</a:t>
            </a:r>
          </a:p>
          <a:p>
            <a:pPr>
              <a:lnSpc>
                <a:spcPct val="120000"/>
              </a:lnSpc>
            </a:pPr>
            <a:r>
              <a:rPr lang="en-GB">
                <a:solidFill>
                  <a:srgbClr val="1A2E52"/>
                </a:solidFill>
                <a:latin typeface="Colber"/>
              </a:rPr>
              <a:t> x</a:t>
            </a:r>
            <a:r>
              <a:rPr lang="pl-PL">
                <a:solidFill>
                  <a:srgbClr val="1A2E52"/>
                </a:solidFill>
                <a:latin typeface="Colber"/>
              </a:rPr>
              <a:t> DAQ configuration</a:t>
            </a:r>
          </a:p>
          <a:p>
            <a:pPr>
              <a:lnSpc>
                <a:spcPct val="120000"/>
              </a:lnSpc>
            </a:pPr>
            <a:r>
              <a:rPr lang="en-GB">
                <a:solidFill>
                  <a:srgbClr val="1A2E52"/>
                </a:solidFill>
                <a:latin typeface="Colber"/>
              </a:rPr>
              <a:t> x</a:t>
            </a:r>
            <a:r>
              <a:rPr lang="pl-PL">
                <a:solidFill>
                  <a:srgbClr val="1A2E52"/>
                </a:solidFill>
                <a:latin typeface="Colber"/>
              </a:rPr>
              <a:t> </a:t>
            </a:r>
            <a:r>
              <a:rPr lang="en-GB" err="1">
                <a:solidFill>
                  <a:srgbClr val="1A2E52"/>
                </a:solidFill>
                <a:latin typeface="Colber"/>
              </a:rPr>
              <a:t>Acquistion</a:t>
            </a:r>
            <a:r>
              <a:rPr lang="en-GB">
                <a:solidFill>
                  <a:srgbClr val="1A2E52"/>
                </a:solidFill>
                <a:latin typeface="Colber"/>
              </a:rPr>
              <a:t> software </a:t>
            </a:r>
            <a:r>
              <a:rPr lang="pl-PL">
                <a:solidFill>
                  <a:srgbClr val="1A2E52"/>
                </a:solidFill>
                <a:latin typeface="Colber"/>
              </a:rPr>
              <a:t>development</a:t>
            </a:r>
          </a:p>
          <a:p>
            <a:pPr>
              <a:lnSpc>
                <a:spcPct val="120000"/>
              </a:lnSpc>
            </a:pPr>
            <a:r>
              <a:rPr lang="en-GB">
                <a:solidFill>
                  <a:srgbClr val="1A2E52"/>
                </a:solidFill>
                <a:latin typeface="Colber"/>
              </a:rPr>
              <a:t> x</a:t>
            </a:r>
            <a:r>
              <a:rPr lang="pl-PL">
                <a:solidFill>
                  <a:srgbClr val="1A2E52"/>
                </a:solidFill>
                <a:latin typeface="Colber"/>
              </a:rPr>
              <a:t> First measurements</a:t>
            </a:r>
          </a:p>
          <a:p>
            <a:pPr>
              <a:lnSpc>
                <a:spcPct val="120000"/>
              </a:lnSpc>
            </a:pPr>
            <a:r>
              <a:rPr lang="en-GB">
                <a:solidFill>
                  <a:srgbClr val="1A2E52"/>
                </a:solidFill>
                <a:latin typeface="Colber"/>
              </a:rPr>
              <a:t> x</a:t>
            </a:r>
            <a:r>
              <a:rPr lang="pl-PL">
                <a:solidFill>
                  <a:srgbClr val="1A2E52"/>
                </a:solidFill>
                <a:latin typeface="Colber"/>
              </a:rPr>
              <a:t> </a:t>
            </a:r>
            <a:r>
              <a:rPr lang="en-GB">
                <a:solidFill>
                  <a:srgbClr val="1A2E52"/>
                </a:solidFill>
                <a:latin typeface="Colber"/>
              </a:rPr>
              <a:t>Final measurements</a:t>
            </a:r>
            <a:endParaRPr lang="pl-PL">
              <a:solidFill>
                <a:srgbClr val="1A2E52"/>
              </a:solidFill>
              <a:latin typeface="Colber"/>
            </a:endParaRPr>
          </a:p>
          <a:p>
            <a:pPr>
              <a:lnSpc>
                <a:spcPct val="120000"/>
              </a:lnSpc>
            </a:pPr>
            <a:br>
              <a:rPr lang="pl-PL">
                <a:solidFill>
                  <a:srgbClr val="1A2E52"/>
                </a:solidFill>
                <a:latin typeface="Colber"/>
              </a:rPr>
            </a:br>
            <a:r>
              <a:rPr lang="pl-PL" b="1" err="1">
                <a:solidFill>
                  <a:srgbClr val="1A2E52"/>
                </a:solidFill>
                <a:latin typeface="Colber"/>
              </a:rPr>
              <a:t>Overall</a:t>
            </a:r>
            <a:r>
              <a:rPr lang="pl-PL" b="1">
                <a:solidFill>
                  <a:srgbClr val="1A2E52"/>
                </a:solidFill>
                <a:latin typeface="Colber"/>
              </a:rPr>
              <a:t> </a:t>
            </a:r>
            <a:r>
              <a:rPr lang="pl-PL" b="1" err="1">
                <a:solidFill>
                  <a:srgbClr val="1A2E52"/>
                </a:solidFill>
                <a:latin typeface="Colber"/>
              </a:rPr>
              <a:t>project</a:t>
            </a:r>
            <a:r>
              <a:rPr lang="pl-PL" b="1">
                <a:solidFill>
                  <a:srgbClr val="1A2E52"/>
                </a:solidFill>
                <a:latin typeface="Colber"/>
              </a:rPr>
              <a:t> status</a:t>
            </a:r>
          </a:p>
          <a:p>
            <a:pPr>
              <a:lnSpc>
                <a:spcPct val="120000"/>
              </a:lnSpc>
            </a:pPr>
            <a:r>
              <a:rPr lang="en-GB">
                <a:solidFill>
                  <a:srgbClr val="1A2E52"/>
                </a:solidFill>
                <a:latin typeface="Colber"/>
              </a:rPr>
              <a:t> x</a:t>
            </a:r>
            <a:r>
              <a:rPr lang="pl-PL">
                <a:solidFill>
                  <a:srgbClr val="1A2E52"/>
                </a:solidFill>
                <a:latin typeface="Colber"/>
              </a:rPr>
              <a:t> Ahead of schedule</a:t>
            </a:r>
          </a:p>
          <a:p>
            <a:pPr>
              <a:lnSpc>
                <a:spcPct val="120000"/>
              </a:lnSpc>
            </a:pPr>
            <a:r>
              <a:rPr lang="pl-PL">
                <a:solidFill>
                  <a:srgbClr val="1A2E52"/>
                </a:solidFill>
                <a:latin typeface="Colber"/>
              </a:rPr>
              <a:t>☐ On </a:t>
            </a:r>
            <a:r>
              <a:rPr lang="pl-PL" err="1">
                <a:solidFill>
                  <a:srgbClr val="1A2E52"/>
                </a:solidFill>
                <a:latin typeface="Colber"/>
              </a:rPr>
              <a:t>schedule</a:t>
            </a:r>
            <a:endParaRPr lang="pl-PL">
              <a:solidFill>
                <a:srgbClr val="1A2E52"/>
              </a:solidFill>
              <a:latin typeface="Colber"/>
            </a:endParaRPr>
          </a:p>
          <a:p>
            <a:pPr>
              <a:lnSpc>
                <a:spcPct val="120000"/>
              </a:lnSpc>
            </a:pPr>
            <a:r>
              <a:rPr lang="pl-PL">
                <a:solidFill>
                  <a:srgbClr val="1A2E52"/>
                </a:solidFill>
                <a:latin typeface="Colber"/>
              </a:rPr>
              <a:t>☐ </a:t>
            </a:r>
            <a:r>
              <a:rPr lang="pl-PL" err="1">
                <a:solidFill>
                  <a:srgbClr val="1A2E52"/>
                </a:solidFill>
                <a:latin typeface="Colber"/>
              </a:rPr>
              <a:t>Behind</a:t>
            </a:r>
            <a:r>
              <a:rPr lang="pl-PL">
                <a:solidFill>
                  <a:srgbClr val="1A2E52"/>
                </a:solidFill>
                <a:latin typeface="Colber"/>
              </a:rPr>
              <a:t> </a:t>
            </a:r>
            <a:r>
              <a:rPr lang="pl-PL" err="1">
                <a:solidFill>
                  <a:srgbClr val="1A2E52"/>
                </a:solidFill>
                <a:latin typeface="Colber"/>
              </a:rPr>
              <a:t>schedule</a:t>
            </a:r>
            <a:endParaRPr lang="pl-PL">
              <a:solidFill>
                <a:srgbClr val="1A2E52"/>
              </a:solidFill>
              <a:latin typeface="Colber"/>
            </a:endParaRPr>
          </a:p>
        </p:txBody>
      </p:sp>
    </p:spTree>
    <p:extLst>
      <p:ext uri="{BB962C8B-B14F-4D97-AF65-F5344CB8AC3E}">
        <p14:creationId xmlns:p14="http://schemas.microsoft.com/office/powerpoint/2010/main" val="2128692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9B5A-DB6E-2523-62ED-A70B30887241}"/>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6B2AF7EF-5E42-A5E0-10FA-E2C0AB549790}"/>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5ABBA7C2-1141-5694-547A-F73D3B4FD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81715E25-5435-C9D8-7E45-D8DEE16A2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96AE30E7-FC34-3127-8E0C-E9B6751E06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A0032DBD-CEA9-A916-0ECA-41D9A3287093}"/>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EE0B8315-53EF-CDCA-2713-0D771269CA24}"/>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43E32754-178D-F1CC-B190-D9E385F153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2ABA3175-7C05-25DF-8301-2C4B420ED61E}"/>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2EC91C5F-4B94-2C69-E8A0-B58B11BEC1FD}"/>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Tasks</a:t>
            </a:r>
            <a:r>
              <a:rPr lang="pl-PL" sz="2000" b="1">
                <a:solidFill>
                  <a:srgbClr val="1A2E52"/>
                </a:solidFill>
                <a:latin typeface="Colber"/>
              </a:rPr>
              <a:t> </a:t>
            </a:r>
            <a:r>
              <a:rPr lang="pl-PL" sz="2000" b="1" err="1">
                <a:solidFill>
                  <a:srgbClr val="1A2E52"/>
                </a:solidFill>
                <a:latin typeface="Colber"/>
              </a:rPr>
              <a:t>Before</a:t>
            </a:r>
            <a:r>
              <a:rPr lang="pl-PL" sz="2000" b="1">
                <a:solidFill>
                  <a:srgbClr val="1A2E52"/>
                </a:solidFill>
                <a:latin typeface="Colber"/>
              </a:rPr>
              <a:t> Meeting 3 (</a:t>
            </a:r>
            <a:r>
              <a:rPr lang="en-US" sz="2000" b="1">
                <a:solidFill>
                  <a:srgbClr val="1A2E52"/>
                </a:solidFill>
                <a:latin typeface="Colber"/>
              </a:rPr>
              <a:t>Time: </a:t>
            </a:r>
            <a:r>
              <a:rPr lang="pl-PL" sz="2000" b="1">
                <a:solidFill>
                  <a:srgbClr val="1A2E52"/>
                </a:solidFill>
                <a:latin typeface="Colber"/>
              </a:rPr>
              <a:t>10</a:t>
            </a:r>
            <a:r>
              <a:rPr lang="en-US" sz="2000" b="1">
                <a:solidFill>
                  <a:srgbClr val="1A2E52"/>
                </a:solidFill>
                <a:latin typeface="Colber"/>
              </a:rPr>
              <a:t> min</a:t>
            </a:r>
            <a:r>
              <a:rPr lang="pl-PL" sz="2000" b="1">
                <a:solidFill>
                  <a:srgbClr val="1A2E52"/>
                </a:solidFill>
                <a:latin typeface="Colber"/>
              </a:rPr>
              <a:t>)</a:t>
            </a:r>
          </a:p>
        </p:txBody>
      </p:sp>
      <p:graphicFrame>
        <p:nvGraphicFramePr>
          <p:cNvPr id="17" name="Tabela 16">
            <a:extLst>
              <a:ext uri="{FF2B5EF4-FFF2-40B4-BE49-F238E27FC236}">
                <a16:creationId xmlns:a16="http://schemas.microsoft.com/office/drawing/2014/main" id="{9B3561E5-AA3F-1F0F-E97C-18CE1BBB68B9}"/>
              </a:ext>
            </a:extLst>
          </p:cNvPr>
          <p:cNvGraphicFramePr>
            <a:graphicFrameLocks noGrp="1"/>
          </p:cNvGraphicFramePr>
          <p:nvPr>
            <p:extLst>
              <p:ext uri="{D42A27DB-BD31-4B8C-83A1-F6EECF244321}">
                <p14:modId xmlns:p14="http://schemas.microsoft.com/office/powerpoint/2010/main" val="228930826"/>
              </p:ext>
            </p:extLst>
          </p:nvPr>
        </p:nvGraphicFramePr>
        <p:xfrm>
          <a:off x="874565" y="2123340"/>
          <a:ext cx="10694386" cy="3474720"/>
        </p:xfrm>
        <a:graphic>
          <a:graphicData uri="http://schemas.openxmlformats.org/drawingml/2006/table">
            <a:tbl>
              <a:tblPr firstRow="1" bandCol="1">
                <a:tableStyleId>{B301B821-A1FF-4177-AEE7-76D212191A09}</a:tableStyleId>
              </a:tblPr>
              <a:tblGrid>
                <a:gridCol w="3462396">
                  <a:extLst>
                    <a:ext uri="{9D8B030D-6E8A-4147-A177-3AD203B41FA5}">
                      <a16:colId xmlns:a16="http://schemas.microsoft.com/office/drawing/2014/main" val="418723005"/>
                    </a:ext>
                  </a:extLst>
                </a:gridCol>
                <a:gridCol w="3615995">
                  <a:extLst>
                    <a:ext uri="{9D8B030D-6E8A-4147-A177-3AD203B41FA5}">
                      <a16:colId xmlns:a16="http://schemas.microsoft.com/office/drawing/2014/main" val="2296204305"/>
                    </a:ext>
                  </a:extLst>
                </a:gridCol>
                <a:gridCol w="3615995">
                  <a:extLst>
                    <a:ext uri="{9D8B030D-6E8A-4147-A177-3AD203B41FA5}">
                      <a16:colId xmlns:a16="http://schemas.microsoft.com/office/drawing/2014/main" val="789089246"/>
                    </a:ext>
                  </a:extLst>
                </a:gridCol>
              </a:tblGrid>
              <a:tr h="0">
                <a:tc>
                  <a:txBody>
                    <a:bodyPr/>
                    <a:lstStyle/>
                    <a:p>
                      <a:pPr>
                        <a:buNone/>
                      </a:pPr>
                      <a:r>
                        <a:rPr lang="pl-PL"/>
                        <a:t>Task</a:t>
                      </a:r>
                    </a:p>
                  </a:txBody>
                  <a:tcPr anchor="ctr"/>
                </a:tc>
                <a:tc>
                  <a:txBody>
                    <a:bodyPr/>
                    <a:lstStyle/>
                    <a:p>
                      <a:pPr>
                        <a:buNone/>
                      </a:pPr>
                      <a:r>
                        <a:rPr lang="pl-PL"/>
                        <a:t>Responsible person</a:t>
                      </a:r>
                    </a:p>
                  </a:txBody>
                  <a:tcPr anchor="ctr"/>
                </a:tc>
                <a:tc>
                  <a:txBody>
                    <a:bodyPr/>
                    <a:lstStyle/>
                    <a:p>
                      <a:pPr>
                        <a:buNone/>
                      </a:pPr>
                      <a:r>
                        <a:rPr lang="pl-PL"/>
                        <a:t>Deadline</a:t>
                      </a:r>
                    </a:p>
                  </a:txBody>
                  <a:tcPr anchor="ctr"/>
                </a:tc>
                <a:extLst>
                  <a:ext uri="{0D108BD9-81ED-4DB2-BD59-A6C34878D82A}">
                    <a16:rowId xmlns:a16="http://schemas.microsoft.com/office/drawing/2014/main" val="2271464794"/>
                  </a:ext>
                </a:extLst>
              </a:tr>
              <a:tr h="0">
                <a:tc>
                  <a:txBody>
                    <a:bodyPr/>
                    <a:lstStyle/>
                    <a:p>
                      <a:pPr lvl="0">
                        <a:buNone/>
                      </a:pPr>
                      <a:r>
                        <a:rPr lang="pl-PL" sz="1800" b="0" i="0" u="none" strike="noStrike" noProof="0">
                          <a:latin typeface="Calibri"/>
                          <a:ea typeface="Calibri"/>
                          <a:cs typeface="Calibri"/>
                        </a:rPr>
                        <a:t>Validate hammer impact TDMS files and check signal integrity</a:t>
                      </a:r>
                      <a:endParaRPr lang="en-US"/>
                    </a:p>
                  </a:txBody>
                  <a:tcPr anchor="ctr"/>
                </a:tc>
                <a:tc>
                  <a:txBody>
                    <a:bodyPr/>
                    <a:lstStyle/>
                    <a:p>
                      <a:pPr>
                        <a:buNone/>
                      </a:pPr>
                      <a:r>
                        <a:rPr lang="pl-PL"/>
                        <a:t>Patryk Januś</a:t>
                      </a:r>
                    </a:p>
                  </a:txBody>
                  <a:tcPr anchor="ctr"/>
                </a:tc>
                <a:tc>
                  <a:txBody>
                    <a:bodyPr/>
                    <a:lstStyle/>
                    <a:p>
                      <a:pPr>
                        <a:buNone/>
                      </a:pPr>
                      <a:r>
                        <a:rPr lang="pl-PL"/>
                        <a:t>16.06.2026</a:t>
                      </a:r>
                    </a:p>
                  </a:txBody>
                  <a:tcPr anchor="ctr"/>
                </a:tc>
                <a:extLst>
                  <a:ext uri="{0D108BD9-81ED-4DB2-BD59-A6C34878D82A}">
                    <a16:rowId xmlns:a16="http://schemas.microsoft.com/office/drawing/2014/main" val="326115372"/>
                  </a:ext>
                </a:extLst>
              </a:tr>
              <a:tr h="0">
                <a:tc>
                  <a:txBody>
                    <a:bodyPr/>
                    <a:lstStyle/>
                    <a:p>
                      <a:pPr lvl="0">
                        <a:buNone/>
                      </a:pPr>
                      <a:r>
                        <a:rPr lang="pl-PL" sz="1800" b="0" i="0" u="none" strike="noStrike" noProof="0">
                          <a:latin typeface="Calibri"/>
                          <a:ea typeface="Calibri"/>
                          <a:cs typeface="Calibri"/>
                        </a:rPr>
                        <a:t>Analyze FFT peaks to isolate structural natural frequencies</a:t>
                      </a:r>
                      <a:endParaRPr lang="en-US"/>
                    </a:p>
                  </a:txBody>
                  <a:tcPr anchor="ctr"/>
                </a:tc>
                <a:tc>
                  <a:txBody>
                    <a:bodyPr/>
                    <a:lstStyle/>
                    <a:p>
                      <a:pPr>
                        <a:buNone/>
                      </a:pPr>
                      <a:r>
                        <a:rPr lang="pl-PL"/>
                        <a:t>Patryk Reiter</a:t>
                      </a:r>
                    </a:p>
                  </a:txBody>
                  <a:tcPr anchor="ctr"/>
                </a:tc>
                <a:tc>
                  <a:txBody>
                    <a:bodyPr/>
                    <a:lstStyle/>
                    <a:p>
                      <a:pPr lvl="0">
                        <a:buNone/>
                      </a:pPr>
                      <a:r>
                        <a:rPr lang="pl-PL" sz="1800" b="0" i="0" u="none" strike="noStrike" noProof="0">
                          <a:solidFill>
                            <a:srgbClr val="000000"/>
                          </a:solidFill>
                          <a:latin typeface="Calibri"/>
                          <a:ea typeface="Calibri"/>
                          <a:cs typeface="Calibri"/>
                        </a:rPr>
                        <a:t>17.06.2026</a:t>
                      </a:r>
                      <a:endParaRPr lang="en-US"/>
                    </a:p>
                  </a:txBody>
                  <a:tcPr anchor="ctr"/>
                </a:tc>
                <a:extLst>
                  <a:ext uri="{0D108BD9-81ED-4DB2-BD59-A6C34878D82A}">
                    <a16:rowId xmlns:a16="http://schemas.microsoft.com/office/drawing/2014/main" val="1442910012"/>
                  </a:ext>
                </a:extLst>
              </a:tr>
              <a:tr h="0">
                <a:tc>
                  <a:txBody>
                    <a:bodyPr/>
                    <a:lstStyle/>
                    <a:p>
                      <a:pPr lvl="0">
                        <a:buNone/>
                      </a:pPr>
                      <a:r>
                        <a:rPr lang="pl-PL" sz="1800" b="0" i="0" u="none" strike="noStrike" noProof="0">
                          <a:latin typeface="Calibri"/>
                          <a:ea typeface="Calibri"/>
                          <a:cs typeface="Calibri"/>
                        </a:rPr>
                        <a:t>Prepare spindle operational test parameters (7,500 and 11,250 RPM)</a:t>
                      </a:r>
                      <a:endParaRPr lang="en-US"/>
                    </a:p>
                  </a:txBody>
                  <a:tcPr anchor="ctr"/>
                </a:tc>
                <a:tc>
                  <a:txBody>
                    <a:bodyPr/>
                    <a:lstStyle/>
                    <a:p>
                      <a:pPr>
                        <a:buNone/>
                      </a:pPr>
                      <a:r>
                        <a:rPr lang="pl-PL"/>
                        <a:t>Szymon Korzuch</a:t>
                      </a:r>
                    </a:p>
                  </a:txBody>
                  <a:tcPr anchor="ctr"/>
                </a:tc>
                <a:tc>
                  <a:txBody>
                    <a:bodyPr/>
                    <a:lstStyle/>
                    <a:p>
                      <a:pPr lvl="0">
                        <a:buNone/>
                      </a:pPr>
                      <a:r>
                        <a:rPr lang="pl-PL" sz="1800" b="0" i="0" u="none" strike="noStrike" noProof="0">
                          <a:solidFill>
                            <a:srgbClr val="000000"/>
                          </a:solidFill>
                          <a:latin typeface="Calibri"/>
                          <a:ea typeface="Calibri"/>
                          <a:cs typeface="Calibri"/>
                        </a:rPr>
                        <a:t>16.06.2026</a:t>
                      </a:r>
                      <a:endParaRPr lang="en-US"/>
                    </a:p>
                  </a:txBody>
                  <a:tcPr anchor="ctr"/>
                </a:tc>
                <a:extLst>
                  <a:ext uri="{0D108BD9-81ED-4DB2-BD59-A6C34878D82A}">
                    <a16:rowId xmlns:a16="http://schemas.microsoft.com/office/drawing/2014/main" val="2695309722"/>
                  </a:ext>
                </a:extLst>
              </a:tr>
              <a:tr h="0">
                <a:tc>
                  <a:txBody>
                    <a:bodyPr/>
                    <a:lstStyle/>
                    <a:p>
                      <a:pPr lvl="0">
                        <a:buNone/>
                      </a:pPr>
                      <a:r>
                        <a:rPr lang="pl-PL" sz="1800" b="0" i="0" u="none" strike="noStrike" noProof="0">
                          <a:latin typeface="Calibri"/>
                          <a:ea typeface="Calibri"/>
                          <a:cs typeface="Calibri"/>
                        </a:rPr>
                        <a:t>Verify frontend plot rendering and prepare UI screenshots for the report</a:t>
                      </a:r>
                      <a:endParaRPr lang="en-US"/>
                    </a:p>
                  </a:txBody>
                  <a:tcPr anchor="ctr"/>
                </a:tc>
                <a:tc>
                  <a:txBody>
                    <a:bodyPr/>
                    <a:lstStyle/>
                    <a:p>
                      <a:pPr>
                        <a:buNone/>
                      </a:pPr>
                      <a:r>
                        <a:rPr lang="pl-PL"/>
                        <a:t>Natalia Szymeczko</a:t>
                      </a:r>
                    </a:p>
                  </a:txBody>
                  <a:tcPr anchor="ctr"/>
                </a:tc>
                <a:tc>
                  <a:txBody>
                    <a:bodyPr/>
                    <a:lstStyle/>
                    <a:p>
                      <a:pPr lvl="0">
                        <a:buNone/>
                      </a:pPr>
                      <a:r>
                        <a:rPr lang="pl-PL" sz="1800" b="0" i="0" u="none" strike="noStrike" noProof="0">
                          <a:solidFill>
                            <a:srgbClr val="000000"/>
                          </a:solidFill>
                          <a:latin typeface="Calibri"/>
                          <a:ea typeface="Calibri"/>
                          <a:cs typeface="Calibri"/>
                        </a:rPr>
                        <a:t>18.06.2026</a:t>
                      </a:r>
                      <a:endParaRPr lang="en-US"/>
                    </a:p>
                  </a:txBody>
                  <a:tcPr anchor="ctr"/>
                </a:tc>
                <a:extLst>
                  <a:ext uri="{0D108BD9-81ED-4DB2-BD59-A6C34878D82A}">
                    <a16:rowId xmlns:a16="http://schemas.microsoft.com/office/drawing/2014/main" val="3887355935"/>
                  </a:ext>
                </a:extLst>
              </a:tr>
            </a:tbl>
          </a:graphicData>
        </a:graphic>
      </p:graphicFrame>
      <p:sp>
        <p:nvSpPr>
          <p:cNvPr id="5" name="pole tekstowe 4">
            <a:extLst>
              <a:ext uri="{FF2B5EF4-FFF2-40B4-BE49-F238E27FC236}">
                <a16:creationId xmlns:a16="http://schemas.microsoft.com/office/drawing/2014/main" id="{72055E5A-A728-A3B3-124C-F6088819D040}"/>
              </a:ext>
            </a:extLst>
          </p:cNvPr>
          <p:cNvSpPr txBox="1"/>
          <p:nvPr/>
        </p:nvSpPr>
        <p:spPr>
          <a:xfrm>
            <a:off x="574362" y="1336718"/>
            <a:ext cx="5415960" cy="1938992"/>
          </a:xfrm>
          <a:prstGeom prst="rect">
            <a:avLst/>
          </a:prstGeom>
          <a:noFill/>
        </p:spPr>
        <p:txBody>
          <a:bodyPr wrap="square" lIns="91440" tIns="45720" rIns="91440" bIns="45720" anchor="t">
            <a:spAutoFit/>
          </a:bodyPr>
          <a:lstStyle/>
          <a:p>
            <a:r>
              <a:rPr lang="pl-PL" sz="2000" b="1">
                <a:solidFill>
                  <a:srgbClr val="1A2E52"/>
                </a:solidFill>
              </a:rPr>
              <a:t>Next step before Meeting 3:</a:t>
            </a:r>
          </a:p>
          <a:p>
            <a:endParaRPr lang="pl-PL" sz="2000">
              <a:solidFill>
                <a:srgbClr val="C00000"/>
              </a:solidFill>
            </a:endParaRPr>
          </a:p>
          <a:p>
            <a:endParaRPr lang="pl-PL" sz="2000">
              <a:solidFill>
                <a:srgbClr val="1A2E52"/>
              </a:solidFill>
            </a:endParaRPr>
          </a:p>
          <a:p>
            <a:endParaRPr lang="pl-PL" sz="2000">
              <a:solidFill>
                <a:srgbClr val="1A2E52"/>
              </a:solidFill>
            </a:endParaRPr>
          </a:p>
          <a:p>
            <a:endParaRPr lang="pl-PL" sz="2000">
              <a:solidFill>
                <a:srgbClr val="1A2E52"/>
              </a:solidFill>
              <a:ea typeface="Calibri" panose="020F0502020204030204"/>
              <a:cs typeface="Calibri" panose="020F0502020204030204"/>
            </a:endParaRPr>
          </a:p>
          <a:p>
            <a:endParaRPr lang="pl-PL" sz="2000">
              <a:solidFill>
                <a:srgbClr val="1A2E52"/>
              </a:solidFill>
            </a:endParaRPr>
          </a:p>
        </p:txBody>
      </p:sp>
    </p:spTree>
    <p:extLst>
      <p:ext uri="{BB962C8B-B14F-4D97-AF65-F5344CB8AC3E}">
        <p14:creationId xmlns:p14="http://schemas.microsoft.com/office/powerpoint/2010/main" val="338605489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Angela Taboada</dc:creator>
  <cp:revision>1</cp:revision>
  <cp:lastPrinted>2024-11-29T10:54:59Z</cp:lastPrinted>
  <dcterms:created xsi:type="dcterms:W3CDTF">2024-11-05T11:34:46Z</dcterms:created>
  <dcterms:modified xsi:type="dcterms:W3CDTF">2026-06-23T19:31:56Z</dcterms:modified>
</cp:coreProperties>
</file>